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 id="28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1400B-C73D-64D5-B7ED-0379C1D958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0EA8658-34CE-2A82-AC31-0D3D2F74D5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623186-97EC-AC21-9376-3001BF2E30E1}"/>
              </a:ext>
            </a:extLst>
          </p:cNvPr>
          <p:cNvSpPr>
            <a:spLocks noGrp="1"/>
          </p:cNvSpPr>
          <p:nvPr>
            <p:ph type="dt" sz="half" idx="10"/>
          </p:nvPr>
        </p:nvSpPr>
        <p:spPr/>
        <p:txBody>
          <a:bodyPr/>
          <a:lstStyle/>
          <a:p>
            <a:fld id="{F323EEFA-E9F6-4F87-BC72-F2A7DDD0478B}" type="datetimeFigureOut">
              <a:rPr lang="en-US" smtClean="0"/>
              <a:t>4/22/2026</a:t>
            </a:fld>
            <a:endParaRPr lang="en-US"/>
          </a:p>
        </p:txBody>
      </p:sp>
      <p:sp>
        <p:nvSpPr>
          <p:cNvPr id="5" name="Footer Placeholder 4">
            <a:extLst>
              <a:ext uri="{FF2B5EF4-FFF2-40B4-BE49-F238E27FC236}">
                <a16:creationId xmlns:a16="http://schemas.microsoft.com/office/drawing/2014/main" id="{4E0C34DC-C0EE-3675-5BC4-904F696F98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664C62-8EDB-1E73-91A3-1B9C4BA7B6FE}"/>
              </a:ext>
            </a:extLst>
          </p:cNvPr>
          <p:cNvSpPr>
            <a:spLocks noGrp="1"/>
          </p:cNvSpPr>
          <p:nvPr>
            <p:ph type="sldNum" sz="quarter" idx="12"/>
          </p:nvPr>
        </p:nvSpPr>
        <p:spPr/>
        <p:txBody>
          <a:bodyPr/>
          <a:lstStyle/>
          <a:p>
            <a:fld id="{68992CDC-3B9A-4E6F-BAB7-92E80F619C29}" type="slidenum">
              <a:rPr lang="en-US" smtClean="0"/>
              <a:t>‹#›</a:t>
            </a:fld>
            <a:endParaRPr lang="en-US"/>
          </a:p>
        </p:txBody>
      </p:sp>
    </p:spTree>
    <p:extLst>
      <p:ext uri="{BB962C8B-B14F-4D97-AF65-F5344CB8AC3E}">
        <p14:creationId xmlns:p14="http://schemas.microsoft.com/office/powerpoint/2010/main" val="3931662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F45FE-1A55-1906-6419-2D7ACDD04C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038B66-1A1F-4D84-8E1C-1487B05049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240CDD-C101-EF76-B1D2-AF51ECCF2FEB}"/>
              </a:ext>
            </a:extLst>
          </p:cNvPr>
          <p:cNvSpPr>
            <a:spLocks noGrp="1"/>
          </p:cNvSpPr>
          <p:nvPr>
            <p:ph type="dt" sz="half" idx="10"/>
          </p:nvPr>
        </p:nvSpPr>
        <p:spPr/>
        <p:txBody>
          <a:bodyPr/>
          <a:lstStyle/>
          <a:p>
            <a:fld id="{F323EEFA-E9F6-4F87-BC72-F2A7DDD0478B}" type="datetimeFigureOut">
              <a:rPr lang="en-US" smtClean="0"/>
              <a:t>4/22/2026</a:t>
            </a:fld>
            <a:endParaRPr lang="en-US"/>
          </a:p>
        </p:txBody>
      </p:sp>
      <p:sp>
        <p:nvSpPr>
          <p:cNvPr id="5" name="Footer Placeholder 4">
            <a:extLst>
              <a:ext uri="{FF2B5EF4-FFF2-40B4-BE49-F238E27FC236}">
                <a16:creationId xmlns:a16="http://schemas.microsoft.com/office/drawing/2014/main" id="{9F03AECE-2916-41C9-7D81-8BEFD021F4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E138C8-BB69-660A-CA2A-CACF6A631ACA}"/>
              </a:ext>
            </a:extLst>
          </p:cNvPr>
          <p:cNvSpPr>
            <a:spLocks noGrp="1"/>
          </p:cNvSpPr>
          <p:nvPr>
            <p:ph type="sldNum" sz="quarter" idx="12"/>
          </p:nvPr>
        </p:nvSpPr>
        <p:spPr/>
        <p:txBody>
          <a:bodyPr/>
          <a:lstStyle/>
          <a:p>
            <a:fld id="{68992CDC-3B9A-4E6F-BAB7-92E80F619C29}" type="slidenum">
              <a:rPr lang="en-US" smtClean="0"/>
              <a:t>‹#›</a:t>
            </a:fld>
            <a:endParaRPr lang="en-US"/>
          </a:p>
        </p:txBody>
      </p:sp>
    </p:spTree>
    <p:extLst>
      <p:ext uri="{BB962C8B-B14F-4D97-AF65-F5344CB8AC3E}">
        <p14:creationId xmlns:p14="http://schemas.microsoft.com/office/powerpoint/2010/main" val="3240713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96869-FC16-59B5-D7EC-79A460BB1D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29FAE3-9A1B-A1F7-C224-259F2C22D0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0710D2-75C0-90E6-7B22-F964408653DE}"/>
              </a:ext>
            </a:extLst>
          </p:cNvPr>
          <p:cNvSpPr>
            <a:spLocks noGrp="1"/>
          </p:cNvSpPr>
          <p:nvPr>
            <p:ph type="dt" sz="half" idx="10"/>
          </p:nvPr>
        </p:nvSpPr>
        <p:spPr/>
        <p:txBody>
          <a:bodyPr/>
          <a:lstStyle/>
          <a:p>
            <a:fld id="{F323EEFA-E9F6-4F87-BC72-F2A7DDD0478B}" type="datetimeFigureOut">
              <a:rPr lang="en-US" smtClean="0"/>
              <a:t>4/22/2026</a:t>
            </a:fld>
            <a:endParaRPr lang="en-US"/>
          </a:p>
        </p:txBody>
      </p:sp>
      <p:sp>
        <p:nvSpPr>
          <p:cNvPr id="5" name="Footer Placeholder 4">
            <a:extLst>
              <a:ext uri="{FF2B5EF4-FFF2-40B4-BE49-F238E27FC236}">
                <a16:creationId xmlns:a16="http://schemas.microsoft.com/office/drawing/2014/main" id="{8AB7ABF0-750C-61D7-FA69-DECD226EBE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0F0039-0977-4394-D2AA-0928D07E264C}"/>
              </a:ext>
            </a:extLst>
          </p:cNvPr>
          <p:cNvSpPr>
            <a:spLocks noGrp="1"/>
          </p:cNvSpPr>
          <p:nvPr>
            <p:ph type="sldNum" sz="quarter" idx="12"/>
          </p:nvPr>
        </p:nvSpPr>
        <p:spPr/>
        <p:txBody>
          <a:bodyPr/>
          <a:lstStyle/>
          <a:p>
            <a:fld id="{68992CDC-3B9A-4E6F-BAB7-92E80F619C29}" type="slidenum">
              <a:rPr lang="en-US" smtClean="0"/>
              <a:t>‹#›</a:t>
            </a:fld>
            <a:endParaRPr lang="en-US"/>
          </a:p>
        </p:txBody>
      </p:sp>
    </p:spTree>
    <p:extLst>
      <p:ext uri="{BB962C8B-B14F-4D97-AF65-F5344CB8AC3E}">
        <p14:creationId xmlns:p14="http://schemas.microsoft.com/office/powerpoint/2010/main" val="1440728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FD747-9D76-B94C-6A9A-6AFB99D03F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1E78DF-AABF-65C2-915E-7CA2A9665A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721723-7A97-80FC-AA82-85B8FC1340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BDE5F94-C4A4-1DE4-31A4-20E134F6EB95}"/>
              </a:ext>
            </a:extLst>
          </p:cNvPr>
          <p:cNvSpPr>
            <a:spLocks noGrp="1"/>
          </p:cNvSpPr>
          <p:nvPr>
            <p:ph type="dt" sz="half" idx="10"/>
          </p:nvPr>
        </p:nvSpPr>
        <p:spPr/>
        <p:txBody>
          <a:bodyPr/>
          <a:lstStyle/>
          <a:p>
            <a:fld id="{F323EEFA-E9F6-4F87-BC72-F2A7DDD0478B}" type="datetimeFigureOut">
              <a:rPr lang="en-US" smtClean="0"/>
              <a:t>4/22/2026</a:t>
            </a:fld>
            <a:endParaRPr lang="en-US"/>
          </a:p>
        </p:txBody>
      </p:sp>
      <p:sp>
        <p:nvSpPr>
          <p:cNvPr id="6" name="Footer Placeholder 5">
            <a:extLst>
              <a:ext uri="{FF2B5EF4-FFF2-40B4-BE49-F238E27FC236}">
                <a16:creationId xmlns:a16="http://schemas.microsoft.com/office/drawing/2014/main" id="{B9529DA6-3207-27B0-EE3C-D573E664B2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9D00B4-4102-5128-F21C-42CBB7F07B68}"/>
              </a:ext>
            </a:extLst>
          </p:cNvPr>
          <p:cNvSpPr>
            <a:spLocks noGrp="1"/>
          </p:cNvSpPr>
          <p:nvPr>
            <p:ph type="sldNum" sz="quarter" idx="12"/>
          </p:nvPr>
        </p:nvSpPr>
        <p:spPr/>
        <p:txBody>
          <a:bodyPr/>
          <a:lstStyle/>
          <a:p>
            <a:fld id="{68992CDC-3B9A-4E6F-BAB7-92E80F619C29}" type="slidenum">
              <a:rPr lang="en-US" smtClean="0"/>
              <a:t>‹#›</a:t>
            </a:fld>
            <a:endParaRPr lang="en-US"/>
          </a:p>
        </p:txBody>
      </p:sp>
    </p:spTree>
    <p:extLst>
      <p:ext uri="{BB962C8B-B14F-4D97-AF65-F5344CB8AC3E}">
        <p14:creationId xmlns:p14="http://schemas.microsoft.com/office/powerpoint/2010/main" val="508928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EBE67-C6F9-8BB5-0D8A-F131CB8362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6032AE-45B3-C05D-B6B5-0766940A4C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5542FF-AB4C-EB07-9042-5A40B5E365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9C0D118-0B34-C5FF-3524-98EE0213DE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E99EEF-8FEA-6ED9-F4E6-FA3D72CAB0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8B2488-76CA-8308-14F5-B8A0D0AFA220}"/>
              </a:ext>
            </a:extLst>
          </p:cNvPr>
          <p:cNvSpPr>
            <a:spLocks noGrp="1"/>
          </p:cNvSpPr>
          <p:nvPr>
            <p:ph type="dt" sz="half" idx="10"/>
          </p:nvPr>
        </p:nvSpPr>
        <p:spPr/>
        <p:txBody>
          <a:bodyPr/>
          <a:lstStyle/>
          <a:p>
            <a:fld id="{F323EEFA-E9F6-4F87-BC72-F2A7DDD0478B}" type="datetimeFigureOut">
              <a:rPr lang="en-US" smtClean="0"/>
              <a:t>4/22/2026</a:t>
            </a:fld>
            <a:endParaRPr lang="en-US"/>
          </a:p>
        </p:txBody>
      </p:sp>
      <p:sp>
        <p:nvSpPr>
          <p:cNvPr id="8" name="Footer Placeholder 7">
            <a:extLst>
              <a:ext uri="{FF2B5EF4-FFF2-40B4-BE49-F238E27FC236}">
                <a16:creationId xmlns:a16="http://schemas.microsoft.com/office/drawing/2014/main" id="{349B8BB0-E02E-5875-5F20-61C356868C6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164A18-AC40-3E94-CE64-C09281DFBC9F}"/>
              </a:ext>
            </a:extLst>
          </p:cNvPr>
          <p:cNvSpPr>
            <a:spLocks noGrp="1"/>
          </p:cNvSpPr>
          <p:nvPr>
            <p:ph type="sldNum" sz="quarter" idx="12"/>
          </p:nvPr>
        </p:nvSpPr>
        <p:spPr/>
        <p:txBody>
          <a:bodyPr/>
          <a:lstStyle/>
          <a:p>
            <a:fld id="{68992CDC-3B9A-4E6F-BAB7-92E80F619C29}" type="slidenum">
              <a:rPr lang="en-US" smtClean="0"/>
              <a:t>‹#›</a:t>
            </a:fld>
            <a:endParaRPr lang="en-US"/>
          </a:p>
        </p:txBody>
      </p:sp>
    </p:spTree>
    <p:extLst>
      <p:ext uri="{BB962C8B-B14F-4D97-AF65-F5344CB8AC3E}">
        <p14:creationId xmlns:p14="http://schemas.microsoft.com/office/powerpoint/2010/main" val="634069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F90A8-3A00-C032-CA87-A5D68EC66E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FC58C6-E67A-0BE0-21A7-3297A0534653}"/>
              </a:ext>
            </a:extLst>
          </p:cNvPr>
          <p:cNvSpPr>
            <a:spLocks noGrp="1"/>
          </p:cNvSpPr>
          <p:nvPr>
            <p:ph type="dt" sz="half" idx="10"/>
          </p:nvPr>
        </p:nvSpPr>
        <p:spPr/>
        <p:txBody>
          <a:bodyPr/>
          <a:lstStyle/>
          <a:p>
            <a:fld id="{F323EEFA-E9F6-4F87-BC72-F2A7DDD0478B}" type="datetimeFigureOut">
              <a:rPr lang="en-US" smtClean="0"/>
              <a:t>4/22/2026</a:t>
            </a:fld>
            <a:endParaRPr lang="en-US"/>
          </a:p>
        </p:txBody>
      </p:sp>
      <p:sp>
        <p:nvSpPr>
          <p:cNvPr id="4" name="Footer Placeholder 3">
            <a:extLst>
              <a:ext uri="{FF2B5EF4-FFF2-40B4-BE49-F238E27FC236}">
                <a16:creationId xmlns:a16="http://schemas.microsoft.com/office/drawing/2014/main" id="{E925E6B6-44E3-F844-B070-6328292BE8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D05EB6-A9BA-7D60-CC9C-AFF57C148D62}"/>
              </a:ext>
            </a:extLst>
          </p:cNvPr>
          <p:cNvSpPr>
            <a:spLocks noGrp="1"/>
          </p:cNvSpPr>
          <p:nvPr>
            <p:ph type="sldNum" sz="quarter" idx="12"/>
          </p:nvPr>
        </p:nvSpPr>
        <p:spPr/>
        <p:txBody>
          <a:bodyPr/>
          <a:lstStyle/>
          <a:p>
            <a:fld id="{68992CDC-3B9A-4E6F-BAB7-92E80F619C29}" type="slidenum">
              <a:rPr lang="en-US" smtClean="0"/>
              <a:t>‹#›</a:t>
            </a:fld>
            <a:endParaRPr lang="en-US"/>
          </a:p>
        </p:txBody>
      </p:sp>
    </p:spTree>
    <p:extLst>
      <p:ext uri="{BB962C8B-B14F-4D97-AF65-F5344CB8AC3E}">
        <p14:creationId xmlns:p14="http://schemas.microsoft.com/office/powerpoint/2010/main" val="4017438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C15FB2-6965-A139-10DB-ECDAEE696B58}"/>
              </a:ext>
            </a:extLst>
          </p:cNvPr>
          <p:cNvSpPr>
            <a:spLocks noGrp="1"/>
          </p:cNvSpPr>
          <p:nvPr>
            <p:ph type="dt" sz="half" idx="10"/>
          </p:nvPr>
        </p:nvSpPr>
        <p:spPr/>
        <p:txBody>
          <a:bodyPr/>
          <a:lstStyle/>
          <a:p>
            <a:fld id="{F323EEFA-E9F6-4F87-BC72-F2A7DDD0478B}" type="datetimeFigureOut">
              <a:rPr lang="en-US" smtClean="0"/>
              <a:t>4/22/2026</a:t>
            </a:fld>
            <a:endParaRPr lang="en-US"/>
          </a:p>
        </p:txBody>
      </p:sp>
      <p:sp>
        <p:nvSpPr>
          <p:cNvPr id="3" name="Footer Placeholder 2">
            <a:extLst>
              <a:ext uri="{FF2B5EF4-FFF2-40B4-BE49-F238E27FC236}">
                <a16:creationId xmlns:a16="http://schemas.microsoft.com/office/drawing/2014/main" id="{C768FC5E-CA25-FBA1-F74A-09B7F946B1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06E70C-3EDF-3D82-9563-16277B9A4181}"/>
              </a:ext>
            </a:extLst>
          </p:cNvPr>
          <p:cNvSpPr>
            <a:spLocks noGrp="1"/>
          </p:cNvSpPr>
          <p:nvPr>
            <p:ph type="sldNum" sz="quarter" idx="12"/>
          </p:nvPr>
        </p:nvSpPr>
        <p:spPr/>
        <p:txBody>
          <a:bodyPr/>
          <a:lstStyle/>
          <a:p>
            <a:fld id="{68992CDC-3B9A-4E6F-BAB7-92E80F619C29}" type="slidenum">
              <a:rPr lang="en-US" smtClean="0"/>
              <a:t>‹#›</a:t>
            </a:fld>
            <a:endParaRPr lang="en-US"/>
          </a:p>
        </p:txBody>
      </p:sp>
    </p:spTree>
    <p:extLst>
      <p:ext uri="{BB962C8B-B14F-4D97-AF65-F5344CB8AC3E}">
        <p14:creationId xmlns:p14="http://schemas.microsoft.com/office/powerpoint/2010/main" val="4021157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2EECE-D1BA-DCB0-B343-6115564DCD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58DA7D9-3820-7DA4-F61E-E7B86CDFB2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9F546F4-D423-0A3B-F98E-363E4F2C0D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765560-5DD3-EB3F-91A6-53157EE92796}"/>
              </a:ext>
            </a:extLst>
          </p:cNvPr>
          <p:cNvSpPr>
            <a:spLocks noGrp="1"/>
          </p:cNvSpPr>
          <p:nvPr>
            <p:ph type="dt" sz="half" idx="10"/>
          </p:nvPr>
        </p:nvSpPr>
        <p:spPr/>
        <p:txBody>
          <a:bodyPr/>
          <a:lstStyle/>
          <a:p>
            <a:fld id="{F323EEFA-E9F6-4F87-BC72-F2A7DDD0478B}" type="datetimeFigureOut">
              <a:rPr lang="en-US" smtClean="0"/>
              <a:t>4/22/2026</a:t>
            </a:fld>
            <a:endParaRPr lang="en-US"/>
          </a:p>
        </p:txBody>
      </p:sp>
      <p:sp>
        <p:nvSpPr>
          <p:cNvPr id="6" name="Footer Placeholder 5">
            <a:extLst>
              <a:ext uri="{FF2B5EF4-FFF2-40B4-BE49-F238E27FC236}">
                <a16:creationId xmlns:a16="http://schemas.microsoft.com/office/drawing/2014/main" id="{2977BD63-DFB3-CA0D-20B2-730363B504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28975B-5941-3C70-BBBC-9D30A90B977E}"/>
              </a:ext>
            </a:extLst>
          </p:cNvPr>
          <p:cNvSpPr>
            <a:spLocks noGrp="1"/>
          </p:cNvSpPr>
          <p:nvPr>
            <p:ph type="sldNum" sz="quarter" idx="12"/>
          </p:nvPr>
        </p:nvSpPr>
        <p:spPr/>
        <p:txBody>
          <a:bodyPr/>
          <a:lstStyle/>
          <a:p>
            <a:fld id="{68992CDC-3B9A-4E6F-BAB7-92E80F619C29}" type="slidenum">
              <a:rPr lang="en-US" smtClean="0"/>
              <a:t>‹#›</a:t>
            </a:fld>
            <a:endParaRPr lang="en-US"/>
          </a:p>
        </p:txBody>
      </p:sp>
    </p:spTree>
    <p:extLst>
      <p:ext uri="{BB962C8B-B14F-4D97-AF65-F5344CB8AC3E}">
        <p14:creationId xmlns:p14="http://schemas.microsoft.com/office/powerpoint/2010/main" val="3585486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6B0CC-4F90-2EE1-CD97-EC928A76BC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5F37996-042C-0E11-375B-F80059E259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2FED8B9-F3A0-23C5-A64C-AA0A70F9A8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CA75BC-235D-6ACA-986F-79336238B7B7}"/>
              </a:ext>
            </a:extLst>
          </p:cNvPr>
          <p:cNvSpPr>
            <a:spLocks noGrp="1"/>
          </p:cNvSpPr>
          <p:nvPr>
            <p:ph type="dt" sz="half" idx="10"/>
          </p:nvPr>
        </p:nvSpPr>
        <p:spPr/>
        <p:txBody>
          <a:bodyPr/>
          <a:lstStyle/>
          <a:p>
            <a:fld id="{F323EEFA-E9F6-4F87-BC72-F2A7DDD0478B}" type="datetimeFigureOut">
              <a:rPr lang="en-US" smtClean="0"/>
              <a:t>4/22/2026</a:t>
            </a:fld>
            <a:endParaRPr lang="en-US"/>
          </a:p>
        </p:txBody>
      </p:sp>
      <p:sp>
        <p:nvSpPr>
          <p:cNvPr id="6" name="Footer Placeholder 5">
            <a:extLst>
              <a:ext uri="{FF2B5EF4-FFF2-40B4-BE49-F238E27FC236}">
                <a16:creationId xmlns:a16="http://schemas.microsoft.com/office/drawing/2014/main" id="{92D6B673-E569-D344-2C84-E5D0FB92BA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92DE63-A0C2-9DBB-A469-B02CAB3860D0}"/>
              </a:ext>
            </a:extLst>
          </p:cNvPr>
          <p:cNvSpPr>
            <a:spLocks noGrp="1"/>
          </p:cNvSpPr>
          <p:nvPr>
            <p:ph type="sldNum" sz="quarter" idx="12"/>
          </p:nvPr>
        </p:nvSpPr>
        <p:spPr/>
        <p:txBody>
          <a:bodyPr/>
          <a:lstStyle/>
          <a:p>
            <a:fld id="{68992CDC-3B9A-4E6F-BAB7-92E80F619C29}" type="slidenum">
              <a:rPr lang="en-US" smtClean="0"/>
              <a:t>‹#›</a:t>
            </a:fld>
            <a:endParaRPr lang="en-US"/>
          </a:p>
        </p:txBody>
      </p:sp>
    </p:spTree>
    <p:extLst>
      <p:ext uri="{BB962C8B-B14F-4D97-AF65-F5344CB8AC3E}">
        <p14:creationId xmlns:p14="http://schemas.microsoft.com/office/powerpoint/2010/main" val="3334899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C57C6-9C04-8344-61FB-C6EEA039DD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FE307A-ABAF-3EE6-6BBD-77691E56F9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380775-144D-2EE4-64CC-E1DEB3F34F8C}"/>
              </a:ext>
            </a:extLst>
          </p:cNvPr>
          <p:cNvSpPr>
            <a:spLocks noGrp="1"/>
          </p:cNvSpPr>
          <p:nvPr>
            <p:ph type="dt" sz="half" idx="10"/>
          </p:nvPr>
        </p:nvSpPr>
        <p:spPr/>
        <p:txBody>
          <a:bodyPr/>
          <a:lstStyle/>
          <a:p>
            <a:fld id="{F323EEFA-E9F6-4F87-BC72-F2A7DDD0478B}" type="datetimeFigureOut">
              <a:rPr lang="en-US" smtClean="0"/>
              <a:t>4/22/2026</a:t>
            </a:fld>
            <a:endParaRPr lang="en-US"/>
          </a:p>
        </p:txBody>
      </p:sp>
      <p:sp>
        <p:nvSpPr>
          <p:cNvPr id="5" name="Footer Placeholder 4">
            <a:extLst>
              <a:ext uri="{FF2B5EF4-FFF2-40B4-BE49-F238E27FC236}">
                <a16:creationId xmlns:a16="http://schemas.microsoft.com/office/drawing/2014/main" id="{19AB02B5-050E-CCD3-ED09-0ED4785D7E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F28BF8-B24D-8A09-3003-51E73C5E6A30}"/>
              </a:ext>
            </a:extLst>
          </p:cNvPr>
          <p:cNvSpPr>
            <a:spLocks noGrp="1"/>
          </p:cNvSpPr>
          <p:nvPr>
            <p:ph type="sldNum" sz="quarter" idx="12"/>
          </p:nvPr>
        </p:nvSpPr>
        <p:spPr/>
        <p:txBody>
          <a:bodyPr/>
          <a:lstStyle/>
          <a:p>
            <a:fld id="{68992CDC-3B9A-4E6F-BAB7-92E80F619C29}" type="slidenum">
              <a:rPr lang="en-US" smtClean="0"/>
              <a:t>‹#›</a:t>
            </a:fld>
            <a:endParaRPr lang="en-US"/>
          </a:p>
        </p:txBody>
      </p:sp>
    </p:spTree>
    <p:extLst>
      <p:ext uri="{BB962C8B-B14F-4D97-AF65-F5344CB8AC3E}">
        <p14:creationId xmlns:p14="http://schemas.microsoft.com/office/powerpoint/2010/main" val="1334775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A35103-C129-6334-79AA-8A263D81F0A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D08D811-6D52-126C-017E-FAFE31BCBB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3841C1-DB7D-B65D-8E2B-CAB5C4007F4E}"/>
              </a:ext>
            </a:extLst>
          </p:cNvPr>
          <p:cNvSpPr>
            <a:spLocks noGrp="1"/>
          </p:cNvSpPr>
          <p:nvPr>
            <p:ph type="dt" sz="half" idx="10"/>
          </p:nvPr>
        </p:nvSpPr>
        <p:spPr/>
        <p:txBody>
          <a:bodyPr/>
          <a:lstStyle/>
          <a:p>
            <a:fld id="{F323EEFA-E9F6-4F87-BC72-F2A7DDD0478B}" type="datetimeFigureOut">
              <a:rPr lang="en-US" smtClean="0"/>
              <a:t>4/22/2026</a:t>
            </a:fld>
            <a:endParaRPr lang="en-US"/>
          </a:p>
        </p:txBody>
      </p:sp>
      <p:sp>
        <p:nvSpPr>
          <p:cNvPr id="5" name="Footer Placeholder 4">
            <a:extLst>
              <a:ext uri="{FF2B5EF4-FFF2-40B4-BE49-F238E27FC236}">
                <a16:creationId xmlns:a16="http://schemas.microsoft.com/office/drawing/2014/main" id="{4DAF4C42-A500-0A3D-9A40-D93698298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91CED-E81A-0286-26E0-F4A2CDCA57EE}"/>
              </a:ext>
            </a:extLst>
          </p:cNvPr>
          <p:cNvSpPr>
            <a:spLocks noGrp="1"/>
          </p:cNvSpPr>
          <p:nvPr>
            <p:ph type="sldNum" sz="quarter" idx="12"/>
          </p:nvPr>
        </p:nvSpPr>
        <p:spPr/>
        <p:txBody>
          <a:bodyPr/>
          <a:lstStyle/>
          <a:p>
            <a:fld id="{68992CDC-3B9A-4E6F-BAB7-92E80F619C29}" type="slidenum">
              <a:rPr lang="en-US" smtClean="0"/>
              <a:t>‹#›</a:t>
            </a:fld>
            <a:endParaRPr lang="en-US"/>
          </a:p>
        </p:txBody>
      </p:sp>
    </p:spTree>
    <p:extLst>
      <p:ext uri="{BB962C8B-B14F-4D97-AF65-F5344CB8AC3E}">
        <p14:creationId xmlns:p14="http://schemas.microsoft.com/office/powerpoint/2010/main" val="380100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E77536-A880-BFE2-41DC-E3DDE3892B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C91C59-37B6-EF9F-5364-9B2CB42547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26A410-8A5B-B3CA-AAC5-E23DF797B4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23EEFA-E9F6-4F87-BC72-F2A7DDD0478B}" type="datetimeFigureOut">
              <a:rPr lang="en-US" smtClean="0"/>
              <a:t>4/22/2026</a:t>
            </a:fld>
            <a:endParaRPr lang="en-US"/>
          </a:p>
        </p:txBody>
      </p:sp>
      <p:sp>
        <p:nvSpPr>
          <p:cNvPr id="5" name="Footer Placeholder 4">
            <a:extLst>
              <a:ext uri="{FF2B5EF4-FFF2-40B4-BE49-F238E27FC236}">
                <a16:creationId xmlns:a16="http://schemas.microsoft.com/office/drawing/2014/main" id="{4F8698F2-3A7D-21F9-EBB1-2B65B49C48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DEE5D9-44AC-9936-894C-B6B363D3C4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992CDC-3B9A-4E6F-BAB7-92E80F619C29}" type="slidenum">
              <a:rPr lang="en-US" smtClean="0"/>
              <a:t>‹#›</a:t>
            </a:fld>
            <a:endParaRPr lang="en-US"/>
          </a:p>
        </p:txBody>
      </p:sp>
    </p:spTree>
    <p:extLst>
      <p:ext uri="{BB962C8B-B14F-4D97-AF65-F5344CB8AC3E}">
        <p14:creationId xmlns:p14="http://schemas.microsoft.com/office/powerpoint/2010/main" val="22618064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1A428C2-B551-F434-706A-79B7F6A6E2DF}"/>
              </a:ext>
            </a:extLst>
          </p:cNvPr>
          <p:cNvSpPr txBox="1"/>
          <p:nvPr/>
        </p:nvSpPr>
        <p:spPr>
          <a:xfrm>
            <a:off x="3676846" y="1002003"/>
            <a:ext cx="4838308" cy="1127937"/>
          </a:xfrm>
          <a:prstGeom prst="rect">
            <a:avLst/>
          </a:prstGeom>
          <a:noFill/>
        </p:spPr>
        <p:txBody>
          <a:bodyPr wrap="square">
            <a:spAutoFit/>
          </a:bodyPr>
          <a:lstStyle/>
          <a:p>
            <a:pPr marL="0" marR="0" algn="ctr">
              <a:lnSpc>
                <a:spcPct val="115000"/>
              </a:lnSpc>
              <a:spcAft>
                <a:spcPts val="1000"/>
              </a:spcAft>
              <a:buNone/>
            </a:pPr>
            <a:r>
              <a:rPr lang="en-US" sz="3000" b="1" dirty="0">
                <a:solidFill>
                  <a:srgbClr val="1F4E79"/>
                </a:solidFill>
                <a:effectLst/>
                <a:latin typeface="Aptos" panose="020B0004020202020204" pitchFamily="34" charset="0"/>
                <a:ea typeface="Aptos" panose="020B0004020202020204" pitchFamily="34" charset="0"/>
                <a:cs typeface="Times New Roman" panose="02020603050405020304" pitchFamily="18" charset="0"/>
              </a:rPr>
              <a:t>FMCG Network Infrastructure Design</a:t>
            </a:r>
            <a:endParaRPr lang="en-US" sz="30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989B451-BF4D-9915-FBD6-2CB68B096B53}"/>
              </a:ext>
            </a:extLst>
          </p:cNvPr>
          <p:cNvSpPr txBox="1"/>
          <p:nvPr/>
        </p:nvSpPr>
        <p:spPr>
          <a:xfrm>
            <a:off x="3047163" y="3841954"/>
            <a:ext cx="6096000" cy="2182329"/>
          </a:xfrm>
          <a:prstGeom prst="rect">
            <a:avLst/>
          </a:prstGeom>
          <a:noFill/>
        </p:spPr>
        <p:txBody>
          <a:bodyPr wrap="square">
            <a:spAutoFit/>
          </a:bodyPr>
          <a:lstStyle/>
          <a:p>
            <a:pPr marL="0" marR="0">
              <a:lnSpc>
                <a:spcPct val="115000"/>
              </a:lnSpc>
              <a:spcAft>
                <a:spcPts val="10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1000"/>
              </a:spcAft>
              <a:buNone/>
            </a:pPr>
            <a:r>
              <a:rPr lang="en-US" sz="1800" b="1" u="sng" dirty="0">
                <a:effectLst/>
                <a:latin typeface="Aptos" panose="020B0004020202020204" pitchFamily="34" charset="0"/>
                <a:ea typeface="Aptos" panose="020B0004020202020204" pitchFamily="34" charset="0"/>
                <a:cs typeface="Times New Roman" panose="02020603050405020304" pitchFamily="18" charset="0"/>
              </a:rPr>
              <a:t>Team Members</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10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Arijit Chakma</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10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Md Alamgir Hossain</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10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Md Moksudul Haque</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138415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A82FC-23E6-1C95-4AFE-829018C9CF5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D5CB505-2256-9786-345D-E2A3EDF2544E}"/>
              </a:ext>
            </a:extLst>
          </p:cNvPr>
          <p:cNvSpPr txBox="1"/>
          <p:nvPr/>
        </p:nvSpPr>
        <p:spPr>
          <a:xfrm>
            <a:off x="162232" y="267365"/>
            <a:ext cx="5530645" cy="6165919"/>
          </a:xfrm>
          <a:prstGeom prst="rect">
            <a:avLst/>
          </a:prstGeom>
          <a:noFill/>
        </p:spPr>
        <p:txBody>
          <a:bodyPr wrap="square">
            <a:spAutoFit/>
          </a:bodyPr>
          <a:lstStyle/>
          <a:p>
            <a:pPr marL="0" marR="0" algn="ctr">
              <a:lnSpc>
                <a:spcPct val="115000"/>
              </a:lnSpc>
              <a:spcBef>
                <a:spcPts val="2400"/>
              </a:spcBef>
              <a:buNone/>
            </a:pPr>
            <a:r>
              <a:rPr lang="en-US" b="1" u="sng" kern="0" dirty="0">
                <a:solidFill>
                  <a:srgbClr val="1F4E79"/>
                </a:solidFill>
                <a:effectLst/>
                <a:latin typeface="Calibri" panose="020F0502020204030204" pitchFamily="34" charset="0"/>
                <a:ea typeface="MS Gothic" panose="020B0609070205080204" pitchFamily="49" charset="-128"/>
                <a:cs typeface="Times New Roman" panose="02020603050405020304" pitchFamily="18" charset="0"/>
              </a:rPr>
              <a:t>Part 01: Cisco On-Premises Solution</a:t>
            </a:r>
            <a:r>
              <a:rPr lang="en-US" b="1" u="sng" kern="0" dirty="0">
                <a:solidFill>
                  <a:srgbClr val="1F4E79"/>
                </a:solidFill>
                <a:effectLst/>
                <a:latin typeface="Aptos" panose="020B0004020202020204" pitchFamily="34" charset="0"/>
                <a:ea typeface="MS Gothic" panose="020B0609070205080204" pitchFamily="49" charset="-128"/>
                <a:cs typeface="Times New Roman" panose="02020603050405020304" pitchFamily="18" charset="0"/>
              </a:rPr>
              <a:t>1. Background</a:t>
            </a:r>
            <a:endParaRPr lang="en-US" b="1" u="sng" kern="0" dirty="0">
              <a:solidFill>
                <a:srgbClr val="1F4E79"/>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gn="just">
              <a:lnSpc>
                <a:spcPct val="115000"/>
              </a:lnSpc>
              <a:spcAft>
                <a:spcPts val="1000"/>
              </a:spcAft>
              <a:buNone/>
            </a:pP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This section presents the Cisco on-premises network design for the FMCG client. The client requires a secure, scalable and durable network for nine departments: Marketing, Sales, HR, Technical, Customer Service, Financial, Strategy, Legal and Quality Control. Because the client also asked for possible expansion, the design must support both current users and future growth while maintaining a 10 Gbps-capable backbone.</a:t>
            </a: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The Cisco solution uses a private Class B address space, Variable Length Subnet Masking (VLSM), departmental VLAN segmentation and a hierarchical star topology. These choices improve IP address efficiency, simplify network management and support higher security by separating department traffic.</a:t>
            </a: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 </a:t>
            </a:r>
            <a:r>
              <a:rPr lang="en-US" sz="1400" b="1" kern="0" dirty="0">
                <a:solidFill>
                  <a:srgbClr val="1F4E79"/>
                </a:solidFill>
                <a:effectLst/>
                <a:latin typeface="Aptos" panose="020B0004020202020204" pitchFamily="34" charset="0"/>
                <a:ea typeface="MS Gothic" panose="020B0609070205080204" pitchFamily="49" charset="-128"/>
                <a:cs typeface="Times New Roman" panose="02020603050405020304" pitchFamily="18" charset="0"/>
              </a:rPr>
              <a:t>2. Department Host and Printer Requirements</a:t>
            </a:r>
            <a:endParaRPr lang="en-US" sz="1400" b="1" kern="0" dirty="0">
              <a:solidFill>
                <a:srgbClr val="1F4E79"/>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The first step is to calculate how many IP addresses are needed for each department. Growth buffers were added exactly as needed in the project requirement: 10% for Sales and Quality Control, and 20% for Customer Service. </a:t>
            </a:r>
          </a:p>
          <a:p>
            <a:pPr marL="0" marR="0">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Printer allocation follows the rule of 1 printer for every 30 employees, with at least one printer for smaller departments which have fewer than 30 employees.</a:t>
            </a:r>
          </a:p>
        </p:txBody>
      </p:sp>
      <p:graphicFrame>
        <p:nvGraphicFramePr>
          <p:cNvPr id="6" name="Table 5">
            <a:extLst>
              <a:ext uri="{FF2B5EF4-FFF2-40B4-BE49-F238E27FC236}">
                <a16:creationId xmlns:a16="http://schemas.microsoft.com/office/drawing/2014/main" id="{F3FD8031-12D4-7543-1CA5-8DB721226DCF}"/>
              </a:ext>
            </a:extLst>
          </p:cNvPr>
          <p:cNvGraphicFramePr>
            <a:graphicFrameLocks noGrp="1"/>
          </p:cNvGraphicFramePr>
          <p:nvPr>
            <p:extLst>
              <p:ext uri="{D42A27DB-BD31-4B8C-83A1-F6EECF244321}">
                <p14:modId xmlns:p14="http://schemas.microsoft.com/office/powerpoint/2010/main" val="2541714197"/>
              </p:ext>
            </p:extLst>
          </p:nvPr>
        </p:nvGraphicFramePr>
        <p:xfrm>
          <a:off x="5985838" y="1064459"/>
          <a:ext cx="6043930" cy="3539490"/>
        </p:xfrm>
        <a:graphic>
          <a:graphicData uri="http://schemas.openxmlformats.org/drawingml/2006/table">
            <a:tbl>
              <a:tblPr firstRow="1" firstCol="1" bandRow="1">
                <a:tableStyleId>{5C22544A-7EE6-4342-B048-85BDC9FD1C3A}</a:tableStyleId>
              </a:tblPr>
              <a:tblGrid>
                <a:gridCol w="1299210">
                  <a:extLst>
                    <a:ext uri="{9D8B030D-6E8A-4147-A177-3AD203B41FA5}">
                      <a16:colId xmlns:a16="http://schemas.microsoft.com/office/drawing/2014/main" val="2741724112"/>
                    </a:ext>
                  </a:extLst>
                </a:gridCol>
                <a:gridCol w="720090">
                  <a:extLst>
                    <a:ext uri="{9D8B030D-6E8A-4147-A177-3AD203B41FA5}">
                      <a16:colId xmlns:a16="http://schemas.microsoft.com/office/drawing/2014/main" val="1136503318"/>
                    </a:ext>
                  </a:extLst>
                </a:gridCol>
                <a:gridCol w="647700">
                  <a:extLst>
                    <a:ext uri="{9D8B030D-6E8A-4147-A177-3AD203B41FA5}">
                      <a16:colId xmlns:a16="http://schemas.microsoft.com/office/drawing/2014/main" val="3901024409"/>
                    </a:ext>
                  </a:extLst>
                </a:gridCol>
                <a:gridCol w="1223645">
                  <a:extLst>
                    <a:ext uri="{9D8B030D-6E8A-4147-A177-3AD203B41FA5}">
                      <a16:colId xmlns:a16="http://schemas.microsoft.com/office/drawing/2014/main" val="1671900141"/>
                    </a:ext>
                  </a:extLst>
                </a:gridCol>
                <a:gridCol w="1499870">
                  <a:extLst>
                    <a:ext uri="{9D8B030D-6E8A-4147-A177-3AD203B41FA5}">
                      <a16:colId xmlns:a16="http://schemas.microsoft.com/office/drawing/2014/main" val="1049396326"/>
                    </a:ext>
                  </a:extLst>
                </a:gridCol>
                <a:gridCol w="653415">
                  <a:extLst>
                    <a:ext uri="{9D8B030D-6E8A-4147-A177-3AD203B41FA5}">
                      <a16:colId xmlns:a16="http://schemas.microsoft.com/office/drawing/2014/main" val="2803141421"/>
                    </a:ext>
                  </a:extLst>
                </a:gridCol>
              </a:tblGrid>
              <a:tr h="0">
                <a:tc>
                  <a:txBody>
                    <a:bodyPr/>
                    <a:lstStyle/>
                    <a:p>
                      <a:pPr marL="0" marR="0">
                        <a:lnSpc>
                          <a:spcPct val="115000"/>
                        </a:lnSpc>
                        <a:spcAft>
                          <a:spcPts val="1000"/>
                        </a:spcAft>
                        <a:buNone/>
                      </a:pPr>
                      <a:r>
                        <a:rPr lang="en-US" sz="1200">
                          <a:effectLst/>
                        </a:rPr>
                        <a:t>Department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Current Staff</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Growth</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Total Hosts Needed (staffs)</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Printer Calculation**</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Printers</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626611761"/>
                  </a:ext>
                </a:extLst>
              </a:tr>
              <a:tr h="0">
                <a:tc>
                  <a:txBody>
                    <a:bodyPr/>
                    <a:lstStyle/>
                    <a:p>
                      <a:pPr marL="0" marR="0">
                        <a:buNone/>
                      </a:pPr>
                      <a:r>
                        <a:rPr lang="en-US" sz="1200">
                          <a:effectLst/>
                        </a:rPr>
                        <a:t>Marketing</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40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None</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40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40/30 = 1.33 &gt; 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2822306708"/>
                  </a:ext>
                </a:extLst>
              </a:tr>
              <a:tr h="0">
                <a:tc>
                  <a:txBody>
                    <a:bodyPr/>
                    <a:lstStyle/>
                    <a:p>
                      <a:pPr marL="0" marR="0">
                        <a:buNone/>
                      </a:pPr>
                      <a:r>
                        <a:rPr lang="en-US" sz="1200">
                          <a:effectLst/>
                        </a:rPr>
                        <a:t>Sales</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200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10%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200 + 20 = 220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220/30 = 7.33 &gt; 8</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8</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3352612371"/>
                  </a:ext>
                </a:extLst>
              </a:tr>
              <a:tr h="0">
                <a:tc>
                  <a:txBody>
                    <a:bodyPr/>
                    <a:lstStyle/>
                    <a:p>
                      <a:pPr marL="0" marR="0">
                        <a:buNone/>
                      </a:pPr>
                      <a:r>
                        <a:rPr lang="en-US" sz="1200">
                          <a:effectLst/>
                        </a:rPr>
                        <a:t>HR</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50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None</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50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50/30 = 1.67 &gt; 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2379782647"/>
                  </a:ext>
                </a:extLst>
              </a:tr>
              <a:tr h="0">
                <a:tc>
                  <a:txBody>
                    <a:bodyPr/>
                    <a:lstStyle/>
                    <a:p>
                      <a:pPr marL="0" marR="0">
                        <a:buNone/>
                      </a:pPr>
                      <a:r>
                        <a:rPr lang="en-US" sz="1200">
                          <a:effectLst/>
                        </a:rPr>
                        <a:t>Technical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30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None</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30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30/30 = 1.00 &gt; 1</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1</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2824567589"/>
                  </a:ext>
                </a:extLst>
              </a:tr>
              <a:tr h="0">
                <a:tc>
                  <a:txBody>
                    <a:bodyPr/>
                    <a:lstStyle/>
                    <a:p>
                      <a:pPr marL="0" marR="0">
                        <a:buNone/>
                      </a:pPr>
                      <a:r>
                        <a:rPr lang="en-US" sz="1200">
                          <a:effectLst/>
                        </a:rPr>
                        <a:t>Customer Service</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800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20%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800 + 160 = 960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960/30 = 32.00&gt; 32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32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2055447991"/>
                  </a:ext>
                </a:extLst>
              </a:tr>
              <a:tr h="0">
                <a:tc>
                  <a:txBody>
                    <a:bodyPr/>
                    <a:lstStyle/>
                    <a:p>
                      <a:pPr marL="0" marR="0">
                        <a:buNone/>
                      </a:pPr>
                      <a:r>
                        <a:rPr lang="en-US" sz="1200">
                          <a:effectLst/>
                        </a:rPr>
                        <a:t>Financial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20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None</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20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Minimum 1 printer</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1</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3972070682"/>
                  </a:ext>
                </a:extLst>
              </a:tr>
              <a:tr h="0">
                <a:tc>
                  <a:txBody>
                    <a:bodyPr/>
                    <a:lstStyle/>
                    <a:p>
                      <a:pPr marL="0" marR="0">
                        <a:buNone/>
                      </a:pPr>
                      <a:r>
                        <a:rPr lang="en-US" sz="1200">
                          <a:effectLst/>
                        </a:rPr>
                        <a:t>Strategy</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10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None</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10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Minimum 1 printer</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1</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1757332565"/>
                  </a:ext>
                </a:extLst>
              </a:tr>
              <a:tr h="0">
                <a:tc>
                  <a:txBody>
                    <a:bodyPr/>
                    <a:lstStyle/>
                    <a:p>
                      <a:pPr marL="0" marR="0">
                        <a:buNone/>
                      </a:pPr>
                      <a:r>
                        <a:rPr lang="en-US" sz="1200">
                          <a:effectLst/>
                        </a:rPr>
                        <a:t>Legal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8</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None</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8</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Minimum 1 printer</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1</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1879711985"/>
                  </a:ext>
                </a:extLst>
              </a:tr>
              <a:tr h="254000">
                <a:tc>
                  <a:txBody>
                    <a:bodyPr/>
                    <a:lstStyle/>
                    <a:p>
                      <a:pPr marL="0" marR="0">
                        <a:buNone/>
                      </a:pPr>
                      <a:r>
                        <a:rPr lang="en-US" sz="1200">
                          <a:effectLst/>
                        </a:rPr>
                        <a:t>Quality Control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100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10%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100 + 10 = 110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110/30 = 3.67 -&gt; 4</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4</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1780424828"/>
                  </a:ext>
                </a:extLst>
              </a:tr>
              <a:tr h="0">
                <a:tc>
                  <a:txBody>
                    <a:bodyPr/>
                    <a:lstStyle/>
                    <a:p>
                      <a:pPr marL="0" marR="0">
                        <a:buNone/>
                      </a:pPr>
                      <a:r>
                        <a:rPr lang="en-US" sz="1200">
                          <a:effectLst/>
                        </a:rPr>
                        <a:t>Total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1258</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1448</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a:effectLst/>
                        </a:rPr>
                        <a:t>-</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buNone/>
                      </a:pPr>
                      <a:r>
                        <a:rPr lang="en-US" sz="1200" dirty="0">
                          <a:effectLst/>
                        </a:rPr>
                        <a:t>52</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501940444"/>
                  </a:ext>
                </a:extLst>
              </a:tr>
            </a:tbl>
          </a:graphicData>
        </a:graphic>
      </p:graphicFrame>
      <p:sp>
        <p:nvSpPr>
          <p:cNvPr id="8" name="TextBox 7">
            <a:extLst>
              <a:ext uri="{FF2B5EF4-FFF2-40B4-BE49-F238E27FC236}">
                <a16:creationId xmlns:a16="http://schemas.microsoft.com/office/drawing/2014/main" id="{405AF0DA-0C12-D370-102A-AD3C4974A76F}"/>
              </a:ext>
            </a:extLst>
          </p:cNvPr>
          <p:cNvSpPr txBox="1"/>
          <p:nvPr/>
        </p:nvSpPr>
        <p:spPr>
          <a:xfrm>
            <a:off x="5985838" y="5079819"/>
            <a:ext cx="6096000" cy="1402115"/>
          </a:xfrm>
          <a:prstGeom prst="rect">
            <a:avLst/>
          </a:prstGeom>
          <a:noFill/>
        </p:spPr>
        <p:txBody>
          <a:bodyPr wrap="square">
            <a:spAutoFit/>
          </a:bodyPr>
          <a:lstStyle/>
          <a:p>
            <a:pPr marL="285750" marR="0" indent="-285750">
              <a:lnSpc>
                <a:spcPct val="115000"/>
              </a:lnSpc>
              <a:spcAft>
                <a:spcPts val="400"/>
              </a:spcAft>
              <a:buFont typeface="Arial" panose="020B0604020202020204" pitchFamily="34" charset="0"/>
              <a:buChar char="•"/>
            </a:pPr>
            <a:r>
              <a:rPr lang="en-US" sz="1800" dirty="0">
                <a:effectLst/>
                <a:latin typeface="Aptos" panose="020B0004020202020204" pitchFamily="34" charset="0"/>
                <a:ea typeface="Aptos" panose="020B0004020202020204" pitchFamily="34" charset="0"/>
                <a:cs typeface="Times New Roman" panose="02020603050405020304" pitchFamily="18" charset="0"/>
              </a:rPr>
              <a:t>*For the printer, we always rounded up the fraction got from dividing the number of employees by 30. </a:t>
            </a:r>
          </a:p>
          <a:p>
            <a:pPr marL="285750" indent="-285750">
              <a:lnSpc>
                <a:spcPct val="115000"/>
              </a:lnSpc>
              <a:spcAft>
                <a:spcPts val="400"/>
              </a:spcAft>
              <a:buFont typeface="Arial" panose="020B0604020202020204" pitchFamily="34" charset="0"/>
              <a:buChar char="•"/>
            </a:pPr>
            <a:r>
              <a:rPr lang="en-US" dirty="0"/>
              <a:t>*Totals: 1,448 host devices and 52 printers (Total 1500 hosts) are required across all departments.</a:t>
            </a:r>
          </a:p>
        </p:txBody>
      </p:sp>
    </p:spTree>
    <p:extLst>
      <p:ext uri="{BB962C8B-B14F-4D97-AF65-F5344CB8AC3E}">
        <p14:creationId xmlns:p14="http://schemas.microsoft.com/office/powerpoint/2010/main" val="867186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85C0F-8278-8BF4-CD9B-6B824B423A9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A9A414B-7458-8772-3EF1-A0C925BDF191}"/>
              </a:ext>
            </a:extLst>
          </p:cNvPr>
          <p:cNvSpPr txBox="1"/>
          <p:nvPr/>
        </p:nvSpPr>
        <p:spPr>
          <a:xfrm>
            <a:off x="142567" y="255638"/>
            <a:ext cx="11906865" cy="6499856"/>
          </a:xfrm>
          <a:prstGeom prst="rect">
            <a:avLst/>
          </a:prstGeom>
          <a:noFill/>
        </p:spPr>
        <p:txBody>
          <a:bodyPr wrap="square">
            <a:spAutoFit/>
          </a:bodyPr>
          <a:lstStyle/>
          <a:p>
            <a:pPr marL="0" marR="0">
              <a:lnSpc>
                <a:spcPct val="115000"/>
              </a:lnSpc>
              <a:spcBef>
                <a:spcPts val="2400"/>
              </a:spcBef>
              <a:buNone/>
            </a:pPr>
            <a:r>
              <a:rPr lang="en-US" b="1" kern="0" dirty="0">
                <a:solidFill>
                  <a:srgbClr val="1F4E79"/>
                </a:solidFill>
                <a:effectLst/>
                <a:latin typeface="Calibri" panose="020F0502020204030204" pitchFamily="34" charset="0"/>
                <a:ea typeface="MS Gothic" panose="020B0609070205080204" pitchFamily="49" charset="-128"/>
                <a:cs typeface="Times New Roman" panose="02020603050405020304" pitchFamily="18" charset="0"/>
              </a:rPr>
              <a:t>3. Class Selection and CIDR Justification</a:t>
            </a:r>
          </a:p>
          <a:p>
            <a:pPr marL="0" marR="0" algn="just">
              <a:lnSpc>
                <a:spcPct val="115000"/>
              </a:lnSpc>
              <a:spcAft>
                <a:spcPts val="400"/>
              </a:spcAft>
              <a:buNone/>
            </a:pP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A private Class B range, 172.16.0.0/16 (16 CIDR is default mask for class B) is recommended. </a:t>
            </a:r>
          </a:p>
          <a:p>
            <a:pPr marL="0" marR="0" algn="just">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The most important reason is the size of the Customer Service department. It requires 960 usable host addresses by itself. </a:t>
            </a:r>
          </a:p>
          <a:p>
            <a:pPr marL="0" marR="0" algn="just">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Public IPv4 Recommendation:</a:t>
            </a:r>
          </a:p>
          <a:p>
            <a:pPr marL="0" marR="0" algn="just">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While private Class B addressing (172.16.0.0/16) is used for internal network design, the organization will require public IP addresses from the ISP for external communication. A small Class C public IP block (e.g., /29 or /30) is recommended, as only edge devices such as routers or firewalls require public addressing. Internal devices will use private IPs with NAT (Network Address Translation) for Internet access.</a:t>
            </a:r>
          </a:p>
          <a:p>
            <a:pPr marL="0" marR="0" algn="just">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 </a:t>
            </a:r>
          </a:p>
          <a:p>
            <a:pPr marL="0" marR="0" algn="just">
              <a:lnSpc>
                <a:spcPct val="115000"/>
              </a:lnSpc>
              <a:spcAft>
                <a:spcPts val="4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Class Choice Explanation: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4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01. A Class A</a:t>
            </a:r>
            <a:r>
              <a:rPr lang="en-US" sz="1400" dirty="0">
                <a:effectLst/>
                <a:latin typeface="Aptos" panose="020B0004020202020204" pitchFamily="34" charset="0"/>
                <a:ea typeface="Aptos" panose="020B0004020202020204" pitchFamily="34" charset="0"/>
                <a:cs typeface="Times New Roman" panose="02020603050405020304" pitchFamily="18" charset="0"/>
              </a:rPr>
              <a:t> network leaves 24 host bits in the original /8 network. That provides 2²⁴ = 16,777,216 total addresses or 16,777,214 usable addresses (excluding network and broadcast addresses). This is far more than enough for most designs and allows extensive room for future subnetting and large-scale network growth. Class A provides excessive address space and is inefficient for this organization’s size.</a:t>
            </a:r>
          </a:p>
          <a:p>
            <a:pPr marL="0" marR="0" algn="just">
              <a:lnSpc>
                <a:spcPct val="115000"/>
              </a:lnSpc>
              <a:spcAft>
                <a:spcPts val="4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02. A Class B</a:t>
            </a:r>
            <a:r>
              <a:rPr lang="en-US" sz="1400" dirty="0">
                <a:effectLst/>
                <a:latin typeface="Aptos" panose="020B0004020202020204" pitchFamily="34" charset="0"/>
                <a:ea typeface="Aptos" panose="020B0004020202020204" pitchFamily="34" charset="0"/>
                <a:cs typeface="Times New Roman" panose="02020603050405020304" pitchFamily="18" charset="0"/>
              </a:rPr>
              <a:t> network leaves 16 host bits in the original /16 network. That provides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16</a:t>
            </a:r>
            <a:r>
              <a:rPr lang="en-US" sz="1400" dirty="0">
                <a:effectLst/>
                <a:latin typeface="Aptos" panose="020B0004020202020204" pitchFamily="34" charset="0"/>
                <a:ea typeface="Aptos" panose="020B0004020202020204" pitchFamily="34" charset="0"/>
                <a:cs typeface="Times New Roman" panose="02020603050405020304" pitchFamily="18" charset="0"/>
              </a:rPr>
              <a:t> = 65,536 total addresses or 65,534 usable addresses (excluding network and broadcast addresses). This is more than enough for the current design and still leaves space for future subnet creation.</a:t>
            </a:r>
          </a:p>
          <a:p>
            <a:pPr marL="0" marR="0" algn="just">
              <a:lnSpc>
                <a:spcPct val="115000"/>
              </a:lnSpc>
              <a:spcAft>
                <a:spcPts val="4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03. A Class C</a:t>
            </a:r>
            <a:r>
              <a:rPr lang="en-US" sz="1400" dirty="0">
                <a:effectLst/>
                <a:latin typeface="Aptos" panose="020B0004020202020204" pitchFamily="34" charset="0"/>
                <a:ea typeface="Aptos" panose="020B0004020202020204" pitchFamily="34" charset="0"/>
                <a:cs typeface="Times New Roman" panose="02020603050405020304" pitchFamily="18" charset="0"/>
              </a:rPr>
              <a:t> network leaves only 8 host bits, which gives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8</a:t>
            </a:r>
            <a:r>
              <a:rPr lang="en-US" sz="1400" dirty="0">
                <a:effectLst/>
                <a:latin typeface="Aptos" panose="020B0004020202020204" pitchFamily="34" charset="0"/>
                <a:ea typeface="Aptos" panose="020B0004020202020204" pitchFamily="34" charset="0"/>
                <a:cs typeface="Times New Roman" panose="02020603050405020304" pitchFamily="18" charset="0"/>
              </a:rPr>
              <a:t> = 256 total addresses, or 254 usable addresses (excluding network and broadcast addresses). That is not enough for 960 hosts.</a:t>
            </a:r>
          </a:p>
          <a:p>
            <a:pPr marL="0" marR="0" algn="just">
              <a:lnSpc>
                <a:spcPct val="115000"/>
              </a:lnSpc>
              <a:spcAft>
                <a:spcPts val="400"/>
              </a:spcAft>
              <a:buNone/>
            </a:pPr>
            <a:endParaRPr lang="en-US" sz="1400" dirty="0">
              <a:latin typeface="Aptos" panose="020B0004020202020204" pitchFamily="34" charset="0"/>
              <a:ea typeface="Aptos" panose="020B0004020202020204" pitchFamily="34" charset="0"/>
              <a:cs typeface="Times New Roman" panose="02020603050405020304" pitchFamily="18" charset="0"/>
            </a:endParaRPr>
          </a:p>
          <a:p>
            <a:r>
              <a:rPr lang="en-US" sz="1400" b="1" dirty="0"/>
              <a:t>4. Subnet Sizing Methodology (Including the +2 Rule (network ID and broadcast ID))</a:t>
            </a:r>
          </a:p>
          <a:p>
            <a:r>
              <a:rPr lang="en-US" sz="1400" dirty="0"/>
              <a:t>For accurate subnet sizing, two additional IP addresses must be reserved in every subnet: one for the Network ID and one for the Broadcast ID. </a:t>
            </a:r>
          </a:p>
          <a:p>
            <a:r>
              <a:rPr lang="en-US" sz="1400" dirty="0"/>
              <a:t>Therefore, the sizing check is not based only on the number of hosts; it is based on required IP addresses.</a:t>
            </a:r>
          </a:p>
          <a:p>
            <a:r>
              <a:rPr lang="en-US" sz="1400" b="1" dirty="0"/>
              <a:t>Sizing formula:</a:t>
            </a:r>
            <a:r>
              <a:rPr lang="en-US" sz="1400" dirty="0"/>
              <a:t> Required IP addresses = Actual hosts + 2 (network ID and broadcast ID). </a:t>
            </a:r>
          </a:p>
          <a:p>
            <a:r>
              <a:rPr lang="en-US" sz="1400" dirty="0"/>
              <a:t>After that, the next suitable power of 2 is chosen, and the matching CIDR prefix is selected.</a:t>
            </a:r>
          </a:p>
          <a:p>
            <a:pPr marL="0" marR="0" algn="just">
              <a:lnSpc>
                <a:spcPct val="115000"/>
              </a:lnSpc>
              <a:spcAft>
                <a:spcPts val="400"/>
              </a:spcAft>
              <a:buNone/>
            </a:pP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786073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E84F3-167B-11D7-9C54-656AF056EFF8}"/>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79B7465-502C-EE0D-402E-77027713B9A5}"/>
              </a:ext>
            </a:extLst>
          </p:cNvPr>
          <p:cNvGraphicFramePr>
            <a:graphicFrameLocks noGrp="1"/>
          </p:cNvGraphicFramePr>
          <p:nvPr>
            <p:extLst>
              <p:ext uri="{D42A27DB-BD31-4B8C-83A1-F6EECF244321}">
                <p14:modId xmlns:p14="http://schemas.microsoft.com/office/powerpoint/2010/main" val="3860306818"/>
              </p:ext>
            </p:extLst>
          </p:nvPr>
        </p:nvGraphicFramePr>
        <p:xfrm>
          <a:off x="7106390" y="215494"/>
          <a:ext cx="4932680" cy="2011680"/>
        </p:xfrm>
        <a:graphic>
          <a:graphicData uri="http://schemas.openxmlformats.org/drawingml/2006/table">
            <a:tbl>
              <a:tblPr firstRow="1" firstCol="1" bandRow="1">
                <a:tableStyleId>{5C22544A-7EE6-4342-B048-85BDC9FD1C3A}</a:tableStyleId>
              </a:tblPr>
              <a:tblGrid>
                <a:gridCol w="1224280">
                  <a:extLst>
                    <a:ext uri="{9D8B030D-6E8A-4147-A177-3AD203B41FA5}">
                      <a16:colId xmlns:a16="http://schemas.microsoft.com/office/drawing/2014/main" val="1597252827"/>
                    </a:ext>
                  </a:extLst>
                </a:gridCol>
                <a:gridCol w="720090">
                  <a:extLst>
                    <a:ext uri="{9D8B030D-6E8A-4147-A177-3AD203B41FA5}">
                      <a16:colId xmlns:a16="http://schemas.microsoft.com/office/drawing/2014/main" val="1774845345"/>
                    </a:ext>
                  </a:extLst>
                </a:gridCol>
                <a:gridCol w="720090">
                  <a:extLst>
                    <a:ext uri="{9D8B030D-6E8A-4147-A177-3AD203B41FA5}">
                      <a16:colId xmlns:a16="http://schemas.microsoft.com/office/drawing/2014/main" val="2246564387"/>
                    </a:ext>
                  </a:extLst>
                </a:gridCol>
                <a:gridCol w="828040">
                  <a:extLst>
                    <a:ext uri="{9D8B030D-6E8A-4147-A177-3AD203B41FA5}">
                      <a16:colId xmlns:a16="http://schemas.microsoft.com/office/drawing/2014/main" val="4189851669"/>
                    </a:ext>
                  </a:extLst>
                </a:gridCol>
                <a:gridCol w="720090">
                  <a:extLst>
                    <a:ext uri="{9D8B030D-6E8A-4147-A177-3AD203B41FA5}">
                      <a16:colId xmlns:a16="http://schemas.microsoft.com/office/drawing/2014/main" val="1068122371"/>
                    </a:ext>
                  </a:extLst>
                </a:gridCol>
                <a:gridCol w="720090">
                  <a:extLst>
                    <a:ext uri="{9D8B030D-6E8A-4147-A177-3AD203B41FA5}">
                      <a16:colId xmlns:a16="http://schemas.microsoft.com/office/drawing/2014/main" val="957186832"/>
                    </a:ext>
                  </a:extLst>
                </a:gridCol>
              </a:tblGrid>
              <a:tr h="0">
                <a:tc>
                  <a:txBody>
                    <a:bodyPr/>
                    <a:lstStyle/>
                    <a:p>
                      <a:pPr marL="0" marR="0">
                        <a:buNone/>
                      </a:pPr>
                      <a:r>
                        <a:rPr lang="en-US" sz="1100">
                          <a:effectLst/>
                        </a:rPr>
                        <a:t>Department</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Hosts Needed</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Hosts + 2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Next Power of 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Selected Prefix</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Usable Hosts</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824656805"/>
                  </a:ext>
                </a:extLst>
              </a:tr>
              <a:tr h="0">
                <a:tc>
                  <a:txBody>
                    <a:bodyPr/>
                    <a:lstStyle/>
                    <a:p>
                      <a:pPr marL="0" marR="0">
                        <a:buNone/>
                      </a:pPr>
                      <a:r>
                        <a:rPr lang="en-US" sz="1100">
                          <a:effectLst/>
                        </a:rPr>
                        <a:t>Customer Service</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960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962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1024</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/22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1022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85570577"/>
                  </a:ext>
                </a:extLst>
              </a:tr>
              <a:tr h="0">
                <a:tc>
                  <a:txBody>
                    <a:bodyPr/>
                    <a:lstStyle/>
                    <a:p>
                      <a:pPr marL="0" marR="0">
                        <a:buNone/>
                      </a:pPr>
                      <a:r>
                        <a:rPr lang="en-US" sz="1100">
                          <a:effectLst/>
                        </a:rPr>
                        <a:t>Sales</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220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222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256</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/24</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254</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6651272"/>
                  </a:ext>
                </a:extLst>
              </a:tr>
              <a:tr h="0">
                <a:tc>
                  <a:txBody>
                    <a:bodyPr/>
                    <a:lstStyle/>
                    <a:p>
                      <a:pPr marL="0" marR="0">
                        <a:buNone/>
                      </a:pPr>
                      <a:r>
                        <a:rPr lang="en-US" sz="1100">
                          <a:effectLst/>
                        </a:rPr>
                        <a:t>Quality Control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110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112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128</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/25</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126</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9246209"/>
                  </a:ext>
                </a:extLst>
              </a:tr>
              <a:tr h="0">
                <a:tc>
                  <a:txBody>
                    <a:bodyPr/>
                    <a:lstStyle/>
                    <a:p>
                      <a:pPr marL="0" marR="0">
                        <a:buNone/>
                      </a:pPr>
                      <a:r>
                        <a:rPr lang="en-US" sz="1100">
                          <a:effectLst/>
                        </a:rPr>
                        <a:t>HR</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50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52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64</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/26</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62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95373847"/>
                  </a:ext>
                </a:extLst>
              </a:tr>
              <a:tr h="0">
                <a:tc>
                  <a:txBody>
                    <a:bodyPr/>
                    <a:lstStyle/>
                    <a:p>
                      <a:pPr marL="0" marR="0">
                        <a:buNone/>
                      </a:pPr>
                      <a:r>
                        <a:rPr lang="en-US" sz="1100">
                          <a:effectLst/>
                        </a:rPr>
                        <a:t>Marketing</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40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42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64</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/26</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62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14380056"/>
                  </a:ext>
                </a:extLst>
              </a:tr>
              <a:tr h="0">
                <a:tc>
                  <a:txBody>
                    <a:bodyPr/>
                    <a:lstStyle/>
                    <a:p>
                      <a:pPr marL="0" marR="0">
                        <a:buNone/>
                      </a:pPr>
                      <a:r>
                        <a:rPr lang="en-US" sz="1100">
                          <a:effectLst/>
                        </a:rPr>
                        <a:t>Technical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30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32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32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/27</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30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4844305"/>
                  </a:ext>
                </a:extLst>
              </a:tr>
              <a:tr h="0">
                <a:tc>
                  <a:txBody>
                    <a:bodyPr/>
                    <a:lstStyle/>
                    <a:p>
                      <a:pPr marL="0" marR="0">
                        <a:buNone/>
                      </a:pPr>
                      <a:r>
                        <a:rPr lang="en-US" sz="1100">
                          <a:effectLst/>
                        </a:rPr>
                        <a:t>Financial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20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22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32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/27</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30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879813208"/>
                  </a:ext>
                </a:extLst>
              </a:tr>
              <a:tr h="0">
                <a:tc>
                  <a:txBody>
                    <a:bodyPr/>
                    <a:lstStyle/>
                    <a:p>
                      <a:pPr marL="0" marR="0">
                        <a:buNone/>
                      </a:pPr>
                      <a:r>
                        <a:rPr lang="en-US" sz="1100">
                          <a:effectLst/>
                        </a:rPr>
                        <a:t>Strategy</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10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12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16</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/28</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14</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255703630"/>
                  </a:ext>
                </a:extLst>
              </a:tr>
              <a:tr h="0">
                <a:tc>
                  <a:txBody>
                    <a:bodyPr/>
                    <a:lstStyle/>
                    <a:p>
                      <a:pPr marL="0" marR="0">
                        <a:buNone/>
                      </a:pPr>
                      <a:r>
                        <a:rPr lang="en-US" sz="1100">
                          <a:effectLst/>
                        </a:rPr>
                        <a:t>Legal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8</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10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16</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a:effectLst/>
                        </a:rPr>
                        <a:t>/28</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0" marR="0">
                        <a:buNone/>
                      </a:pPr>
                      <a:r>
                        <a:rPr lang="en-US" sz="1100" dirty="0">
                          <a:effectLst/>
                        </a:rPr>
                        <a:t>14</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29570938"/>
                  </a:ext>
                </a:extLst>
              </a:tr>
            </a:tbl>
          </a:graphicData>
        </a:graphic>
      </p:graphicFrame>
      <p:sp>
        <p:nvSpPr>
          <p:cNvPr id="4" name="TextBox 3">
            <a:extLst>
              <a:ext uri="{FF2B5EF4-FFF2-40B4-BE49-F238E27FC236}">
                <a16:creationId xmlns:a16="http://schemas.microsoft.com/office/drawing/2014/main" id="{03CEC0B8-4DF0-DE9A-6645-71E74BD2EEDD}"/>
              </a:ext>
            </a:extLst>
          </p:cNvPr>
          <p:cNvSpPr txBox="1"/>
          <p:nvPr/>
        </p:nvSpPr>
        <p:spPr>
          <a:xfrm>
            <a:off x="152930" y="77843"/>
            <a:ext cx="6851589" cy="5249258"/>
          </a:xfrm>
          <a:prstGeom prst="rect">
            <a:avLst/>
          </a:prstGeom>
          <a:noFill/>
        </p:spPr>
        <p:txBody>
          <a:bodyPr wrap="square">
            <a:spAutoFit/>
          </a:bodyPr>
          <a:lstStyle/>
          <a:p>
            <a:pPr marL="0" marR="0">
              <a:lnSpc>
                <a:spcPct val="115000"/>
              </a:lnSpc>
              <a:spcAft>
                <a:spcPts val="4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Worked example for Customer Service: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960 hosts require 962 total addresses after adding Network ID and Broadcast ID. Since 512 is too small and 1024 is the next suitable block, 10 host bits are required. Therefore, the selected subnet is /22, which provides 1,022 usable host addresses.</a:t>
            </a:r>
          </a:p>
          <a:p>
            <a:pPr marL="0" marR="0" algn="just">
              <a:lnSpc>
                <a:spcPct val="115000"/>
              </a:lnSpc>
              <a:spcAft>
                <a:spcPts val="4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CIDR note:</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CIDR stands for Classless Inter-Domain Routing. Instead of thinking only of old classful sizes, we borrow host bits to create smaller subnets that match the department requirements. For example, a /22 subnet means out of 32 bits (IPv4) 22 bits are used for the network portion, and 10 bits are left for hosts.</a:t>
            </a:r>
          </a:p>
          <a:p>
            <a:pPr marL="0" marR="0" algn="just">
              <a:lnSpc>
                <a:spcPct val="115000"/>
              </a:lnSpc>
              <a:spcAft>
                <a:spcPts val="400"/>
              </a:spcAft>
              <a:buNone/>
            </a:pP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800"/>
              </a:spcBef>
              <a:spcAft>
                <a:spcPts val="400"/>
              </a:spcAft>
              <a:buNone/>
            </a:pPr>
            <a:r>
              <a:rPr lang="en-US" sz="1400" b="1" kern="0" dirty="0">
                <a:solidFill>
                  <a:srgbClr val="1F4E79"/>
                </a:solidFill>
                <a:effectLst/>
                <a:latin typeface="Aptos" panose="020B0004020202020204" pitchFamily="34" charset="0"/>
                <a:ea typeface="MS Gothic" panose="020B0609070205080204" pitchFamily="49" charset="-128"/>
                <a:cs typeface="Times New Roman" panose="02020603050405020304" pitchFamily="18" charset="0"/>
              </a:rPr>
              <a:t>5. Full VLSM and Subnet Calculation</a:t>
            </a:r>
            <a:endParaRPr lang="en-US" sz="1400" b="1" kern="0" dirty="0">
              <a:solidFill>
                <a:srgbClr val="1F4E79"/>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gn="just">
              <a:lnSpc>
                <a:spcPct val="115000"/>
              </a:lnSpc>
              <a:spcAft>
                <a:spcPts val="4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Variable Length Subnet Masking (VLSM)</a:t>
            </a:r>
            <a:r>
              <a:rPr lang="en-US" sz="1400" dirty="0">
                <a:effectLst/>
                <a:latin typeface="Aptos" panose="020B0004020202020204" pitchFamily="34" charset="0"/>
                <a:ea typeface="Aptos" panose="020B0004020202020204" pitchFamily="34" charset="0"/>
                <a:cs typeface="Times New Roman" panose="02020603050405020304" pitchFamily="18" charset="0"/>
              </a:rPr>
              <a:t> is a network design technique that enhances IP address efficiency by allowing different-sized subnets within the same network, unlike </a:t>
            </a:r>
            <a:r>
              <a:rPr lang="en-US" sz="1400" b="1" dirty="0">
                <a:effectLst/>
                <a:latin typeface="Aptos" panose="020B0004020202020204" pitchFamily="34" charset="0"/>
                <a:ea typeface="Aptos" panose="020B0004020202020204" pitchFamily="34" charset="0"/>
                <a:cs typeface="Times New Roman" panose="02020603050405020304" pitchFamily="18" charset="0"/>
              </a:rPr>
              <a:t>Fixed-Length Subnet Masking (FLSM)</a:t>
            </a:r>
            <a:r>
              <a:rPr lang="en-US" sz="1400" dirty="0">
                <a:effectLst/>
                <a:latin typeface="Aptos" panose="020B0004020202020204" pitchFamily="34" charset="0"/>
                <a:ea typeface="Aptos" panose="020B0004020202020204" pitchFamily="34" charset="0"/>
                <a:cs typeface="Times New Roman" panose="02020603050405020304" pitchFamily="18" charset="0"/>
              </a:rPr>
              <a:t>. It enables assigning smaller, tailored subnet blocks to smaller departments, minimizing waste by calculating exact host requirements (e.g., /25 for 100 hosts, /29 for 6 hosts).</a:t>
            </a:r>
          </a:p>
          <a:p>
            <a:pPr marL="0" marR="0" algn="just">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VLSM is used so that each department receives a subnet sized as closely as possible to its requirement. The departments are arranged from the largest host requirement to the smallest, then each department is assigned the next available network block.</a:t>
            </a:r>
          </a:p>
        </p:txBody>
      </p:sp>
      <p:graphicFrame>
        <p:nvGraphicFramePr>
          <p:cNvPr id="7" name="Table 6">
            <a:extLst>
              <a:ext uri="{FF2B5EF4-FFF2-40B4-BE49-F238E27FC236}">
                <a16:creationId xmlns:a16="http://schemas.microsoft.com/office/drawing/2014/main" id="{E01B592A-B3C0-34BD-35DF-9E77DFCA4F06}"/>
              </a:ext>
            </a:extLst>
          </p:cNvPr>
          <p:cNvGraphicFramePr>
            <a:graphicFrameLocks noGrp="1"/>
          </p:cNvGraphicFramePr>
          <p:nvPr>
            <p:extLst>
              <p:ext uri="{D42A27DB-BD31-4B8C-83A1-F6EECF244321}">
                <p14:modId xmlns:p14="http://schemas.microsoft.com/office/powerpoint/2010/main" val="2981123662"/>
              </p:ext>
            </p:extLst>
          </p:nvPr>
        </p:nvGraphicFramePr>
        <p:xfrm>
          <a:off x="7106390" y="3301181"/>
          <a:ext cx="4932680" cy="3162046"/>
        </p:xfrm>
        <a:graphic>
          <a:graphicData uri="http://schemas.openxmlformats.org/drawingml/2006/table">
            <a:tbl>
              <a:tblPr firstRow="1" firstCol="1" bandRow="1">
                <a:tableStyleId>{5C22544A-7EE6-4342-B048-85BDC9FD1C3A}</a:tableStyleId>
              </a:tblPr>
              <a:tblGrid>
                <a:gridCol w="712092">
                  <a:extLst>
                    <a:ext uri="{9D8B030D-6E8A-4147-A177-3AD203B41FA5}">
                      <a16:colId xmlns:a16="http://schemas.microsoft.com/office/drawing/2014/main" val="224343657"/>
                    </a:ext>
                  </a:extLst>
                </a:gridCol>
                <a:gridCol w="1144373">
                  <a:extLst>
                    <a:ext uri="{9D8B030D-6E8A-4147-A177-3AD203B41FA5}">
                      <a16:colId xmlns:a16="http://schemas.microsoft.com/office/drawing/2014/main" val="4134060677"/>
                    </a:ext>
                  </a:extLst>
                </a:gridCol>
                <a:gridCol w="1376217">
                  <a:extLst>
                    <a:ext uri="{9D8B030D-6E8A-4147-A177-3AD203B41FA5}">
                      <a16:colId xmlns:a16="http://schemas.microsoft.com/office/drawing/2014/main" val="1714013795"/>
                    </a:ext>
                  </a:extLst>
                </a:gridCol>
                <a:gridCol w="728652">
                  <a:extLst>
                    <a:ext uri="{9D8B030D-6E8A-4147-A177-3AD203B41FA5}">
                      <a16:colId xmlns:a16="http://schemas.microsoft.com/office/drawing/2014/main" val="745390932"/>
                    </a:ext>
                  </a:extLst>
                </a:gridCol>
                <a:gridCol w="971346">
                  <a:extLst>
                    <a:ext uri="{9D8B030D-6E8A-4147-A177-3AD203B41FA5}">
                      <a16:colId xmlns:a16="http://schemas.microsoft.com/office/drawing/2014/main" val="1740682423"/>
                    </a:ext>
                  </a:extLst>
                </a:gridCol>
              </a:tblGrid>
              <a:tr h="0">
                <a:tc>
                  <a:txBody>
                    <a:bodyPr/>
                    <a:lstStyle/>
                    <a:p>
                      <a:pPr marL="0" marR="0" algn="ctr">
                        <a:lnSpc>
                          <a:spcPct val="115000"/>
                        </a:lnSpc>
                        <a:spcAft>
                          <a:spcPts val="1000"/>
                        </a:spcAft>
                        <a:buNone/>
                      </a:pPr>
                      <a:r>
                        <a:rPr lang="en-US" sz="1200">
                          <a:effectLst/>
                        </a:rPr>
                        <a:t>Prefix</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Subnet Mask</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dirty="0">
                          <a:effectLst/>
                        </a:rPr>
                        <a:t>Host Bits details</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Host Bits</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Usable Hosts</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031128189"/>
                  </a:ext>
                </a:extLst>
              </a:tr>
              <a:tr h="0">
                <a:tc>
                  <a:txBody>
                    <a:bodyPr/>
                    <a:lstStyle/>
                    <a:p>
                      <a:pPr marL="0" marR="0" algn="ctr">
                        <a:lnSpc>
                          <a:spcPct val="115000"/>
                        </a:lnSpc>
                        <a:spcAft>
                          <a:spcPts val="1000"/>
                        </a:spcAft>
                        <a:buNone/>
                      </a:pPr>
                      <a:r>
                        <a:rPr lang="en-US" sz="1200">
                          <a:effectLst/>
                        </a:rPr>
                        <a:t>/22</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255.255.252.0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(8bits +2)</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10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1,022</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2510117293"/>
                  </a:ext>
                </a:extLst>
              </a:tr>
              <a:tr h="0">
                <a:tc>
                  <a:txBody>
                    <a:bodyPr/>
                    <a:lstStyle/>
                    <a:p>
                      <a:pPr marL="0" marR="0" algn="ctr">
                        <a:lnSpc>
                          <a:spcPct val="115000"/>
                        </a:lnSpc>
                        <a:spcAft>
                          <a:spcPts val="1000"/>
                        </a:spcAft>
                        <a:buNone/>
                      </a:pPr>
                      <a:r>
                        <a:rPr lang="en-US" sz="1200">
                          <a:effectLst/>
                        </a:rPr>
                        <a:t>/24</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255.255.255.0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Full 4</a:t>
                      </a:r>
                      <a:r>
                        <a:rPr lang="en-US" sz="1200" baseline="30000">
                          <a:effectLst/>
                        </a:rPr>
                        <a:t>th</a:t>
                      </a:r>
                      <a:r>
                        <a:rPr lang="en-US" sz="1200">
                          <a:effectLst/>
                        </a:rPr>
                        <a:t> Octet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8</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254</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817754250"/>
                  </a:ext>
                </a:extLst>
              </a:tr>
              <a:tr h="0">
                <a:tc>
                  <a:txBody>
                    <a:bodyPr/>
                    <a:lstStyle/>
                    <a:p>
                      <a:pPr marL="0" marR="0" algn="ctr">
                        <a:lnSpc>
                          <a:spcPct val="115000"/>
                        </a:lnSpc>
                        <a:spcAft>
                          <a:spcPts val="1000"/>
                        </a:spcAft>
                        <a:buNone/>
                      </a:pPr>
                      <a:r>
                        <a:rPr lang="en-US" sz="1200">
                          <a:effectLst/>
                        </a:rPr>
                        <a:t>/25</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255.255.255.128</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7bits from last Octet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7</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126</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038770299"/>
                  </a:ext>
                </a:extLst>
              </a:tr>
              <a:tr h="0">
                <a:tc>
                  <a:txBody>
                    <a:bodyPr/>
                    <a:lstStyle/>
                    <a:p>
                      <a:pPr marL="0" marR="0" algn="ctr">
                        <a:lnSpc>
                          <a:spcPct val="115000"/>
                        </a:lnSpc>
                        <a:spcAft>
                          <a:spcPts val="1000"/>
                        </a:spcAft>
                        <a:buNone/>
                      </a:pPr>
                      <a:r>
                        <a:rPr lang="en-US" sz="1200">
                          <a:effectLst/>
                        </a:rPr>
                        <a:t>/26</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255.255.255.192</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6bits from last Octet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6</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62</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461615248"/>
                  </a:ext>
                </a:extLst>
              </a:tr>
              <a:tr h="0">
                <a:tc>
                  <a:txBody>
                    <a:bodyPr/>
                    <a:lstStyle/>
                    <a:p>
                      <a:pPr marL="0" marR="0" algn="ctr">
                        <a:lnSpc>
                          <a:spcPct val="115000"/>
                        </a:lnSpc>
                        <a:spcAft>
                          <a:spcPts val="1000"/>
                        </a:spcAft>
                        <a:buNone/>
                      </a:pPr>
                      <a:r>
                        <a:rPr lang="en-US" sz="1200">
                          <a:effectLst/>
                        </a:rPr>
                        <a:t>/27</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255.255.255.224</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5bits from last Octet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5</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30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246299663"/>
                  </a:ext>
                </a:extLst>
              </a:tr>
              <a:tr h="0">
                <a:tc>
                  <a:txBody>
                    <a:bodyPr/>
                    <a:lstStyle/>
                    <a:p>
                      <a:pPr marL="0" marR="0" algn="ctr">
                        <a:lnSpc>
                          <a:spcPct val="115000"/>
                        </a:lnSpc>
                        <a:spcAft>
                          <a:spcPts val="1000"/>
                        </a:spcAft>
                        <a:buNone/>
                      </a:pPr>
                      <a:r>
                        <a:rPr lang="en-US" sz="1200">
                          <a:effectLst/>
                        </a:rPr>
                        <a:t>/28</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255.255.255.240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4bits from last Octet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4</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dirty="0">
                          <a:effectLst/>
                        </a:rPr>
                        <a:t>14</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475501725"/>
                  </a:ext>
                </a:extLst>
              </a:tr>
            </a:tbl>
          </a:graphicData>
        </a:graphic>
      </p:graphicFrame>
      <p:sp>
        <p:nvSpPr>
          <p:cNvPr id="9" name="TextBox 8">
            <a:extLst>
              <a:ext uri="{FF2B5EF4-FFF2-40B4-BE49-F238E27FC236}">
                <a16:creationId xmlns:a16="http://schemas.microsoft.com/office/drawing/2014/main" id="{9F690FA4-F31A-7726-F05E-2DB567EF981D}"/>
              </a:ext>
            </a:extLst>
          </p:cNvPr>
          <p:cNvSpPr txBox="1"/>
          <p:nvPr/>
        </p:nvSpPr>
        <p:spPr>
          <a:xfrm>
            <a:off x="7728155" y="2906714"/>
            <a:ext cx="6096000" cy="394467"/>
          </a:xfrm>
          <a:prstGeom prst="rect">
            <a:avLst/>
          </a:prstGeom>
          <a:noFill/>
        </p:spPr>
        <p:txBody>
          <a:bodyPr wrap="square">
            <a:spAutoFit/>
          </a:bodyPr>
          <a:lstStyle/>
          <a:p>
            <a:pPr marL="0" marR="0">
              <a:lnSpc>
                <a:spcPct val="115000"/>
              </a:lnSpc>
              <a:spcBef>
                <a:spcPts val="800"/>
              </a:spcBef>
              <a:spcAft>
                <a:spcPts val="400"/>
              </a:spcAft>
              <a:buNone/>
            </a:pPr>
            <a:r>
              <a:rPr lang="en-US" sz="1800" b="1" dirty="0">
                <a:solidFill>
                  <a:srgbClr val="2E5496"/>
                </a:solidFill>
                <a:effectLst/>
                <a:latin typeface="Aptos" panose="020B0004020202020204" pitchFamily="34" charset="0"/>
                <a:ea typeface="MS Gothic" panose="020B0609070205080204" pitchFamily="49" charset="-128"/>
                <a:cs typeface="Times New Roman" panose="02020603050405020304" pitchFamily="18" charset="0"/>
              </a:rPr>
              <a:t>5.1 CIDR-to-Mask Conversion Table</a:t>
            </a:r>
            <a:endPar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endParaRPr>
          </a:p>
        </p:txBody>
      </p:sp>
    </p:spTree>
    <p:extLst>
      <p:ext uri="{BB962C8B-B14F-4D97-AF65-F5344CB8AC3E}">
        <p14:creationId xmlns:p14="http://schemas.microsoft.com/office/powerpoint/2010/main" val="3829362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6BCA1-60B8-6010-FCA0-04EC4FA4DDE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CA1312A-4208-4961-41A1-CB7069524AB3}"/>
              </a:ext>
            </a:extLst>
          </p:cNvPr>
          <p:cNvSpPr txBox="1"/>
          <p:nvPr/>
        </p:nvSpPr>
        <p:spPr>
          <a:xfrm>
            <a:off x="324465" y="215494"/>
            <a:ext cx="11651225" cy="4010970"/>
          </a:xfrm>
          <a:prstGeom prst="rect">
            <a:avLst/>
          </a:prstGeom>
          <a:noFill/>
        </p:spPr>
        <p:txBody>
          <a:bodyPr wrap="square">
            <a:spAutoFit/>
          </a:bodyPr>
          <a:lstStyle/>
          <a:p>
            <a:pPr marL="0" marR="0">
              <a:lnSpc>
                <a:spcPct val="115000"/>
              </a:lnSpc>
              <a:spcAft>
                <a:spcPts val="4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General subnet formula: </a:t>
            </a:r>
            <a:r>
              <a:rPr lang="en-US" sz="1400" dirty="0">
                <a:effectLst/>
                <a:latin typeface="Aptos" panose="020B0004020202020204" pitchFamily="34" charset="0"/>
                <a:ea typeface="Aptos" panose="020B0004020202020204" pitchFamily="34" charset="0"/>
                <a:cs typeface="Times New Roman" panose="02020603050405020304" pitchFamily="18" charset="0"/>
              </a:rPr>
              <a:t>Usable hosts =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(host bits)</a:t>
            </a:r>
            <a:r>
              <a:rPr lang="en-US" sz="1400" dirty="0">
                <a:effectLst/>
                <a:latin typeface="Aptos" panose="020B0004020202020204" pitchFamily="34" charset="0"/>
                <a:ea typeface="Aptos" panose="020B0004020202020204" pitchFamily="34" charset="0"/>
                <a:cs typeface="Times New Roman" panose="02020603050405020304" pitchFamily="18" charset="0"/>
              </a:rPr>
              <a:t> - 2. The -2 (network ID and broadcast ID)</a:t>
            </a:r>
          </a:p>
          <a:p>
            <a:pPr marL="0" marR="0" algn="just">
              <a:lnSpc>
                <a:spcPct val="115000"/>
              </a:lnSpc>
              <a:spcAft>
                <a:spcPts val="10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Step-by-step host-bit selection:</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10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Customer Service</a:t>
            </a:r>
            <a:r>
              <a:rPr lang="en-US" sz="1400" dirty="0">
                <a:effectLst/>
                <a:latin typeface="Aptos" panose="020B0004020202020204" pitchFamily="34" charset="0"/>
                <a:ea typeface="Aptos" panose="020B0004020202020204" pitchFamily="34" charset="0"/>
                <a:cs typeface="Times New Roman" panose="02020603050405020304" pitchFamily="18" charset="0"/>
              </a:rPr>
              <a:t> needs 960 hosts.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9</a:t>
            </a:r>
            <a:r>
              <a:rPr lang="en-US" sz="1400" dirty="0">
                <a:effectLst/>
                <a:latin typeface="Aptos" panose="020B0004020202020204" pitchFamily="34" charset="0"/>
                <a:ea typeface="Aptos" panose="020B0004020202020204" pitchFamily="34" charset="0"/>
                <a:cs typeface="Times New Roman" panose="02020603050405020304" pitchFamily="18" charset="0"/>
              </a:rPr>
              <a:t> - 2 = 510, which is too small.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10</a:t>
            </a:r>
            <a:r>
              <a:rPr lang="en-US" sz="1400" dirty="0">
                <a:effectLst/>
                <a:latin typeface="Aptos" panose="020B0004020202020204" pitchFamily="34" charset="0"/>
                <a:ea typeface="Aptos" panose="020B0004020202020204" pitchFamily="34" charset="0"/>
                <a:cs typeface="Times New Roman" panose="02020603050405020304" pitchFamily="18" charset="0"/>
              </a:rPr>
              <a:t> - 2 = 1,022, which is enough. Therefore, host bits = 10 and prefix = /22.</a:t>
            </a:r>
          </a:p>
          <a:p>
            <a:pPr marL="0" marR="0" algn="just">
              <a:lnSpc>
                <a:spcPct val="115000"/>
              </a:lnSpc>
              <a:spcAft>
                <a:spcPts val="10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Sales </a:t>
            </a:r>
            <a:r>
              <a:rPr lang="en-US" sz="1400" dirty="0">
                <a:effectLst/>
                <a:latin typeface="Aptos" panose="020B0004020202020204" pitchFamily="34" charset="0"/>
                <a:ea typeface="Aptos" panose="020B0004020202020204" pitchFamily="34" charset="0"/>
                <a:cs typeface="Times New Roman" panose="02020603050405020304" pitchFamily="18" charset="0"/>
              </a:rPr>
              <a:t>need 220 hosts.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7</a:t>
            </a:r>
            <a:r>
              <a:rPr lang="en-US" sz="1400" dirty="0">
                <a:effectLst/>
                <a:latin typeface="Aptos" panose="020B0004020202020204" pitchFamily="34" charset="0"/>
                <a:ea typeface="Aptos" panose="020B0004020202020204" pitchFamily="34" charset="0"/>
                <a:cs typeface="Times New Roman" panose="02020603050405020304" pitchFamily="18" charset="0"/>
              </a:rPr>
              <a:t> - 2 = 126, too small.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8</a:t>
            </a:r>
            <a:r>
              <a:rPr lang="en-US" sz="1400" dirty="0">
                <a:effectLst/>
                <a:latin typeface="Aptos" panose="020B0004020202020204" pitchFamily="34" charset="0"/>
                <a:ea typeface="Aptos" panose="020B0004020202020204" pitchFamily="34" charset="0"/>
                <a:cs typeface="Times New Roman" panose="02020603050405020304" pitchFamily="18" charset="0"/>
              </a:rPr>
              <a:t> - 2 = 254, enough. Therefore, host bits = 8 and prefix = /24.</a:t>
            </a:r>
          </a:p>
          <a:p>
            <a:pPr marL="0" marR="0" algn="just">
              <a:lnSpc>
                <a:spcPct val="115000"/>
              </a:lnSpc>
              <a:spcAft>
                <a:spcPts val="10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Quality Control</a:t>
            </a:r>
            <a:r>
              <a:rPr lang="en-US" sz="1400" dirty="0">
                <a:effectLst/>
                <a:latin typeface="Aptos" panose="020B0004020202020204" pitchFamily="34" charset="0"/>
                <a:ea typeface="Aptos" panose="020B0004020202020204" pitchFamily="34" charset="0"/>
                <a:cs typeface="Times New Roman" panose="02020603050405020304" pitchFamily="18" charset="0"/>
              </a:rPr>
              <a:t> needs 110 hosts.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6</a:t>
            </a:r>
            <a:r>
              <a:rPr lang="en-US" sz="1400" dirty="0">
                <a:effectLst/>
                <a:latin typeface="Aptos" panose="020B0004020202020204" pitchFamily="34" charset="0"/>
                <a:ea typeface="Aptos" panose="020B0004020202020204" pitchFamily="34" charset="0"/>
                <a:cs typeface="Times New Roman" panose="02020603050405020304" pitchFamily="18" charset="0"/>
              </a:rPr>
              <a:t> - 2 = 62, too small.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7</a:t>
            </a:r>
            <a:r>
              <a:rPr lang="en-US" sz="1400" dirty="0">
                <a:effectLst/>
                <a:latin typeface="Aptos" panose="020B0004020202020204" pitchFamily="34" charset="0"/>
                <a:ea typeface="Aptos" panose="020B0004020202020204" pitchFamily="34" charset="0"/>
                <a:cs typeface="Times New Roman" panose="02020603050405020304" pitchFamily="18" charset="0"/>
              </a:rPr>
              <a:t> - 2 = 126, enough. Therefore, host bits = 7 and prefix = /25.</a:t>
            </a:r>
          </a:p>
          <a:p>
            <a:pPr marL="0" marR="0" algn="just">
              <a:lnSpc>
                <a:spcPct val="115000"/>
              </a:lnSpc>
              <a:spcAft>
                <a:spcPts val="10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HR</a:t>
            </a:r>
            <a:r>
              <a:rPr lang="en-US" sz="1400" dirty="0">
                <a:effectLst/>
                <a:latin typeface="Aptos" panose="020B0004020202020204" pitchFamily="34" charset="0"/>
                <a:ea typeface="Aptos" panose="020B0004020202020204" pitchFamily="34" charset="0"/>
                <a:cs typeface="Times New Roman" panose="02020603050405020304" pitchFamily="18" charset="0"/>
              </a:rPr>
              <a:t> needs 50 hosts.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5</a:t>
            </a:r>
            <a:r>
              <a:rPr lang="en-US" sz="1400" dirty="0">
                <a:effectLst/>
                <a:latin typeface="Aptos" panose="020B0004020202020204" pitchFamily="34" charset="0"/>
                <a:ea typeface="Aptos" panose="020B0004020202020204" pitchFamily="34" charset="0"/>
                <a:cs typeface="Times New Roman" panose="02020603050405020304" pitchFamily="18" charset="0"/>
              </a:rPr>
              <a:t> - 2 = 30, too small.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6</a:t>
            </a:r>
            <a:r>
              <a:rPr lang="en-US" sz="1400" dirty="0">
                <a:effectLst/>
                <a:latin typeface="Aptos" panose="020B0004020202020204" pitchFamily="34" charset="0"/>
                <a:ea typeface="Aptos" panose="020B0004020202020204" pitchFamily="34" charset="0"/>
                <a:cs typeface="Times New Roman" panose="02020603050405020304" pitchFamily="18" charset="0"/>
              </a:rPr>
              <a:t> - 2 = 62, enough. Therefore, host bits = 6 and prefix = /26.</a:t>
            </a:r>
          </a:p>
          <a:p>
            <a:pPr marL="0" marR="0" algn="just">
              <a:lnSpc>
                <a:spcPct val="115000"/>
              </a:lnSpc>
              <a:spcAft>
                <a:spcPts val="10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Marketing</a:t>
            </a:r>
            <a:r>
              <a:rPr lang="en-US" sz="1400" dirty="0">
                <a:effectLst/>
                <a:latin typeface="Aptos" panose="020B0004020202020204" pitchFamily="34" charset="0"/>
                <a:ea typeface="Aptos" panose="020B0004020202020204" pitchFamily="34" charset="0"/>
                <a:cs typeface="Times New Roman" panose="02020603050405020304" pitchFamily="18" charset="0"/>
              </a:rPr>
              <a:t> needs 40 hosts.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5</a:t>
            </a:r>
            <a:r>
              <a:rPr lang="en-US" sz="1400" dirty="0">
                <a:effectLst/>
                <a:latin typeface="Aptos" panose="020B0004020202020204" pitchFamily="34" charset="0"/>
                <a:ea typeface="Aptos" panose="020B0004020202020204" pitchFamily="34" charset="0"/>
                <a:cs typeface="Times New Roman" panose="02020603050405020304" pitchFamily="18" charset="0"/>
              </a:rPr>
              <a:t> - 2 = 30, too small.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6</a:t>
            </a:r>
            <a:r>
              <a:rPr lang="en-US" sz="1400" dirty="0">
                <a:effectLst/>
                <a:latin typeface="Aptos" panose="020B0004020202020204" pitchFamily="34" charset="0"/>
                <a:ea typeface="Aptos" panose="020B0004020202020204" pitchFamily="34" charset="0"/>
                <a:cs typeface="Times New Roman" panose="02020603050405020304" pitchFamily="18" charset="0"/>
              </a:rPr>
              <a:t> - 2 = 62, enough. Therefore, host bits = 6 and prefix = /26.</a:t>
            </a:r>
          </a:p>
          <a:p>
            <a:pPr marL="0" marR="0" algn="just">
              <a:lnSpc>
                <a:spcPct val="115000"/>
              </a:lnSpc>
              <a:spcAft>
                <a:spcPts val="10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Technica</a:t>
            </a:r>
            <a:r>
              <a:rPr lang="en-US" sz="1400" dirty="0">
                <a:effectLst/>
                <a:latin typeface="Aptos" panose="020B0004020202020204" pitchFamily="34" charset="0"/>
                <a:ea typeface="Aptos" panose="020B0004020202020204" pitchFamily="34" charset="0"/>
                <a:cs typeface="Times New Roman" panose="02020603050405020304" pitchFamily="18" charset="0"/>
              </a:rPr>
              <a:t>l needs 30 hosts.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5</a:t>
            </a:r>
            <a:r>
              <a:rPr lang="en-US" sz="1400" dirty="0">
                <a:effectLst/>
                <a:latin typeface="Aptos" panose="020B0004020202020204" pitchFamily="34" charset="0"/>
                <a:ea typeface="Aptos" panose="020B0004020202020204" pitchFamily="34" charset="0"/>
                <a:cs typeface="Times New Roman" panose="02020603050405020304" pitchFamily="18" charset="0"/>
              </a:rPr>
              <a:t> - 2 = 30, exactly. Therefore, host bits = 5 and prefix = /27.</a:t>
            </a:r>
          </a:p>
          <a:p>
            <a:pPr marL="0" marR="0" algn="just">
              <a:lnSpc>
                <a:spcPct val="115000"/>
              </a:lnSpc>
              <a:spcAft>
                <a:spcPts val="10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Financial </a:t>
            </a:r>
            <a:r>
              <a:rPr lang="en-US" sz="1400" dirty="0">
                <a:effectLst/>
                <a:latin typeface="Aptos" panose="020B0004020202020204" pitchFamily="34" charset="0"/>
                <a:ea typeface="Aptos" panose="020B0004020202020204" pitchFamily="34" charset="0"/>
                <a:cs typeface="Times New Roman" panose="02020603050405020304" pitchFamily="18" charset="0"/>
              </a:rPr>
              <a:t>needs 20 hosts.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4</a:t>
            </a:r>
            <a:r>
              <a:rPr lang="en-US" sz="1400" dirty="0">
                <a:effectLst/>
                <a:latin typeface="Aptos" panose="020B0004020202020204" pitchFamily="34" charset="0"/>
                <a:ea typeface="Aptos" panose="020B0004020202020204" pitchFamily="34" charset="0"/>
                <a:cs typeface="Times New Roman" panose="02020603050405020304" pitchFamily="18" charset="0"/>
              </a:rPr>
              <a:t> - 2 = 14, too small.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5</a:t>
            </a:r>
            <a:r>
              <a:rPr lang="en-US" sz="1400" dirty="0">
                <a:effectLst/>
                <a:latin typeface="Aptos" panose="020B0004020202020204" pitchFamily="34" charset="0"/>
                <a:ea typeface="Aptos" panose="020B0004020202020204" pitchFamily="34" charset="0"/>
                <a:cs typeface="Times New Roman" panose="02020603050405020304" pitchFamily="18" charset="0"/>
              </a:rPr>
              <a:t> - 2 = 30, enough. Therefore, host bits = 5 and prefix = /27.</a:t>
            </a:r>
          </a:p>
          <a:p>
            <a:pPr marL="0" marR="0" algn="just">
              <a:lnSpc>
                <a:spcPct val="115000"/>
              </a:lnSpc>
              <a:spcAft>
                <a:spcPts val="10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Strategy</a:t>
            </a:r>
            <a:r>
              <a:rPr lang="en-US" sz="1400" dirty="0">
                <a:effectLst/>
                <a:latin typeface="Aptos" panose="020B0004020202020204" pitchFamily="34" charset="0"/>
                <a:ea typeface="Aptos" panose="020B0004020202020204" pitchFamily="34" charset="0"/>
                <a:cs typeface="Times New Roman" panose="02020603050405020304" pitchFamily="18" charset="0"/>
              </a:rPr>
              <a:t> needs 10 hosts.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3</a:t>
            </a:r>
            <a:r>
              <a:rPr lang="en-US" sz="1400" dirty="0">
                <a:effectLst/>
                <a:latin typeface="Aptos" panose="020B0004020202020204" pitchFamily="34" charset="0"/>
                <a:ea typeface="Aptos" panose="020B0004020202020204" pitchFamily="34" charset="0"/>
                <a:cs typeface="Times New Roman" panose="02020603050405020304" pitchFamily="18" charset="0"/>
              </a:rPr>
              <a:t> - 2 = 6, too small.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4</a:t>
            </a:r>
            <a:r>
              <a:rPr lang="en-US" sz="1400" dirty="0">
                <a:effectLst/>
                <a:latin typeface="Aptos" panose="020B0004020202020204" pitchFamily="34" charset="0"/>
                <a:ea typeface="Aptos" panose="020B0004020202020204" pitchFamily="34" charset="0"/>
                <a:cs typeface="Times New Roman" panose="02020603050405020304" pitchFamily="18" charset="0"/>
              </a:rPr>
              <a:t> - 2 = 14, enough. Therefore, host bits = 4 and prefix = /28.</a:t>
            </a:r>
          </a:p>
          <a:p>
            <a:pPr marL="0" marR="0" algn="just">
              <a:lnSpc>
                <a:spcPct val="115000"/>
              </a:lnSpc>
              <a:spcAft>
                <a:spcPts val="10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Legal </a:t>
            </a:r>
            <a:r>
              <a:rPr lang="en-US" sz="1400" dirty="0">
                <a:effectLst/>
                <a:latin typeface="Aptos" panose="020B0004020202020204" pitchFamily="34" charset="0"/>
                <a:ea typeface="Aptos" panose="020B0004020202020204" pitchFamily="34" charset="0"/>
                <a:cs typeface="Times New Roman" panose="02020603050405020304" pitchFamily="18" charset="0"/>
              </a:rPr>
              <a:t>needs 8 hosts.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3</a:t>
            </a:r>
            <a:r>
              <a:rPr lang="en-US" sz="1400" dirty="0">
                <a:effectLst/>
                <a:latin typeface="Aptos" panose="020B0004020202020204" pitchFamily="34" charset="0"/>
                <a:ea typeface="Aptos" panose="020B0004020202020204" pitchFamily="34" charset="0"/>
                <a:cs typeface="Times New Roman" panose="02020603050405020304" pitchFamily="18" charset="0"/>
              </a:rPr>
              <a:t> - 2 = 6, too small.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4</a:t>
            </a:r>
            <a:r>
              <a:rPr lang="en-US" sz="1400" dirty="0">
                <a:effectLst/>
                <a:latin typeface="Aptos" panose="020B0004020202020204" pitchFamily="34" charset="0"/>
                <a:ea typeface="Aptos" panose="020B0004020202020204" pitchFamily="34" charset="0"/>
                <a:cs typeface="Times New Roman" panose="02020603050405020304" pitchFamily="18" charset="0"/>
              </a:rPr>
              <a:t> - 2 = 14, enough. Therefore, host bits = 4 and prefix = /28.</a:t>
            </a:r>
          </a:p>
        </p:txBody>
      </p:sp>
      <p:sp>
        <p:nvSpPr>
          <p:cNvPr id="3" name="TextBox 2">
            <a:extLst>
              <a:ext uri="{FF2B5EF4-FFF2-40B4-BE49-F238E27FC236}">
                <a16:creationId xmlns:a16="http://schemas.microsoft.com/office/drawing/2014/main" id="{8E925BF9-1E6F-1D29-163F-96E62286A3F6}"/>
              </a:ext>
            </a:extLst>
          </p:cNvPr>
          <p:cNvSpPr txBox="1"/>
          <p:nvPr/>
        </p:nvSpPr>
        <p:spPr>
          <a:xfrm>
            <a:off x="324465" y="4579374"/>
            <a:ext cx="10500852" cy="1797608"/>
          </a:xfrm>
          <a:prstGeom prst="rect">
            <a:avLst/>
          </a:prstGeom>
          <a:noFill/>
        </p:spPr>
        <p:txBody>
          <a:bodyPr wrap="square">
            <a:spAutoFit/>
          </a:bodyPr>
          <a:lstStyle/>
          <a:p>
            <a:pPr marL="0" marR="0" algn="just">
              <a:lnSpc>
                <a:spcPct val="115000"/>
              </a:lnSpc>
              <a:spcAft>
                <a:spcPts val="10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(Calculation Note: Subnet mask values are calculated by subtracting the block size from 256 in the relevant octet (e.g., 256 – 64 = 192 for /26).  Or 256 (2</a:t>
            </a:r>
            <a:r>
              <a:rPr lang="en-US" sz="1800" baseline="30000" dirty="0">
                <a:effectLst/>
                <a:latin typeface="Aptos" panose="020B0004020202020204" pitchFamily="34" charset="0"/>
                <a:ea typeface="Aptos" panose="020B0004020202020204" pitchFamily="34" charset="0"/>
                <a:cs typeface="Times New Roman" panose="02020603050405020304" pitchFamily="18" charset="0"/>
              </a:rPr>
              <a:t>8(total Octet bits) </a:t>
            </a:r>
            <a:r>
              <a:rPr lang="en-US" sz="1800" dirty="0">
                <a:effectLst/>
                <a:latin typeface="Aptos" panose="020B0004020202020204" pitchFamily="34" charset="0"/>
                <a:ea typeface="Aptos" panose="020B0004020202020204" pitchFamily="34" charset="0"/>
                <a:cs typeface="Times New Roman" panose="02020603050405020304" pitchFamily="18" charset="0"/>
              </a:rPr>
              <a:t>)-2</a:t>
            </a:r>
            <a:r>
              <a:rPr lang="en-US" sz="1800" baseline="30000" dirty="0">
                <a:effectLst/>
                <a:latin typeface="Aptos" panose="020B0004020202020204" pitchFamily="34" charset="0"/>
                <a:ea typeface="Aptos" panose="020B0004020202020204" pitchFamily="34" charset="0"/>
                <a:cs typeface="Times New Roman" panose="02020603050405020304" pitchFamily="18" charset="0"/>
              </a:rPr>
              <a:t>(host bits)  </a:t>
            </a:r>
            <a:r>
              <a:rPr lang="en-US" sz="1800" dirty="0">
                <a:effectLst/>
                <a:latin typeface="Aptos" panose="020B0004020202020204" pitchFamily="34" charset="0"/>
                <a:ea typeface="Aptos" panose="020B0004020202020204" pitchFamily="34" charset="0"/>
                <a:cs typeface="Times New Roman" panose="02020603050405020304" pitchFamily="18" charset="0"/>
              </a:rPr>
              <a:t>)</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10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CIDR (Classless Inter-Domain Routing) allows flexible allocation of IP addresses by borrowing host bits to create subnets of different sizes. This enables efficient use of address space by matching subnet sizes to department requirements instead of using fixed class-based addressing.</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675674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01370-9FE4-AB24-E4F3-DC470482A2F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BA30F8C-E402-1B8E-1697-077DD5F0BFB1}"/>
              </a:ext>
            </a:extLst>
          </p:cNvPr>
          <p:cNvSpPr txBox="1"/>
          <p:nvPr/>
        </p:nvSpPr>
        <p:spPr>
          <a:xfrm>
            <a:off x="0" y="0"/>
            <a:ext cx="12192000" cy="2800062"/>
          </a:xfrm>
          <a:prstGeom prst="rect">
            <a:avLst/>
          </a:prstGeom>
          <a:noFill/>
        </p:spPr>
        <p:txBody>
          <a:bodyPr wrap="square">
            <a:spAutoFit/>
          </a:bodyPr>
          <a:lstStyle/>
          <a:p>
            <a:pPr marL="0" marR="0">
              <a:lnSpc>
                <a:spcPct val="115000"/>
              </a:lnSpc>
              <a:spcBef>
                <a:spcPts val="800"/>
              </a:spcBef>
              <a:spcAft>
                <a:spcPts val="400"/>
              </a:spcAft>
              <a:buNone/>
            </a:pPr>
            <a:r>
              <a:rPr lang="en-US" sz="1800" b="1" dirty="0">
                <a:solidFill>
                  <a:srgbClr val="2E5496"/>
                </a:solidFill>
                <a:effectLst/>
                <a:latin typeface="Aptos" panose="020B0004020202020204" pitchFamily="34" charset="0"/>
                <a:ea typeface="MS Gothic" panose="020B0609070205080204" pitchFamily="49" charset="-128"/>
                <a:cs typeface="Times New Roman" panose="02020603050405020304" pitchFamily="18" charset="0"/>
              </a:rPr>
              <a:t>5.2 Binary Example for CIDR Understanding</a:t>
            </a:r>
            <a:endPar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gn="just">
              <a:lnSpc>
                <a:spcPct val="115000"/>
              </a:lnSpc>
              <a:spcAft>
                <a:spcPts val="4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Example:  /22 means that 22 bits belong to the network portion and 10 bits remain for hosts.</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400"/>
              </a:spcAft>
              <a:buNone/>
            </a:pPr>
            <a:r>
              <a:rPr lang="en-US" sz="1800" i="1" dirty="0">
                <a:effectLst/>
                <a:latin typeface="Aptos" panose="020B0004020202020204" pitchFamily="34" charset="0"/>
                <a:ea typeface="Aptos" panose="020B0004020202020204" pitchFamily="34" charset="0"/>
                <a:cs typeface="Times New Roman" panose="02020603050405020304" pitchFamily="18" charset="0"/>
              </a:rPr>
              <a:t>Subnet mask in dotted decimal: 255.255.252.0</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400"/>
              </a:spcAft>
              <a:buNone/>
            </a:pPr>
            <a:r>
              <a:rPr lang="en-US" sz="1800" i="1" dirty="0">
                <a:effectLst/>
                <a:latin typeface="Aptos" panose="020B0004020202020204" pitchFamily="34" charset="0"/>
                <a:ea typeface="Aptos" panose="020B0004020202020204" pitchFamily="34" charset="0"/>
                <a:cs typeface="Times New Roman" panose="02020603050405020304" pitchFamily="18" charset="0"/>
              </a:rPr>
              <a:t>Subnet mask in binary: 11111111.11111111.11111100.00000000</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4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Host capacity check: 2</a:t>
            </a:r>
            <a:r>
              <a:rPr lang="en-US" sz="1800" baseline="30000" dirty="0">
                <a:effectLst/>
                <a:latin typeface="Aptos" panose="020B0004020202020204" pitchFamily="34" charset="0"/>
                <a:ea typeface="Aptos" panose="020B0004020202020204" pitchFamily="34" charset="0"/>
                <a:cs typeface="Times New Roman" panose="02020603050405020304" pitchFamily="18" charset="0"/>
              </a:rPr>
              <a:t>10</a:t>
            </a:r>
            <a:r>
              <a:rPr lang="en-US" sz="1800" dirty="0">
                <a:effectLst/>
                <a:latin typeface="Aptos" panose="020B0004020202020204" pitchFamily="34" charset="0"/>
                <a:ea typeface="Aptos" panose="020B0004020202020204" pitchFamily="34" charset="0"/>
                <a:cs typeface="Times New Roman" panose="02020603050405020304" pitchFamily="18" charset="0"/>
              </a:rPr>
              <a:t> = 1,024 total addresses and 1,024 - 2 = 1,022 usable addresses.</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400"/>
              </a:spcAft>
              <a:buNone/>
            </a:pPr>
            <a:r>
              <a:rPr lang="en-US" sz="1050" dirty="0">
                <a:effectLst/>
                <a:latin typeface="Aptos" panose="020B0004020202020204" pitchFamily="34" charset="0"/>
                <a:ea typeface="Aptos" panose="020B0004020202020204" pitchFamily="34" charset="0"/>
                <a:cs typeface="Times New Roman" panose="02020603050405020304" pitchFamily="18" charset="0"/>
              </a:rPr>
              <a:t>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4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Note: This binary explanation shows exactly how the prefix length becomes the subnet mask and why the chosen subnet is large enough.</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F476AE68-D478-59E8-681C-B9A138D3EDEB}"/>
              </a:ext>
            </a:extLst>
          </p:cNvPr>
          <p:cNvGraphicFramePr>
            <a:graphicFrameLocks noGrp="1"/>
          </p:cNvGraphicFramePr>
          <p:nvPr>
            <p:extLst>
              <p:ext uri="{D42A27DB-BD31-4B8C-83A1-F6EECF244321}">
                <p14:modId xmlns:p14="http://schemas.microsoft.com/office/powerpoint/2010/main" val="1020159242"/>
              </p:ext>
            </p:extLst>
          </p:nvPr>
        </p:nvGraphicFramePr>
        <p:xfrm>
          <a:off x="203755" y="3257262"/>
          <a:ext cx="5112385" cy="3435604"/>
        </p:xfrm>
        <a:graphic>
          <a:graphicData uri="http://schemas.openxmlformats.org/drawingml/2006/table">
            <a:tbl>
              <a:tblPr firstRow="1" firstCol="1" bandRow="1">
                <a:tableStyleId>{5C22544A-7EE6-4342-B048-85BDC9FD1C3A}</a:tableStyleId>
              </a:tblPr>
              <a:tblGrid>
                <a:gridCol w="575945">
                  <a:extLst>
                    <a:ext uri="{9D8B030D-6E8A-4147-A177-3AD203B41FA5}">
                      <a16:colId xmlns:a16="http://schemas.microsoft.com/office/drawing/2014/main" val="1711536694"/>
                    </a:ext>
                  </a:extLst>
                </a:gridCol>
                <a:gridCol w="1224280">
                  <a:extLst>
                    <a:ext uri="{9D8B030D-6E8A-4147-A177-3AD203B41FA5}">
                      <a16:colId xmlns:a16="http://schemas.microsoft.com/office/drawing/2014/main" val="2438947469"/>
                    </a:ext>
                  </a:extLst>
                </a:gridCol>
                <a:gridCol w="720090">
                  <a:extLst>
                    <a:ext uri="{9D8B030D-6E8A-4147-A177-3AD203B41FA5}">
                      <a16:colId xmlns:a16="http://schemas.microsoft.com/office/drawing/2014/main" val="402054987"/>
                    </a:ext>
                  </a:extLst>
                </a:gridCol>
                <a:gridCol w="791845">
                  <a:extLst>
                    <a:ext uri="{9D8B030D-6E8A-4147-A177-3AD203B41FA5}">
                      <a16:colId xmlns:a16="http://schemas.microsoft.com/office/drawing/2014/main" val="2498861027"/>
                    </a:ext>
                  </a:extLst>
                </a:gridCol>
                <a:gridCol w="575945">
                  <a:extLst>
                    <a:ext uri="{9D8B030D-6E8A-4147-A177-3AD203B41FA5}">
                      <a16:colId xmlns:a16="http://schemas.microsoft.com/office/drawing/2014/main" val="260896024"/>
                    </a:ext>
                  </a:extLst>
                </a:gridCol>
                <a:gridCol w="1224280">
                  <a:extLst>
                    <a:ext uri="{9D8B030D-6E8A-4147-A177-3AD203B41FA5}">
                      <a16:colId xmlns:a16="http://schemas.microsoft.com/office/drawing/2014/main" val="3300518743"/>
                    </a:ext>
                  </a:extLst>
                </a:gridCol>
              </a:tblGrid>
              <a:tr h="0">
                <a:tc>
                  <a:txBody>
                    <a:bodyPr/>
                    <a:lstStyle/>
                    <a:p>
                      <a:pPr marL="0" marR="0">
                        <a:lnSpc>
                          <a:spcPct val="115000"/>
                        </a:lnSpc>
                        <a:spcAft>
                          <a:spcPts val="1000"/>
                        </a:spcAft>
                        <a:buNone/>
                      </a:pPr>
                      <a:r>
                        <a:rPr lang="en-US" sz="1200">
                          <a:effectLst/>
                        </a:rPr>
                        <a:t>Order</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Department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Hosts Needed</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Host Bits Needed</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CIDR</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Subnet Mask</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938053626"/>
                  </a:ext>
                </a:extLst>
              </a:tr>
              <a:tr h="0">
                <a:tc>
                  <a:txBody>
                    <a:bodyPr/>
                    <a:lstStyle/>
                    <a:p>
                      <a:pPr marL="0" marR="0">
                        <a:lnSpc>
                          <a:spcPct val="115000"/>
                        </a:lnSpc>
                        <a:spcAft>
                          <a:spcPts val="1000"/>
                        </a:spcAft>
                        <a:buNone/>
                      </a:pPr>
                      <a:r>
                        <a:rPr lang="en-US" sz="1200">
                          <a:effectLst/>
                        </a:rPr>
                        <a:t>1st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Customer Service</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960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10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/22</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255.255.252.0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332383771"/>
                  </a:ext>
                </a:extLst>
              </a:tr>
              <a:tr h="0">
                <a:tc>
                  <a:txBody>
                    <a:bodyPr/>
                    <a:lstStyle/>
                    <a:p>
                      <a:pPr marL="0" marR="0">
                        <a:lnSpc>
                          <a:spcPct val="115000"/>
                        </a:lnSpc>
                        <a:spcAft>
                          <a:spcPts val="1000"/>
                        </a:spcAft>
                        <a:buNone/>
                      </a:pPr>
                      <a:r>
                        <a:rPr lang="en-US" sz="1200">
                          <a:effectLst/>
                        </a:rPr>
                        <a:t>2nd</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Sales</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220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8</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/24</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255.255.255.0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939464791"/>
                  </a:ext>
                </a:extLst>
              </a:tr>
              <a:tr h="0">
                <a:tc>
                  <a:txBody>
                    <a:bodyPr/>
                    <a:lstStyle/>
                    <a:p>
                      <a:pPr marL="0" marR="0">
                        <a:lnSpc>
                          <a:spcPct val="115000"/>
                        </a:lnSpc>
                        <a:spcAft>
                          <a:spcPts val="1000"/>
                        </a:spcAft>
                        <a:buNone/>
                      </a:pPr>
                      <a:r>
                        <a:rPr lang="en-US" sz="1200">
                          <a:effectLst/>
                        </a:rPr>
                        <a:t>3rd</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Quality Control</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dirty="0">
                          <a:effectLst/>
                        </a:rPr>
                        <a:t>110</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7</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/25</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255.255.255.128</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2717339226"/>
                  </a:ext>
                </a:extLst>
              </a:tr>
              <a:tr h="0">
                <a:tc>
                  <a:txBody>
                    <a:bodyPr/>
                    <a:lstStyle/>
                    <a:p>
                      <a:pPr marL="0" marR="0">
                        <a:lnSpc>
                          <a:spcPct val="115000"/>
                        </a:lnSpc>
                        <a:spcAft>
                          <a:spcPts val="1000"/>
                        </a:spcAft>
                        <a:buNone/>
                      </a:pPr>
                      <a:r>
                        <a:rPr lang="en-US" sz="1200">
                          <a:effectLst/>
                        </a:rPr>
                        <a:t>4th</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HR</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50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6</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/26</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255.255.255.192</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4283164534"/>
                  </a:ext>
                </a:extLst>
              </a:tr>
              <a:tr h="0">
                <a:tc>
                  <a:txBody>
                    <a:bodyPr/>
                    <a:lstStyle/>
                    <a:p>
                      <a:pPr marL="0" marR="0">
                        <a:lnSpc>
                          <a:spcPct val="115000"/>
                        </a:lnSpc>
                        <a:spcAft>
                          <a:spcPts val="1000"/>
                        </a:spcAft>
                        <a:buNone/>
                      </a:pPr>
                      <a:r>
                        <a:rPr lang="en-US" sz="1200">
                          <a:effectLst/>
                        </a:rPr>
                        <a:t>5th</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Marketing</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40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6</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/26</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255.255.255.192</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297361446"/>
                  </a:ext>
                </a:extLst>
              </a:tr>
              <a:tr h="0">
                <a:tc>
                  <a:txBody>
                    <a:bodyPr/>
                    <a:lstStyle/>
                    <a:p>
                      <a:pPr marL="0" marR="0">
                        <a:lnSpc>
                          <a:spcPct val="115000"/>
                        </a:lnSpc>
                        <a:spcAft>
                          <a:spcPts val="1000"/>
                        </a:spcAft>
                        <a:buNone/>
                      </a:pPr>
                      <a:r>
                        <a:rPr lang="en-US" sz="1200">
                          <a:effectLst/>
                        </a:rPr>
                        <a:t>6th</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Technical</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30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5</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/27</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255.255.255.224</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2061011375"/>
                  </a:ext>
                </a:extLst>
              </a:tr>
              <a:tr h="0">
                <a:tc>
                  <a:txBody>
                    <a:bodyPr/>
                    <a:lstStyle/>
                    <a:p>
                      <a:pPr marL="0" marR="0">
                        <a:lnSpc>
                          <a:spcPct val="115000"/>
                        </a:lnSpc>
                        <a:spcAft>
                          <a:spcPts val="1000"/>
                        </a:spcAft>
                        <a:buNone/>
                      </a:pPr>
                      <a:r>
                        <a:rPr lang="en-US" sz="1200">
                          <a:effectLst/>
                        </a:rPr>
                        <a:t>7th</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Financial</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5</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/27</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255.255.255.224</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061541496"/>
                  </a:ext>
                </a:extLst>
              </a:tr>
              <a:tr h="0">
                <a:tc>
                  <a:txBody>
                    <a:bodyPr/>
                    <a:lstStyle/>
                    <a:p>
                      <a:pPr marL="0" marR="0">
                        <a:lnSpc>
                          <a:spcPct val="115000"/>
                        </a:lnSpc>
                        <a:spcAft>
                          <a:spcPts val="1000"/>
                        </a:spcAft>
                        <a:buNone/>
                      </a:pPr>
                      <a:r>
                        <a:rPr lang="en-US" sz="1200">
                          <a:effectLst/>
                        </a:rPr>
                        <a:t>8th</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Strategy</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10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4</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/28</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255.255.255.240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4145731455"/>
                  </a:ext>
                </a:extLst>
              </a:tr>
              <a:tr h="0">
                <a:tc>
                  <a:txBody>
                    <a:bodyPr/>
                    <a:lstStyle/>
                    <a:p>
                      <a:pPr marL="0" marR="0">
                        <a:lnSpc>
                          <a:spcPct val="115000"/>
                        </a:lnSpc>
                        <a:spcAft>
                          <a:spcPts val="1000"/>
                        </a:spcAft>
                        <a:buNone/>
                      </a:pPr>
                      <a:r>
                        <a:rPr lang="en-US" sz="1200">
                          <a:effectLst/>
                        </a:rPr>
                        <a:t>Last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Legal</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8</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4</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/28</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dirty="0">
                          <a:effectLst/>
                        </a:rPr>
                        <a:t>255.255.255.240</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822293396"/>
                  </a:ext>
                </a:extLst>
              </a:tr>
            </a:tbl>
          </a:graphicData>
        </a:graphic>
      </p:graphicFrame>
      <p:sp>
        <p:nvSpPr>
          <p:cNvPr id="5" name="Rectangle 1">
            <a:extLst>
              <a:ext uri="{FF2B5EF4-FFF2-40B4-BE49-F238E27FC236}">
                <a16:creationId xmlns:a16="http://schemas.microsoft.com/office/drawing/2014/main" id="{C4EAC57F-2382-7015-B4A9-A51CCA6583A4}"/>
              </a:ext>
            </a:extLst>
          </p:cNvPr>
          <p:cNvSpPr>
            <a:spLocks noChangeArrowheads="1"/>
          </p:cNvSpPr>
          <p:nvPr/>
        </p:nvSpPr>
        <p:spPr bwMode="auto">
          <a:xfrm>
            <a:off x="572755" y="2949509"/>
            <a:ext cx="4642339" cy="615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1568"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2E5496"/>
                </a:solidFill>
                <a:effectLst/>
                <a:latin typeface="Aptos" panose="020B0004020202020204" pitchFamily="34" charset="0"/>
                <a:ea typeface="MS Gothic" panose="020B0609070205080204" pitchFamily="49" charset="-128"/>
                <a:cs typeface="Times New Roman" panose="02020603050405020304" pitchFamily="18" charset="0"/>
              </a:rPr>
              <a:t>5.3 Detailed Subnet Allocation </a:t>
            </a:r>
            <a:r>
              <a:rPr kumimoji="0" lang="en-US" altLang="en-US" sz="1200" b="1" i="0" u="none" strike="noStrike" cap="none" normalizeH="0" baseline="0" dirty="0">
                <a:ln>
                  <a:noFill/>
                </a:ln>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a:t>
            </a:r>
            <a:r>
              <a:rPr kumimoji="0" lang="en-US" altLang="en-US" sz="1200" b="1" i="0" u="none" strike="noStrike" cap="none" normalizeH="0" baseline="0" dirty="0">
                <a:ln>
                  <a:noFill/>
                </a:ln>
                <a:solidFill>
                  <a:srgbClr val="2E5496"/>
                </a:solidFill>
                <a:effectLst/>
                <a:latin typeface="Aptos" panose="020B0004020202020204" pitchFamily="34" charset="0"/>
                <a:ea typeface="MS Gothic" panose="020B0609070205080204" pitchFamily="49" charset="-128"/>
                <a:cs typeface="Times New Roman" panose="02020603050405020304" pitchFamily="18" charset="0"/>
              </a:rPr>
              <a:t> Table A (Size Selection) with VLSM</a:t>
            </a:r>
            <a:endParaRPr kumimoji="0" lang="en-US" altLang="en-US" sz="1100" b="1" i="0" u="none" strike="noStrike" cap="none" normalizeH="0" baseline="0" dirty="0">
              <a:ln>
                <a:noFill/>
              </a:ln>
              <a:solidFill>
                <a:srgbClr val="2E5496"/>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6" name="Table 5">
            <a:extLst>
              <a:ext uri="{FF2B5EF4-FFF2-40B4-BE49-F238E27FC236}">
                <a16:creationId xmlns:a16="http://schemas.microsoft.com/office/drawing/2014/main" id="{89956BFF-2EE2-6B36-08A1-4722BD937926}"/>
              </a:ext>
            </a:extLst>
          </p:cNvPr>
          <p:cNvGraphicFramePr>
            <a:graphicFrameLocks noGrp="1"/>
          </p:cNvGraphicFramePr>
          <p:nvPr>
            <p:extLst>
              <p:ext uri="{D42A27DB-BD31-4B8C-83A1-F6EECF244321}">
                <p14:modId xmlns:p14="http://schemas.microsoft.com/office/powerpoint/2010/main" val="2594453865"/>
              </p:ext>
            </p:extLst>
          </p:nvPr>
        </p:nvGraphicFramePr>
        <p:xfrm>
          <a:off x="5884178" y="3257262"/>
          <a:ext cx="6104067" cy="3543039"/>
        </p:xfrm>
        <a:graphic>
          <a:graphicData uri="http://schemas.openxmlformats.org/drawingml/2006/table">
            <a:tbl>
              <a:tblPr firstRow="1" firstCol="1" bandRow="1">
                <a:tableStyleId>{5C22544A-7EE6-4342-B048-85BDC9FD1C3A}</a:tableStyleId>
              </a:tblPr>
              <a:tblGrid>
                <a:gridCol w="1015038">
                  <a:extLst>
                    <a:ext uri="{9D8B030D-6E8A-4147-A177-3AD203B41FA5}">
                      <a16:colId xmlns:a16="http://schemas.microsoft.com/office/drawing/2014/main" val="4153744291"/>
                    </a:ext>
                  </a:extLst>
                </a:gridCol>
                <a:gridCol w="914556">
                  <a:extLst>
                    <a:ext uri="{9D8B030D-6E8A-4147-A177-3AD203B41FA5}">
                      <a16:colId xmlns:a16="http://schemas.microsoft.com/office/drawing/2014/main" val="279508369"/>
                    </a:ext>
                  </a:extLst>
                </a:gridCol>
                <a:gridCol w="1018649">
                  <a:extLst>
                    <a:ext uri="{9D8B030D-6E8A-4147-A177-3AD203B41FA5}">
                      <a16:colId xmlns:a16="http://schemas.microsoft.com/office/drawing/2014/main" val="3271375501"/>
                    </a:ext>
                  </a:extLst>
                </a:gridCol>
                <a:gridCol w="1023463">
                  <a:extLst>
                    <a:ext uri="{9D8B030D-6E8A-4147-A177-3AD203B41FA5}">
                      <a16:colId xmlns:a16="http://schemas.microsoft.com/office/drawing/2014/main" val="1292047747"/>
                    </a:ext>
                  </a:extLst>
                </a:gridCol>
                <a:gridCol w="2132361">
                  <a:extLst>
                    <a:ext uri="{9D8B030D-6E8A-4147-A177-3AD203B41FA5}">
                      <a16:colId xmlns:a16="http://schemas.microsoft.com/office/drawing/2014/main" val="2700488616"/>
                    </a:ext>
                  </a:extLst>
                </a:gridCol>
              </a:tblGrid>
              <a:tr h="323664">
                <a:tc>
                  <a:txBody>
                    <a:bodyPr/>
                    <a:lstStyle/>
                    <a:p>
                      <a:pPr marL="0" marR="0">
                        <a:lnSpc>
                          <a:spcPct val="115000"/>
                        </a:lnSpc>
                        <a:spcAft>
                          <a:spcPts val="1000"/>
                        </a:spcAft>
                        <a:buNone/>
                      </a:pPr>
                      <a:r>
                        <a:rPr lang="en-US" sz="800">
                          <a:effectLst/>
                        </a:rPr>
                        <a:t>Department</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Network ID</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First Usable - Last Usable</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Broadcast ID</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Reason for next block</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extLst>
                  <a:ext uri="{0D108BD9-81ED-4DB2-BD59-A6C34878D82A}">
                    <a16:rowId xmlns:a16="http://schemas.microsoft.com/office/drawing/2014/main" val="3519208197"/>
                  </a:ext>
                </a:extLst>
              </a:tr>
              <a:tr h="358775">
                <a:tc>
                  <a:txBody>
                    <a:bodyPr/>
                    <a:lstStyle/>
                    <a:p>
                      <a:pPr marL="0" marR="0">
                        <a:lnSpc>
                          <a:spcPct val="115000"/>
                        </a:lnSpc>
                        <a:spcAft>
                          <a:spcPts val="1000"/>
                        </a:spcAft>
                        <a:buNone/>
                      </a:pPr>
                      <a:r>
                        <a:rPr lang="en-US" sz="800">
                          <a:effectLst/>
                        </a:rPr>
                        <a:t>Customer Service</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172.16.0.0</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172.16.0.1 - 172.16.3.254</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172.16.3.255</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/22 uses block size 4 in the 3rd octet, so next network begins at 172.16.4.0</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extLst>
                  <a:ext uri="{0D108BD9-81ED-4DB2-BD59-A6C34878D82A}">
                    <a16:rowId xmlns:a16="http://schemas.microsoft.com/office/drawing/2014/main" val="1440232232"/>
                  </a:ext>
                </a:extLst>
              </a:tr>
              <a:tr h="323664">
                <a:tc>
                  <a:txBody>
                    <a:bodyPr/>
                    <a:lstStyle/>
                    <a:p>
                      <a:pPr marL="0" marR="0">
                        <a:lnSpc>
                          <a:spcPct val="115000"/>
                        </a:lnSpc>
                        <a:spcAft>
                          <a:spcPts val="1000"/>
                        </a:spcAft>
                        <a:buNone/>
                      </a:pPr>
                      <a:r>
                        <a:rPr lang="en-US" sz="800">
                          <a:effectLst/>
                        </a:rPr>
                        <a:t>Sales</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172.16.4.0</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172.16.4.1 - 172.16.4.254</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172.16.4.255</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/24 uses entire 4th octet, so next network begins at 172.16.5.0</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extLst>
                  <a:ext uri="{0D108BD9-81ED-4DB2-BD59-A6C34878D82A}">
                    <a16:rowId xmlns:a16="http://schemas.microsoft.com/office/drawing/2014/main" val="1823959413"/>
                  </a:ext>
                </a:extLst>
              </a:tr>
              <a:tr h="358775">
                <a:tc>
                  <a:txBody>
                    <a:bodyPr/>
                    <a:lstStyle/>
                    <a:p>
                      <a:pPr marL="0" marR="0">
                        <a:lnSpc>
                          <a:spcPct val="115000"/>
                        </a:lnSpc>
                        <a:spcAft>
                          <a:spcPts val="1000"/>
                        </a:spcAft>
                        <a:buNone/>
                      </a:pPr>
                      <a:r>
                        <a:rPr lang="en-US" sz="800">
                          <a:effectLst/>
                        </a:rPr>
                        <a:t>Quality Control</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172.16.5.0</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172.16.5.1 - 172.16.5.126</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172.16.5.127</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/25 uses block size 128, so next free network begins at 172.16.5.128</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extLst>
                  <a:ext uri="{0D108BD9-81ED-4DB2-BD59-A6C34878D82A}">
                    <a16:rowId xmlns:a16="http://schemas.microsoft.com/office/drawing/2014/main" val="1367267670"/>
                  </a:ext>
                </a:extLst>
              </a:tr>
              <a:tr h="358775">
                <a:tc>
                  <a:txBody>
                    <a:bodyPr/>
                    <a:lstStyle/>
                    <a:p>
                      <a:pPr marL="0" marR="0">
                        <a:lnSpc>
                          <a:spcPct val="115000"/>
                        </a:lnSpc>
                        <a:spcAft>
                          <a:spcPts val="1000"/>
                        </a:spcAft>
                        <a:buNone/>
                      </a:pPr>
                      <a:r>
                        <a:rPr lang="en-US" sz="800">
                          <a:effectLst/>
                        </a:rPr>
                        <a:t>HR</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172.16.5.128</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172.16.5.129 - 172.16.5.190</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172.16.5.191</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/26 uses block size 64, so next free network begins at 172.16.5.192</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extLst>
                  <a:ext uri="{0D108BD9-81ED-4DB2-BD59-A6C34878D82A}">
                    <a16:rowId xmlns:a16="http://schemas.microsoft.com/office/drawing/2014/main" val="2132449544"/>
                  </a:ext>
                </a:extLst>
              </a:tr>
              <a:tr h="382184">
                <a:tc>
                  <a:txBody>
                    <a:bodyPr/>
                    <a:lstStyle/>
                    <a:p>
                      <a:pPr marL="0" marR="0">
                        <a:lnSpc>
                          <a:spcPct val="115000"/>
                        </a:lnSpc>
                        <a:spcAft>
                          <a:spcPts val="1000"/>
                        </a:spcAft>
                        <a:buNone/>
                      </a:pPr>
                      <a:r>
                        <a:rPr lang="en-US" sz="800">
                          <a:effectLst/>
                        </a:rPr>
                        <a:t>Marketing</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172.16.5.192</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172.16.5.193 - 172.16.5.254</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172.16.5.255</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Remaining space in 172.16.5.x is completed; next network begins at 172.16.6.0</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extLst>
                  <a:ext uri="{0D108BD9-81ED-4DB2-BD59-A6C34878D82A}">
                    <a16:rowId xmlns:a16="http://schemas.microsoft.com/office/drawing/2014/main" val="2540460080"/>
                  </a:ext>
                </a:extLst>
              </a:tr>
              <a:tr h="358775">
                <a:tc>
                  <a:txBody>
                    <a:bodyPr/>
                    <a:lstStyle/>
                    <a:p>
                      <a:pPr marL="0" marR="0">
                        <a:lnSpc>
                          <a:spcPct val="115000"/>
                        </a:lnSpc>
                        <a:spcAft>
                          <a:spcPts val="1000"/>
                        </a:spcAft>
                        <a:buNone/>
                      </a:pPr>
                      <a:r>
                        <a:rPr lang="en-US" sz="800">
                          <a:effectLst/>
                        </a:rPr>
                        <a:t>Technical</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172.16.6.0</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172.16.6.1 - 172.16.6.30</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172.16.6.31</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/27 uses block size 32, so next free network begins at 172.16.6.32</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extLst>
                  <a:ext uri="{0D108BD9-81ED-4DB2-BD59-A6C34878D82A}">
                    <a16:rowId xmlns:a16="http://schemas.microsoft.com/office/drawing/2014/main" val="2724277838"/>
                  </a:ext>
                </a:extLst>
              </a:tr>
              <a:tr h="323664">
                <a:tc>
                  <a:txBody>
                    <a:bodyPr/>
                    <a:lstStyle/>
                    <a:p>
                      <a:pPr marL="0" marR="0">
                        <a:lnSpc>
                          <a:spcPct val="115000"/>
                        </a:lnSpc>
                        <a:spcAft>
                          <a:spcPts val="1000"/>
                        </a:spcAft>
                        <a:buNone/>
                      </a:pPr>
                      <a:r>
                        <a:rPr lang="en-US" sz="800">
                          <a:effectLst/>
                        </a:rPr>
                        <a:t>Financial</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172.16.6.32</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172.16.6.33 - 172.16.6.62</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172.16.6.63</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/27 block size again gives next network at 172.16.6.64</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extLst>
                  <a:ext uri="{0D108BD9-81ED-4DB2-BD59-A6C34878D82A}">
                    <a16:rowId xmlns:a16="http://schemas.microsoft.com/office/drawing/2014/main" val="2429955554"/>
                  </a:ext>
                </a:extLst>
              </a:tr>
              <a:tr h="323664">
                <a:tc>
                  <a:txBody>
                    <a:bodyPr/>
                    <a:lstStyle/>
                    <a:p>
                      <a:pPr marL="0" marR="0">
                        <a:lnSpc>
                          <a:spcPct val="115000"/>
                        </a:lnSpc>
                        <a:spcAft>
                          <a:spcPts val="1000"/>
                        </a:spcAft>
                        <a:buNone/>
                      </a:pPr>
                      <a:r>
                        <a:rPr lang="en-US" sz="800">
                          <a:effectLst/>
                        </a:rPr>
                        <a:t>Strategy</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172.16.6.64</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172.16.6.65 - 172.16.6.78</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172.16.6.79</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/28 uses block size 16, so next network begins at 172.16.6.80</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extLst>
                  <a:ext uri="{0D108BD9-81ED-4DB2-BD59-A6C34878D82A}">
                    <a16:rowId xmlns:a16="http://schemas.microsoft.com/office/drawing/2014/main" val="1047620095"/>
                  </a:ext>
                </a:extLst>
              </a:tr>
              <a:tr h="323664">
                <a:tc>
                  <a:txBody>
                    <a:bodyPr/>
                    <a:lstStyle/>
                    <a:p>
                      <a:pPr marL="0" marR="0">
                        <a:lnSpc>
                          <a:spcPct val="115000"/>
                        </a:lnSpc>
                        <a:spcAft>
                          <a:spcPts val="1000"/>
                        </a:spcAft>
                        <a:buNone/>
                      </a:pPr>
                      <a:r>
                        <a:rPr lang="en-US" sz="800">
                          <a:effectLst/>
                        </a:rPr>
                        <a:t>Legal</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172.16.6.80</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a:effectLst/>
                        </a:rPr>
                        <a:t>172.16.6.81 - 172.16.6.94</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gn="ctr">
                        <a:lnSpc>
                          <a:spcPct val="115000"/>
                        </a:lnSpc>
                        <a:spcAft>
                          <a:spcPts val="1000"/>
                        </a:spcAft>
                        <a:buNone/>
                      </a:pPr>
                      <a:r>
                        <a:rPr lang="en-US" sz="800">
                          <a:effectLst/>
                        </a:rPr>
                        <a:t>172.16.6.95</a:t>
                      </a:r>
                      <a:endParaRPr lang="en-US" sz="70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tc>
                  <a:txBody>
                    <a:bodyPr/>
                    <a:lstStyle/>
                    <a:p>
                      <a:pPr marL="0" marR="0">
                        <a:lnSpc>
                          <a:spcPct val="115000"/>
                        </a:lnSpc>
                        <a:spcAft>
                          <a:spcPts val="1000"/>
                        </a:spcAft>
                        <a:buNone/>
                      </a:pPr>
                      <a:r>
                        <a:rPr lang="en-US" sz="800" dirty="0">
                          <a:effectLst/>
                        </a:rPr>
                        <a:t>Final subnet in the shown VLSM plan</a:t>
                      </a:r>
                      <a:endParaRPr lang="en-US" sz="700" dirty="0">
                        <a:effectLst/>
                        <a:latin typeface="Aptos" panose="020B0004020202020204" pitchFamily="34" charset="0"/>
                        <a:ea typeface="Aptos" panose="020B0004020202020204" pitchFamily="34" charset="0"/>
                        <a:cs typeface="Times New Roman" panose="02020603050405020304" pitchFamily="18" charset="0"/>
                      </a:endParaRPr>
                    </a:p>
                  </a:txBody>
                  <a:tcPr marL="35828" marR="35828" marT="35828" marB="35828" anchor="ctr"/>
                </a:tc>
                <a:extLst>
                  <a:ext uri="{0D108BD9-81ED-4DB2-BD59-A6C34878D82A}">
                    <a16:rowId xmlns:a16="http://schemas.microsoft.com/office/drawing/2014/main" val="2014583722"/>
                  </a:ext>
                </a:extLst>
              </a:tr>
            </a:tbl>
          </a:graphicData>
        </a:graphic>
      </p:graphicFrame>
      <p:sp>
        <p:nvSpPr>
          <p:cNvPr id="8" name="TextBox 7">
            <a:extLst>
              <a:ext uri="{FF2B5EF4-FFF2-40B4-BE49-F238E27FC236}">
                <a16:creationId xmlns:a16="http://schemas.microsoft.com/office/drawing/2014/main" id="{25A26873-B364-2AB8-2044-6C4C298CC9F6}"/>
              </a:ext>
            </a:extLst>
          </p:cNvPr>
          <p:cNvSpPr txBox="1"/>
          <p:nvPr/>
        </p:nvSpPr>
        <p:spPr>
          <a:xfrm>
            <a:off x="6824642" y="2963526"/>
            <a:ext cx="4794603" cy="293735"/>
          </a:xfrm>
          <a:prstGeom prst="rect">
            <a:avLst/>
          </a:prstGeom>
          <a:noFill/>
        </p:spPr>
        <p:txBody>
          <a:bodyPr wrap="square">
            <a:spAutoFit/>
          </a:bodyPr>
          <a:lstStyle/>
          <a:p>
            <a:pPr marL="0" marR="0">
              <a:lnSpc>
                <a:spcPct val="115000"/>
              </a:lnSpc>
              <a:spcBef>
                <a:spcPts val="800"/>
              </a:spcBef>
              <a:spcAft>
                <a:spcPts val="400"/>
              </a:spcAft>
              <a:buNone/>
            </a:pPr>
            <a:r>
              <a:rPr lang="en-US" sz="1200" b="1" dirty="0">
                <a:solidFill>
                  <a:srgbClr val="2E5496"/>
                </a:solidFill>
                <a:effectLst/>
                <a:latin typeface="Aptos" panose="020B0004020202020204" pitchFamily="34" charset="0"/>
                <a:ea typeface="MS Gothic" panose="020B0609070205080204" pitchFamily="49" charset="-128"/>
                <a:cs typeface="Times New Roman" panose="02020603050405020304" pitchFamily="18" charset="0"/>
              </a:rPr>
              <a:t>5.4 Detailed Subnet Allocation – Table B (Actual Network Ranges)</a:t>
            </a:r>
            <a:endParaRPr lang="en-US" sz="12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endParaRPr>
          </a:p>
        </p:txBody>
      </p:sp>
    </p:spTree>
    <p:extLst>
      <p:ext uri="{BB962C8B-B14F-4D97-AF65-F5344CB8AC3E}">
        <p14:creationId xmlns:p14="http://schemas.microsoft.com/office/powerpoint/2010/main" val="440396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2E9A5-D911-815F-ADCF-E484BF2E2E6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FF636C-1FA1-B31A-45C8-4B4A33E996BC}"/>
              </a:ext>
            </a:extLst>
          </p:cNvPr>
          <p:cNvSpPr txBox="1"/>
          <p:nvPr/>
        </p:nvSpPr>
        <p:spPr>
          <a:xfrm>
            <a:off x="0" y="0"/>
            <a:ext cx="12192000" cy="3804118"/>
          </a:xfrm>
          <a:prstGeom prst="rect">
            <a:avLst/>
          </a:prstGeom>
          <a:noFill/>
        </p:spPr>
        <p:txBody>
          <a:bodyPr wrap="square">
            <a:spAutoFit/>
          </a:bodyPr>
          <a:lstStyle/>
          <a:p>
            <a:pPr marL="0" marR="0">
              <a:lnSpc>
                <a:spcPct val="115000"/>
              </a:lnSpc>
              <a:spcAft>
                <a:spcPts val="4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Network increment explanation:</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The /22 subnet mask is 255.255.252.0. The interesting octet is the third octet because 252 means a block size of 4 (256 - 252 = 4). So /22 networks in this range increase by 4 in the third octet: 172.16.0.0, 172.16.4.0, 172.16.8.0, and so on. Because Customer Service uses 172.16.0.0/22, the next free network starts at 172.16.4.0.</a:t>
            </a:r>
          </a:p>
          <a:p>
            <a:pPr marL="0" marR="0" algn="just">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The /24 subnet mask is 255.255.255.0, so the block size is 1 in the fourth octet. That is why Sales is assigned 172.16.4.0/24, and the next available network after that is 172.16.5.0.</a:t>
            </a:r>
          </a:p>
          <a:p>
            <a:pPr marL="0" marR="0" algn="just">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The /25 subnet mask is 255.255.255.128, so the block size is 128 (2</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nd</a:t>
            </a:r>
            <a:r>
              <a:rPr lang="en-US" sz="1400" dirty="0">
                <a:effectLst/>
                <a:latin typeface="Aptos" panose="020B0004020202020204" pitchFamily="34" charset="0"/>
                <a:ea typeface="Aptos" panose="020B0004020202020204" pitchFamily="34" charset="0"/>
                <a:cs typeface="Times New Roman" panose="02020603050405020304" pitchFamily="18" charset="0"/>
              </a:rPr>
              <a:t> bit from left) in the fourth octet. That creates 172.16.5.0/25 and 172.16.5.128/25. In this design, the first half is used for Quality Control, and the next free address begins at 172.16.5.128.</a:t>
            </a:r>
          </a:p>
          <a:p>
            <a:pPr marL="0" marR="0" algn="just">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The /26 subnet mask is 255.255.255.192, so the block size is 64 (3</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rd</a:t>
            </a:r>
            <a:r>
              <a:rPr lang="en-US" sz="1400" dirty="0">
                <a:effectLst/>
                <a:latin typeface="Aptos" panose="020B0004020202020204" pitchFamily="34" charset="0"/>
                <a:ea typeface="Aptos" panose="020B0004020202020204" pitchFamily="34" charset="0"/>
                <a:cs typeface="Times New Roman" panose="02020603050405020304" pitchFamily="18" charset="0"/>
              </a:rPr>
              <a:t> bit from left) in the fourth octet. This creates subnets starting at .0, .64, .128 and .192. Therefore, HR is assigned 172.16.5.128/26 and Marketing is assigned 172.16.5.192/26.</a:t>
            </a:r>
          </a:p>
          <a:p>
            <a:pPr marL="0" marR="0" algn="just">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The /27 subnet mask is 255.255.255.224, so the block size is 32 (4</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th</a:t>
            </a:r>
            <a:r>
              <a:rPr lang="en-US" sz="1400" dirty="0">
                <a:effectLst/>
                <a:latin typeface="Aptos" panose="020B0004020202020204" pitchFamily="34" charset="0"/>
                <a:ea typeface="Aptos" panose="020B0004020202020204" pitchFamily="34" charset="0"/>
                <a:cs typeface="Times New Roman" panose="02020603050405020304" pitchFamily="18" charset="0"/>
              </a:rPr>
              <a:t> bit from left) in the fourth octet. That is why Technical is 172.16.6.0/27 and Financial is 172.16.6.32/27.</a:t>
            </a:r>
          </a:p>
          <a:p>
            <a:pPr>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The /28 subnet mask is 255.255.255.240, so the block size is 16 (5</a:t>
            </a:r>
            <a:r>
              <a:rPr lang="en-US" sz="1400" baseline="30000" dirty="0">
                <a:effectLst/>
                <a:latin typeface="Aptos" panose="020B0004020202020204" pitchFamily="34" charset="0"/>
                <a:ea typeface="Aptos" panose="020B0004020202020204" pitchFamily="34" charset="0"/>
                <a:cs typeface="Times New Roman" panose="02020603050405020304" pitchFamily="18" charset="0"/>
              </a:rPr>
              <a:t>th</a:t>
            </a:r>
            <a:r>
              <a:rPr lang="en-US" sz="1400" dirty="0">
                <a:effectLst/>
                <a:latin typeface="Aptos" panose="020B0004020202020204" pitchFamily="34" charset="0"/>
                <a:ea typeface="Aptos" panose="020B0004020202020204" pitchFamily="34" charset="0"/>
                <a:cs typeface="Times New Roman" panose="02020603050405020304" pitchFamily="18" charset="0"/>
              </a:rPr>
              <a:t> bit from left) in the fourth octet. That is why Strategy is 172.16.6.64/28 and Legal is 172.16.6.80/28.</a:t>
            </a:r>
            <a:endParaRPr lang="en-US" sz="1400" dirty="0"/>
          </a:p>
        </p:txBody>
      </p:sp>
      <p:graphicFrame>
        <p:nvGraphicFramePr>
          <p:cNvPr id="4" name="Table 3">
            <a:extLst>
              <a:ext uri="{FF2B5EF4-FFF2-40B4-BE49-F238E27FC236}">
                <a16:creationId xmlns:a16="http://schemas.microsoft.com/office/drawing/2014/main" id="{782A314C-4B11-DFC3-6D6B-CE9071917A95}"/>
              </a:ext>
            </a:extLst>
          </p:cNvPr>
          <p:cNvGraphicFramePr>
            <a:graphicFrameLocks noGrp="1"/>
          </p:cNvGraphicFramePr>
          <p:nvPr>
            <p:extLst>
              <p:ext uri="{D42A27DB-BD31-4B8C-83A1-F6EECF244321}">
                <p14:modId xmlns:p14="http://schemas.microsoft.com/office/powerpoint/2010/main" val="243470241"/>
              </p:ext>
            </p:extLst>
          </p:nvPr>
        </p:nvGraphicFramePr>
        <p:xfrm>
          <a:off x="383878" y="3783488"/>
          <a:ext cx="5898515" cy="2860040"/>
        </p:xfrm>
        <a:graphic>
          <a:graphicData uri="http://schemas.openxmlformats.org/drawingml/2006/table">
            <a:tbl>
              <a:tblPr firstRow="1" firstCol="1" bandRow="1">
                <a:tableStyleId>{5C22544A-7EE6-4342-B048-85BDC9FD1C3A}</a:tableStyleId>
              </a:tblPr>
              <a:tblGrid>
                <a:gridCol w="1196975">
                  <a:extLst>
                    <a:ext uri="{9D8B030D-6E8A-4147-A177-3AD203B41FA5}">
                      <a16:colId xmlns:a16="http://schemas.microsoft.com/office/drawing/2014/main" val="1158362168"/>
                    </a:ext>
                  </a:extLst>
                </a:gridCol>
                <a:gridCol w="1657350">
                  <a:extLst>
                    <a:ext uri="{9D8B030D-6E8A-4147-A177-3AD203B41FA5}">
                      <a16:colId xmlns:a16="http://schemas.microsoft.com/office/drawing/2014/main" val="2583331272"/>
                    </a:ext>
                  </a:extLst>
                </a:gridCol>
                <a:gridCol w="1143000">
                  <a:extLst>
                    <a:ext uri="{9D8B030D-6E8A-4147-A177-3AD203B41FA5}">
                      <a16:colId xmlns:a16="http://schemas.microsoft.com/office/drawing/2014/main" val="2378536660"/>
                    </a:ext>
                  </a:extLst>
                </a:gridCol>
                <a:gridCol w="1901190">
                  <a:extLst>
                    <a:ext uri="{9D8B030D-6E8A-4147-A177-3AD203B41FA5}">
                      <a16:colId xmlns:a16="http://schemas.microsoft.com/office/drawing/2014/main" val="1562752632"/>
                    </a:ext>
                  </a:extLst>
                </a:gridCol>
              </a:tblGrid>
              <a:tr h="232415">
                <a:tc>
                  <a:txBody>
                    <a:bodyPr/>
                    <a:lstStyle/>
                    <a:p>
                      <a:pPr marL="0" marR="0" algn="ctr">
                        <a:buNone/>
                      </a:pPr>
                      <a:r>
                        <a:rPr lang="en-US" sz="1100">
                          <a:effectLst/>
                        </a:rPr>
                        <a:t>Department</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Usable Hosts Available</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Hosts Used</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Unused / Spare Addresses</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1070822344"/>
                  </a:ext>
                </a:extLst>
              </a:tr>
              <a:tr h="377126">
                <a:tc>
                  <a:txBody>
                    <a:bodyPr/>
                    <a:lstStyle/>
                    <a:p>
                      <a:pPr marL="0" marR="0" algn="ctr">
                        <a:buNone/>
                      </a:pPr>
                      <a:r>
                        <a:rPr lang="en-US" sz="1100">
                          <a:effectLst/>
                        </a:rPr>
                        <a:t>Customer Service</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1022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960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62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1142001426"/>
                  </a:ext>
                </a:extLst>
              </a:tr>
              <a:tr h="232415">
                <a:tc>
                  <a:txBody>
                    <a:bodyPr/>
                    <a:lstStyle/>
                    <a:p>
                      <a:pPr marL="0" marR="0" algn="ctr">
                        <a:buNone/>
                      </a:pPr>
                      <a:r>
                        <a:rPr lang="en-US" sz="1100">
                          <a:effectLst/>
                        </a:rPr>
                        <a:t>Sales</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254</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220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34</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2107187119"/>
                  </a:ext>
                </a:extLst>
              </a:tr>
              <a:tr h="232415">
                <a:tc>
                  <a:txBody>
                    <a:bodyPr/>
                    <a:lstStyle/>
                    <a:p>
                      <a:pPr marL="0" marR="0" algn="ctr">
                        <a:buNone/>
                      </a:pPr>
                      <a:r>
                        <a:rPr lang="en-US" sz="1100">
                          <a:effectLst/>
                        </a:rPr>
                        <a:t>Quality Control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126</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110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16</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3030955530"/>
                  </a:ext>
                </a:extLst>
              </a:tr>
              <a:tr h="232415">
                <a:tc>
                  <a:txBody>
                    <a:bodyPr/>
                    <a:lstStyle/>
                    <a:p>
                      <a:pPr marL="0" marR="0" algn="ctr">
                        <a:buNone/>
                      </a:pPr>
                      <a:r>
                        <a:rPr lang="en-US" sz="1100">
                          <a:effectLst/>
                        </a:rPr>
                        <a:t>HR</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62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50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12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3513389402"/>
                  </a:ext>
                </a:extLst>
              </a:tr>
              <a:tr h="232415">
                <a:tc>
                  <a:txBody>
                    <a:bodyPr/>
                    <a:lstStyle/>
                    <a:p>
                      <a:pPr marL="0" marR="0" algn="ctr">
                        <a:buNone/>
                      </a:pPr>
                      <a:r>
                        <a:rPr lang="en-US" sz="1100">
                          <a:effectLst/>
                        </a:rPr>
                        <a:t>Marketing</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62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40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22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4030597169"/>
                  </a:ext>
                </a:extLst>
              </a:tr>
              <a:tr h="232415">
                <a:tc>
                  <a:txBody>
                    <a:bodyPr/>
                    <a:lstStyle/>
                    <a:p>
                      <a:pPr marL="0" marR="0" algn="ctr">
                        <a:buNone/>
                      </a:pPr>
                      <a:r>
                        <a:rPr lang="en-US" sz="1100">
                          <a:effectLst/>
                        </a:rPr>
                        <a:t>Technical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30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30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537961915"/>
                  </a:ext>
                </a:extLst>
              </a:tr>
              <a:tr h="232415">
                <a:tc>
                  <a:txBody>
                    <a:bodyPr/>
                    <a:lstStyle/>
                    <a:p>
                      <a:pPr marL="0" marR="0" algn="ctr">
                        <a:buNone/>
                      </a:pPr>
                      <a:r>
                        <a:rPr lang="en-US" sz="1100">
                          <a:effectLst/>
                        </a:rPr>
                        <a:t>Financial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30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20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10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638229991"/>
                  </a:ext>
                </a:extLst>
              </a:tr>
              <a:tr h="232415">
                <a:tc>
                  <a:txBody>
                    <a:bodyPr/>
                    <a:lstStyle/>
                    <a:p>
                      <a:pPr marL="0" marR="0" algn="ctr">
                        <a:buNone/>
                      </a:pPr>
                      <a:r>
                        <a:rPr lang="en-US" sz="1100">
                          <a:effectLst/>
                        </a:rPr>
                        <a:t>Strategy</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14</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10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4</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576915545"/>
                  </a:ext>
                </a:extLst>
              </a:tr>
              <a:tr h="232415">
                <a:tc>
                  <a:txBody>
                    <a:bodyPr/>
                    <a:lstStyle/>
                    <a:p>
                      <a:pPr marL="0" marR="0" algn="ctr">
                        <a:buNone/>
                      </a:pPr>
                      <a:r>
                        <a:rPr lang="en-US" sz="1100">
                          <a:effectLst/>
                        </a:rPr>
                        <a:t>Legal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14</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a:effectLst/>
                        </a:rPr>
                        <a:t>8</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tc>
                  <a:txBody>
                    <a:bodyPr/>
                    <a:lstStyle/>
                    <a:p>
                      <a:pPr marL="0" marR="0" algn="ctr">
                        <a:buNone/>
                      </a:pPr>
                      <a:r>
                        <a:rPr lang="en-US" sz="1100" dirty="0">
                          <a:effectLst/>
                        </a:rPr>
                        <a:t>6</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0800" marR="50800" marT="50800" marB="50800" anchor="ctr"/>
                </a:tc>
                <a:extLst>
                  <a:ext uri="{0D108BD9-81ED-4DB2-BD59-A6C34878D82A}">
                    <a16:rowId xmlns:a16="http://schemas.microsoft.com/office/drawing/2014/main" val="1494885334"/>
                  </a:ext>
                </a:extLst>
              </a:tr>
            </a:tbl>
          </a:graphicData>
        </a:graphic>
      </p:graphicFrame>
      <p:sp>
        <p:nvSpPr>
          <p:cNvPr id="6" name="TextBox 5">
            <a:extLst>
              <a:ext uri="{FF2B5EF4-FFF2-40B4-BE49-F238E27FC236}">
                <a16:creationId xmlns:a16="http://schemas.microsoft.com/office/drawing/2014/main" id="{84CC4362-5A39-A443-8813-CBF127069BAC}"/>
              </a:ext>
            </a:extLst>
          </p:cNvPr>
          <p:cNvSpPr txBox="1"/>
          <p:nvPr/>
        </p:nvSpPr>
        <p:spPr>
          <a:xfrm>
            <a:off x="6508955" y="5016274"/>
            <a:ext cx="6115664" cy="394467"/>
          </a:xfrm>
          <a:prstGeom prst="rect">
            <a:avLst/>
          </a:prstGeom>
          <a:noFill/>
        </p:spPr>
        <p:txBody>
          <a:bodyPr wrap="square">
            <a:spAutoFit/>
          </a:bodyPr>
          <a:lstStyle/>
          <a:p>
            <a:pPr marL="0" marR="0">
              <a:lnSpc>
                <a:spcPct val="115000"/>
              </a:lnSpc>
              <a:spcBef>
                <a:spcPts val="800"/>
              </a:spcBef>
              <a:spcAft>
                <a:spcPts val="400"/>
              </a:spcAft>
              <a:buNone/>
            </a:pPr>
            <a:r>
              <a:rPr lang="en-US" sz="1800" b="1" dirty="0">
                <a:solidFill>
                  <a:srgbClr val="2E5496"/>
                </a:solidFill>
                <a:effectLst/>
                <a:latin typeface="Aptos" panose="020B0004020202020204" pitchFamily="34" charset="0"/>
                <a:ea typeface="MS Gothic" panose="020B0609070205080204" pitchFamily="49" charset="-128"/>
                <a:cs typeface="Times New Roman" panose="02020603050405020304" pitchFamily="18" charset="0"/>
              </a:rPr>
              <a:t>5.6 Address Utilization and Wastage Analysis</a:t>
            </a:r>
            <a:endPar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endParaRPr>
          </a:p>
        </p:txBody>
      </p:sp>
    </p:spTree>
    <p:extLst>
      <p:ext uri="{BB962C8B-B14F-4D97-AF65-F5344CB8AC3E}">
        <p14:creationId xmlns:p14="http://schemas.microsoft.com/office/powerpoint/2010/main" val="843486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90E9B-7F14-2B2C-CAE5-CEA82FD795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E4A1D0-23CF-5E08-6E98-840C07580B28}"/>
              </a:ext>
            </a:extLst>
          </p:cNvPr>
          <p:cNvSpPr txBox="1"/>
          <p:nvPr/>
        </p:nvSpPr>
        <p:spPr>
          <a:xfrm>
            <a:off x="0" y="0"/>
            <a:ext cx="6096000" cy="394467"/>
          </a:xfrm>
          <a:prstGeom prst="rect">
            <a:avLst/>
          </a:prstGeom>
          <a:noFill/>
        </p:spPr>
        <p:txBody>
          <a:bodyPr wrap="square">
            <a:spAutoFit/>
          </a:bodyPr>
          <a:lstStyle/>
          <a:p>
            <a:pPr marL="0" marR="0">
              <a:lnSpc>
                <a:spcPct val="115000"/>
              </a:lnSpc>
              <a:spcBef>
                <a:spcPts val="800"/>
              </a:spcBef>
              <a:spcAft>
                <a:spcPts val="400"/>
              </a:spcAft>
              <a:buNone/>
            </a:pPr>
            <a:r>
              <a:rPr lang="en-US" sz="1800" b="1" kern="0" dirty="0">
                <a:solidFill>
                  <a:srgbClr val="1F4E79"/>
                </a:solidFill>
                <a:effectLst/>
                <a:latin typeface="Aptos" panose="020B0004020202020204" pitchFamily="34" charset="0"/>
                <a:ea typeface="MS Gothic" panose="020B0609070205080204" pitchFamily="49" charset="-128"/>
                <a:cs typeface="Times New Roman" panose="02020603050405020304" pitchFamily="18" charset="0"/>
              </a:rPr>
              <a:t>6. VLAN, Topology and Inter-VLAN Routing Notes</a:t>
            </a:r>
            <a:endParaRPr lang="en-US" sz="2000" b="1" kern="0" dirty="0">
              <a:solidFill>
                <a:srgbClr val="1F4E79"/>
              </a:solidFill>
              <a:effectLst/>
              <a:latin typeface="Calibri" panose="020F0502020204030204" pitchFamily="34" charset="0"/>
              <a:ea typeface="MS Gothic" panose="020B0609070205080204" pitchFamily="49" charset="-128"/>
              <a:cs typeface="Times New Roman" panose="02020603050405020304" pitchFamily="18" charset="0"/>
            </a:endParaRPr>
          </a:p>
        </p:txBody>
      </p:sp>
      <p:graphicFrame>
        <p:nvGraphicFramePr>
          <p:cNvPr id="4" name="Table 3">
            <a:extLst>
              <a:ext uri="{FF2B5EF4-FFF2-40B4-BE49-F238E27FC236}">
                <a16:creationId xmlns:a16="http://schemas.microsoft.com/office/drawing/2014/main" id="{FC62167C-19C6-1772-919C-6D1D0B06ED2A}"/>
              </a:ext>
            </a:extLst>
          </p:cNvPr>
          <p:cNvGraphicFramePr>
            <a:graphicFrameLocks noGrp="1"/>
          </p:cNvGraphicFramePr>
          <p:nvPr>
            <p:extLst>
              <p:ext uri="{D42A27DB-BD31-4B8C-83A1-F6EECF244321}">
                <p14:modId xmlns:p14="http://schemas.microsoft.com/office/powerpoint/2010/main" val="4103179662"/>
              </p:ext>
            </p:extLst>
          </p:nvPr>
        </p:nvGraphicFramePr>
        <p:xfrm>
          <a:off x="563341" y="547204"/>
          <a:ext cx="4754880" cy="3645916"/>
        </p:xfrm>
        <a:graphic>
          <a:graphicData uri="http://schemas.openxmlformats.org/drawingml/2006/table">
            <a:tbl>
              <a:tblPr firstRow="1" firstCol="1" bandRow="1">
                <a:tableStyleId>{5C22544A-7EE6-4342-B048-85BDC9FD1C3A}</a:tableStyleId>
              </a:tblPr>
              <a:tblGrid>
                <a:gridCol w="1218327">
                  <a:extLst>
                    <a:ext uri="{9D8B030D-6E8A-4147-A177-3AD203B41FA5}">
                      <a16:colId xmlns:a16="http://schemas.microsoft.com/office/drawing/2014/main" val="2075438204"/>
                    </a:ext>
                  </a:extLst>
                </a:gridCol>
                <a:gridCol w="1080585">
                  <a:extLst>
                    <a:ext uri="{9D8B030D-6E8A-4147-A177-3AD203B41FA5}">
                      <a16:colId xmlns:a16="http://schemas.microsoft.com/office/drawing/2014/main" val="2389062162"/>
                    </a:ext>
                  </a:extLst>
                </a:gridCol>
                <a:gridCol w="2455968">
                  <a:extLst>
                    <a:ext uri="{9D8B030D-6E8A-4147-A177-3AD203B41FA5}">
                      <a16:colId xmlns:a16="http://schemas.microsoft.com/office/drawing/2014/main" val="1542313870"/>
                    </a:ext>
                  </a:extLst>
                </a:gridCol>
              </a:tblGrid>
              <a:tr h="0">
                <a:tc>
                  <a:txBody>
                    <a:bodyPr/>
                    <a:lstStyle/>
                    <a:p>
                      <a:pPr marL="0" marR="0" algn="ctr">
                        <a:lnSpc>
                          <a:spcPct val="115000"/>
                        </a:lnSpc>
                        <a:spcAft>
                          <a:spcPts val="1000"/>
                        </a:spcAft>
                        <a:buNone/>
                      </a:pPr>
                      <a:r>
                        <a:rPr lang="en-US" sz="1200">
                          <a:effectLst/>
                        </a:rPr>
                        <a:t>Department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Suggested VLAN</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Reason</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57388803"/>
                  </a:ext>
                </a:extLst>
              </a:tr>
              <a:tr h="0">
                <a:tc>
                  <a:txBody>
                    <a:bodyPr/>
                    <a:lstStyle/>
                    <a:p>
                      <a:pPr marL="0" marR="0" algn="ctr">
                        <a:lnSpc>
                          <a:spcPct val="115000"/>
                        </a:lnSpc>
                        <a:spcAft>
                          <a:spcPts val="1000"/>
                        </a:spcAft>
                        <a:buNone/>
                      </a:pPr>
                      <a:r>
                        <a:rPr lang="en-US" sz="1200">
                          <a:effectLst/>
                        </a:rPr>
                        <a:t>Marketing</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VLAN 10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dirty="0">
                          <a:effectLst/>
                        </a:rPr>
                        <a:t>Separate marketing traffic and printers</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4012266511"/>
                  </a:ext>
                </a:extLst>
              </a:tr>
              <a:tr h="0">
                <a:tc>
                  <a:txBody>
                    <a:bodyPr/>
                    <a:lstStyle/>
                    <a:p>
                      <a:pPr marL="0" marR="0" algn="ctr">
                        <a:lnSpc>
                          <a:spcPct val="115000"/>
                        </a:lnSpc>
                        <a:spcAft>
                          <a:spcPts val="1000"/>
                        </a:spcAft>
                        <a:buNone/>
                      </a:pPr>
                      <a:r>
                        <a:rPr lang="en-US" sz="1200">
                          <a:effectLst/>
                        </a:rPr>
                        <a:t>Sales</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VLAN 20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Large user group with future growth</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039505333"/>
                  </a:ext>
                </a:extLst>
              </a:tr>
              <a:tr h="0">
                <a:tc>
                  <a:txBody>
                    <a:bodyPr/>
                    <a:lstStyle/>
                    <a:p>
                      <a:pPr marL="0" marR="0" algn="ctr">
                        <a:lnSpc>
                          <a:spcPct val="115000"/>
                        </a:lnSpc>
                        <a:spcAft>
                          <a:spcPts val="1000"/>
                        </a:spcAft>
                        <a:buNone/>
                      </a:pPr>
                      <a:r>
                        <a:rPr lang="en-US" sz="1200">
                          <a:effectLst/>
                        </a:rPr>
                        <a:t>HR</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VLAN 30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Sensitive employee records</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309412330"/>
                  </a:ext>
                </a:extLst>
              </a:tr>
              <a:tr h="0">
                <a:tc>
                  <a:txBody>
                    <a:bodyPr/>
                    <a:lstStyle/>
                    <a:p>
                      <a:pPr marL="0" marR="0" algn="ctr">
                        <a:lnSpc>
                          <a:spcPct val="115000"/>
                        </a:lnSpc>
                        <a:spcAft>
                          <a:spcPts val="1000"/>
                        </a:spcAft>
                        <a:buNone/>
                      </a:pPr>
                      <a:r>
                        <a:rPr lang="en-US" sz="1200">
                          <a:effectLst/>
                        </a:rPr>
                        <a:t>Technical</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VLAN 40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IT/admin systems</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957054399"/>
                  </a:ext>
                </a:extLst>
              </a:tr>
              <a:tr h="0">
                <a:tc>
                  <a:txBody>
                    <a:bodyPr/>
                    <a:lstStyle/>
                    <a:p>
                      <a:pPr marL="0" marR="0" algn="ctr">
                        <a:lnSpc>
                          <a:spcPct val="115000"/>
                        </a:lnSpc>
                        <a:spcAft>
                          <a:spcPts val="1000"/>
                        </a:spcAft>
                        <a:buNone/>
                      </a:pPr>
                      <a:r>
                        <a:rPr lang="en-US" sz="1200">
                          <a:effectLst/>
                        </a:rPr>
                        <a:t>Customer Service</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VLAN 50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Largest department subnet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2787272036"/>
                  </a:ext>
                </a:extLst>
              </a:tr>
              <a:tr h="0">
                <a:tc>
                  <a:txBody>
                    <a:bodyPr/>
                    <a:lstStyle/>
                    <a:p>
                      <a:pPr marL="0" marR="0" algn="ctr">
                        <a:lnSpc>
                          <a:spcPct val="115000"/>
                        </a:lnSpc>
                        <a:spcAft>
                          <a:spcPts val="1000"/>
                        </a:spcAft>
                        <a:buNone/>
                      </a:pPr>
                      <a:r>
                        <a:rPr lang="en-US" sz="1200">
                          <a:effectLst/>
                        </a:rPr>
                        <a:t>Financial</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VLAN 60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High security for finance systems</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493412897"/>
                  </a:ext>
                </a:extLst>
              </a:tr>
              <a:tr h="0">
                <a:tc>
                  <a:txBody>
                    <a:bodyPr/>
                    <a:lstStyle/>
                    <a:p>
                      <a:pPr marL="0" marR="0" algn="ctr">
                        <a:lnSpc>
                          <a:spcPct val="115000"/>
                        </a:lnSpc>
                        <a:spcAft>
                          <a:spcPts val="1000"/>
                        </a:spcAft>
                        <a:buNone/>
                      </a:pPr>
                      <a:r>
                        <a:rPr lang="en-US" sz="1200">
                          <a:effectLst/>
                        </a:rPr>
                        <a:t>Strategy</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VLAN 70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Management/strategy systems</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339108352"/>
                  </a:ext>
                </a:extLst>
              </a:tr>
              <a:tr h="0">
                <a:tc>
                  <a:txBody>
                    <a:bodyPr/>
                    <a:lstStyle/>
                    <a:p>
                      <a:pPr marL="0" marR="0" algn="ctr">
                        <a:lnSpc>
                          <a:spcPct val="115000"/>
                        </a:lnSpc>
                        <a:spcAft>
                          <a:spcPts val="1000"/>
                        </a:spcAft>
                        <a:buNone/>
                      </a:pPr>
                      <a:r>
                        <a:rPr lang="en-US" sz="1200">
                          <a:effectLst/>
                        </a:rPr>
                        <a:t>Legal</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VLAN 80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Confidential legal documents</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066920245"/>
                  </a:ext>
                </a:extLst>
              </a:tr>
              <a:tr h="0">
                <a:tc>
                  <a:txBody>
                    <a:bodyPr/>
                    <a:lstStyle/>
                    <a:p>
                      <a:pPr marL="0" marR="0" algn="ctr">
                        <a:lnSpc>
                          <a:spcPct val="115000"/>
                        </a:lnSpc>
                        <a:spcAft>
                          <a:spcPts val="1000"/>
                        </a:spcAft>
                        <a:buNone/>
                      </a:pPr>
                      <a:r>
                        <a:rPr lang="en-US" sz="1200">
                          <a:effectLst/>
                        </a:rPr>
                        <a:t>Quality Control</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VLAN 90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dirty="0">
                          <a:effectLst/>
                        </a:rPr>
                        <a:t>Operational and QC devices</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422421502"/>
                  </a:ext>
                </a:extLst>
              </a:tr>
            </a:tbl>
          </a:graphicData>
        </a:graphic>
      </p:graphicFrame>
      <p:sp>
        <p:nvSpPr>
          <p:cNvPr id="6" name="TextBox 5">
            <a:extLst>
              <a:ext uri="{FF2B5EF4-FFF2-40B4-BE49-F238E27FC236}">
                <a16:creationId xmlns:a16="http://schemas.microsoft.com/office/drawing/2014/main" id="{5904602E-9828-F1B8-D5DC-790E825F3BCE}"/>
              </a:ext>
            </a:extLst>
          </p:cNvPr>
          <p:cNvSpPr txBox="1"/>
          <p:nvPr/>
        </p:nvSpPr>
        <p:spPr>
          <a:xfrm>
            <a:off x="71873" y="4345858"/>
            <a:ext cx="5738992" cy="2306465"/>
          </a:xfrm>
          <a:prstGeom prst="rect">
            <a:avLst/>
          </a:prstGeom>
          <a:noFill/>
        </p:spPr>
        <p:txBody>
          <a:bodyPr wrap="square">
            <a:spAutoFit/>
          </a:bodyPr>
          <a:lstStyle/>
          <a:p>
            <a:pPr marL="0" marR="0" algn="just">
              <a:lnSpc>
                <a:spcPct val="115000"/>
              </a:lnSpc>
              <a:spcAft>
                <a:spcPts val="4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The physical topology recommended for this design is hierarchical extended star topology. Each department connects to an access switch, the access switches connect to distribution/core switches, and the core connects to the router and WAN edge. This topology supports durability because if one access switch fails, the rest of the network continues operating.</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31653B97-FEFE-704B-F34E-34DE8BFE5E11}"/>
              </a:ext>
            </a:extLst>
          </p:cNvPr>
          <p:cNvSpPr txBox="1"/>
          <p:nvPr/>
        </p:nvSpPr>
        <p:spPr>
          <a:xfrm>
            <a:off x="5881561" y="287531"/>
            <a:ext cx="6120580" cy="6282938"/>
          </a:xfrm>
          <a:prstGeom prst="rect">
            <a:avLst/>
          </a:prstGeom>
          <a:noFill/>
        </p:spPr>
        <p:txBody>
          <a:bodyPr wrap="square">
            <a:spAutoFit/>
          </a:bodyPr>
          <a:lstStyle/>
          <a:p>
            <a:pPr marL="0" marR="0" algn="just">
              <a:lnSpc>
                <a:spcPct val="115000"/>
              </a:lnSpc>
              <a:spcAft>
                <a:spcPts val="4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Inter-VLAN routing should be enabled on a Layer 3 switch or on the router, depending on the final implementation. In a switched campus design, the most common approach is to create one SVI (Switch Virtual Interface) per VLAN and use that SVI address as the default gateway for hosts in that department.</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4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400"/>
              </a:spcAft>
              <a:buNone/>
            </a:pPr>
            <a:r>
              <a:rPr lang="en-US" sz="1800" b="1" dirty="0">
                <a:effectLst/>
                <a:latin typeface="Aptos" panose="020B0004020202020204" pitchFamily="34" charset="0"/>
                <a:ea typeface="Aptos" panose="020B0004020202020204" pitchFamily="34" charset="0"/>
                <a:cs typeface="Times New Roman" panose="02020603050405020304" pitchFamily="18" charset="0"/>
              </a:rPr>
              <a:t>Example gateway idea:</a:t>
            </a:r>
            <a:r>
              <a:rPr lang="en-US" sz="1800" dirty="0">
                <a:effectLst/>
                <a:latin typeface="Aptos" panose="020B0004020202020204" pitchFamily="34" charset="0"/>
                <a:ea typeface="Aptos" panose="020B0004020202020204" pitchFamily="34" charset="0"/>
                <a:cs typeface="Times New Roman" panose="02020603050405020304" pitchFamily="18" charset="0"/>
              </a:rPr>
              <a:t> VLAN 10 (Marketing) can use 172.16.5.193 as the subnet gateway, VLAN 20 (Sales) can use 172.16.4.1, and VLAN 50 (Customer Service) can use 172.16.0.1. Access control lists can then be applied to limit which VLANs can communicate with highly sensitive departments such as Finance, HR and Legal.</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4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The logical topology is VLAN-based segmentation. Each department should be placed in its own VLAN so traffic can be isolated and controlled using ACLs and inter-VLAN routing policies. This is especially important for Finance, HR and Legal because those departments may handle confidential information.</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252496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82CDA-C21B-D5D2-FF2F-32C01225728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5329E8C-63B2-3835-01DD-A1A52BFA941F}"/>
              </a:ext>
            </a:extLst>
          </p:cNvPr>
          <p:cNvPicPr>
            <a:picLocks noChangeAspect="1"/>
          </p:cNvPicPr>
          <p:nvPr/>
        </p:nvPicPr>
        <p:blipFill>
          <a:blip r:embed="rId2"/>
          <a:stretch>
            <a:fillRect/>
          </a:stretch>
        </p:blipFill>
        <p:spPr>
          <a:xfrm>
            <a:off x="54220" y="392159"/>
            <a:ext cx="5998210" cy="3274060"/>
          </a:xfrm>
          <a:prstGeom prst="rect">
            <a:avLst/>
          </a:prstGeom>
        </p:spPr>
      </p:pic>
      <p:sp>
        <p:nvSpPr>
          <p:cNvPr id="4" name="TextBox 3">
            <a:extLst>
              <a:ext uri="{FF2B5EF4-FFF2-40B4-BE49-F238E27FC236}">
                <a16:creationId xmlns:a16="http://schemas.microsoft.com/office/drawing/2014/main" id="{8B004029-F683-6CDF-6DD2-FDCF7D5B3E07}"/>
              </a:ext>
            </a:extLst>
          </p:cNvPr>
          <p:cNvSpPr txBox="1"/>
          <p:nvPr/>
        </p:nvSpPr>
        <p:spPr>
          <a:xfrm>
            <a:off x="4934957" y="0"/>
            <a:ext cx="1397018"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6.1 Topology</a:t>
            </a:r>
          </a:p>
        </p:txBody>
      </p:sp>
      <p:pic>
        <p:nvPicPr>
          <p:cNvPr id="5" name="Picture 4">
            <a:extLst>
              <a:ext uri="{FF2B5EF4-FFF2-40B4-BE49-F238E27FC236}">
                <a16:creationId xmlns:a16="http://schemas.microsoft.com/office/drawing/2014/main" id="{E4086D67-03B2-220C-D49A-879C543AE341}"/>
              </a:ext>
            </a:extLst>
          </p:cNvPr>
          <p:cNvPicPr>
            <a:picLocks noChangeAspect="1"/>
          </p:cNvPicPr>
          <p:nvPr/>
        </p:nvPicPr>
        <p:blipFill>
          <a:blip r:embed="rId3"/>
          <a:stretch>
            <a:fillRect/>
          </a:stretch>
        </p:blipFill>
        <p:spPr>
          <a:xfrm>
            <a:off x="6331975" y="396239"/>
            <a:ext cx="5805805" cy="3269979"/>
          </a:xfrm>
          <a:prstGeom prst="rect">
            <a:avLst/>
          </a:prstGeom>
        </p:spPr>
      </p:pic>
      <p:sp>
        <p:nvSpPr>
          <p:cNvPr id="7" name="TextBox 6">
            <a:extLst>
              <a:ext uri="{FF2B5EF4-FFF2-40B4-BE49-F238E27FC236}">
                <a16:creationId xmlns:a16="http://schemas.microsoft.com/office/drawing/2014/main" id="{0D4441D7-084D-E46E-4E6E-C38AFFBD56B3}"/>
              </a:ext>
            </a:extLst>
          </p:cNvPr>
          <p:cNvSpPr txBox="1"/>
          <p:nvPr/>
        </p:nvSpPr>
        <p:spPr>
          <a:xfrm>
            <a:off x="192138" y="3666218"/>
            <a:ext cx="4742819" cy="3019416"/>
          </a:xfrm>
          <a:prstGeom prst="rect">
            <a:avLst/>
          </a:prstGeom>
          <a:noFill/>
        </p:spPr>
        <p:txBody>
          <a:bodyPr wrap="square">
            <a:spAutoFit/>
          </a:bodyPr>
          <a:lstStyle/>
          <a:p>
            <a:pPr marL="0" marR="0">
              <a:lnSpc>
                <a:spcPct val="115000"/>
              </a:lnSpc>
              <a:spcAft>
                <a:spcPts val="400"/>
              </a:spcAft>
              <a:buNone/>
            </a:pPr>
            <a:r>
              <a:rPr lang="en-CA" sz="1400" dirty="0">
                <a:effectLst/>
                <a:latin typeface="Aptos" panose="020B0004020202020204" pitchFamily="34" charset="0"/>
                <a:ea typeface="Aptos" panose="020B0004020202020204" pitchFamily="34" charset="0"/>
                <a:cs typeface="Times New Roman" panose="02020603050405020304" pitchFamily="18" charset="0"/>
              </a:rPr>
              <a:t>For labels, use:</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400"/>
              </a:spcAft>
              <a:buSzPts val="1000"/>
              <a:buFont typeface="Symbol" panose="05050102010706020507" pitchFamily="18" charset="2"/>
              <a:buChar char=""/>
              <a:tabLst>
                <a:tab pos="457200" algn="l"/>
              </a:tabLst>
            </a:pPr>
            <a:r>
              <a:rPr lang="en-CA" sz="1400" dirty="0">
                <a:effectLst/>
                <a:latin typeface="Aptos" panose="020B0004020202020204" pitchFamily="34" charset="0"/>
                <a:ea typeface="Aptos" panose="020B0004020202020204" pitchFamily="34" charset="0"/>
                <a:cs typeface="Times New Roman" panose="02020603050405020304" pitchFamily="18" charset="0"/>
              </a:rPr>
              <a:t>Marketing — VLAN 10 — 172.16.5.192/26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400"/>
              </a:spcAft>
              <a:buSzPts val="1000"/>
              <a:buFont typeface="Symbol" panose="05050102010706020507" pitchFamily="18" charset="2"/>
              <a:buChar char=""/>
              <a:tabLst>
                <a:tab pos="457200" algn="l"/>
              </a:tabLst>
            </a:pPr>
            <a:r>
              <a:rPr lang="en-CA" sz="1400" dirty="0">
                <a:effectLst/>
                <a:latin typeface="Aptos" panose="020B0004020202020204" pitchFamily="34" charset="0"/>
                <a:ea typeface="Aptos" panose="020B0004020202020204" pitchFamily="34" charset="0"/>
                <a:cs typeface="Times New Roman" panose="02020603050405020304" pitchFamily="18" charset="0"/>
              </a:rPr>
              <a:t>Sales — VLAN 20 — 172.16.4.0/24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400"/>
              </a:spcAft>
              <a:buSzPts val="1000"/>
              <a:buFont typeface="Symbol" panose="05050102010706020507" pitchFamily="18" charset="2"/>
              <a:buChar char=""/>
              <a:tabLst>
                <a:tab pos="457200" algn="l"/>
              </a:tabLst>
            </a:pPr>
            <a:r>
              <a:rPr lang="en-CA" sz="1400" dirty="0">
                <a:effectLst/>
                <a:latin typeface="Aptos" panose="020B0004020202020204" pitchFamily="34" charset="0"/>
                <a:ea typeface="Aptos" panose="020B0004020202020204" pitchFamily="34" charset="0"/>
                <a:cs typeface="Times New Roman" panose="02020603050405020304" pitchFamily="18" charset="0"/>
              </a:rPr>
              <a:t>HR — VLAN 30 — 172.16.5.128/26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400"/>
              </a:spcAft>
              <a:buSzPts val="1000"/>
              <a:buFont typeface="Symbol" panose="05050102010706020507" pitchFamily="18" charset="2"/>
              <a:buChar char=""/>
              <a:tabLst>
                <a:tab pos="457200" algn="l"/>
              </a:tabLst>
            </a:pPr>
            <a:r>
              <a:rPr lang="en-CA" sz="1400" dirty="0">
                <a:effectLst/>
                <a:latin typeface="Aptos" panose="020B0004020202020204" pitchFamily="34" charset="0"/>
                <a:ea typeface="Aptos" panose="020B0004020202020204" pitchFamily="34" charset="0"/>
                <a:cs typeface="Times New Roman" panose="02020603050405020304" pitchFamily="18" charset="0"/>
              </a:rPr>
              <a:t>Technical — VLAN 40 — 172.16.6.0/27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400"/>
              </a:spcAft>
              <a:buSzPts val="1000"/>
              <a:buFont typeface="Symbol" panose="05050102010706020507" pitchFamily="18" charset="2"/>
              <a:buChar char=""/>
              <a:tabLst>
                <a:tab pos="457200" algn="l"/>
              </a:tabLst>
            </a:pPr>
            <a:r>
              <a:rPr lang="en-CA" sz="1400" dirty="0">
                <a:effectLst/>
                <a:latin typeface="Aptos" panose="020B0004020202020204" pitchFamily="34" charset="0"/>
                <a:ea typeface="Aptos" panose="020B0004020202020204" pitchFamily="34" charset="0"/>
                <a:cs typeface="Times New Roman" panose="02020603050405020304" pitchFamily="18" charset="0"/>
              </a:rPr>
              <a:t>Customer Service — VLAN 50 — 172.16.0.0/22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400"/>
              </a:spcAft>
              <a:buSzPts val="1000"/>
              <a:buFont typeface="Symbol" panose="05050102010706020507" pitchFamily="18" charset="2"/>
              <a:buChar char=""/>
              <a:tabLst>
                <a:tab pos="457200" algn="l"/>
              </a:tabLst>
            </a:pPr>
            <a:r>
              <a:rPr lang="en-CA" sz="1400" dirty="0">
                <a:effectLst/>
                <a:latin typeface="Aptos" panose="020B0004020202020204" pitchFamily="34" charset="0"/>
                <a:ea typeface="Aptos" panose="020B0004020202020204" pitchFamily="34" charset="0"/>
                <a:cs typeface="Times New Roman" panose="02020603050405020304" pitchFamily="18" charset="0"/>
              </a:rPr>
              <a:t>Financial — VLAN 60 — 172.16.6.32/27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400"/>
              </a:spcAft>
              <a:buSzPts val="1000"/>
              <a:buFont typeface="Symbol" panose="05050102010706020507" pitchFamily="18" charset="2"/>
              <a:buChar char=""/>
              <a:tabLst>
                <a:tab pos="457200" algn="l"/>
              </a:tabLst>
            </a:pPr>
            <a:r>
              <a:rPr lang="en-CA" sz="1400" dirty="0">
                <a:effectLst/>
                <a:latin typeface="Aptos" panose="020B0004020202020204" pitchFamily="34" charset="0"/>
                <a:ea typeface="Aptos" panose="020B0004020202020204" pitchFamily="34" charset="0"/>
                <a:cs typeface="Times New Roman" panose="02020603050405020304" pitchFamily="18" charset="0"/>
              </a:rPr>
              <a:t>Strategy — VLAN 70 — 172.16.6.64/28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400"/>
              </a:spcAft>
              <a:buSzPts val="1000"/>
              <a:buFont typeface="Symbol" panose="05050102010706020507" pitchFamily="18" charset="2"/>
              <a:buChar char=""/>
              <a:tabLst>
                <a:tab pos="457200" algn="l"/>
              </a:tabLst>
            </a:pPr>
            <a:r>
              <a:rPr lang="en-CA" sz="1400" dirty="0">
                <a:effectLst/>
                <a:latin typeface="Aptos" panose="020B0004020202020204" pitchFamily="34" charset="0"/>
                <a:ea typeface="Aptos" panose="020B0004020202020204" pitchFamily="34" charset="0"/>
                <a:cs typeface="Times New Roman" panose="02020603050405020304" pitchFamily="18" charset="0"/>
              </a:rPr>
              <a:t>Legal — VLAN 80 — 172.16.6.80/28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400"/>
              </a:spcAft>
              <a:buSzPts val="1000"/>
              <a:buFont typeface="Symbol" panose="05050102010706020507" pitchFamily="18" charset="2"/>
              <a:buChar char=""/>
              <a:tabLst>
                <a:tab pos="457200" algn="l"/>
              </a:tabLst>
            </a:pPr>
            <a:r>
              <a:rPr lang="en-CA" sz="1400" dirty="0">
                <a:effectLst/>
                <a:latin typeface="Aptos" panose="020B0004020202020204" pitchFamily="34" charset="0"/>
                <a:ea typeface="Aptos" panose="020B0004020202020204" pitchFamily="34" charset="0"/>
                <a:cs typeface="Times New Roman" panose="02020603050405020304" pitchFamily="18" charset="0"/>
              </a:rPr>
              <a:t>Quality Control — VLAN 90 — 172.16.5.0/25</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D99E9DF6-8AD5-6EE5-94FB-0EBE78CDEB5A}"/>
              </a:ext>
            </a:extLst>
          </p:cNvPr>
          <p:cNvSpPr txBox="1"/>
          <p:nvPr/>
        </p:nvSpPr>
        <p:spPr>
          <a:xfrm>
            <a:off x="6331974" y="4196001"/>
            <a:ext cx="5667887" cy="2164823"/>
          </a:xfrm>
          <a:prstGeom prst="rect">
            <a:avLst/>
          </a:prstGeom>
          <a:noFill/>
        </p:spPr>
        <p:txBody>
          <a:bodyPr wrap="square">
            <a:spAutoFit/>
          </a:bodyPr>
          <a:lstStyle/>
          <a:p>
            <a:pPr marL="0" marR="0" algn="just">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This hierarchical extended star topology provides high scalability, fault isolation, and easier troubleshooting. If one access switch fails, it does not impact the entire network. It also supports future expansion by allowing additional switches to be added without major redesign.</a:t>
            </a:r>
          </a:p>
          <a:p>
            <a:pPr marL="0" marR="0">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 </a:t>
            </a:r>
          </a:p>
          <a:p>
            <a:pPr marL="0" marR="0" algn="just">
              <a:lnSpc>
                <a:spcPct val="115000"/>
              </a:lnSpc>
              <a:spcAft>
                <a:spcPts val="400"/>
              </a:spcAft>
              <a:buNone/>
            </a:pPr>
            <a:r>
              <a:rPr lang="en-CA" sz="1400" dirty="0">
                <a:effectLst/>
                <a:latin typeface="Aptos" panose="020B0004020202020204" pitchFamily="34" charset="0"/>
                <a:ea typeface="Aptos" panose="020B0004020202020204" pitchFamily="34" charset="0"/>
                <a:cs typeface="Times New Roman" panose="02020603050405020304" pitchFamily="18" charset="0"/>
              </a:rPr>
              <a:t>Network Address Translation (NAT) will be implemented at the edge router to allow internal private IP addresses to communicate with external networks using public IP addresses.</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071902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3245F-5F85-0D35-CF68-C790E6C312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D818F0-6293-331A-1165-0FB810E07BC1}"/>
              </a:ext>
            </a:extLst>
          </p:cNvPr>
          <p:cNvSpPr txBox="1"/>
          <p:nvPr/>
        </p:nvSpPr>
        <p:spPr>
          <a:xfrm>
            <a:off x="68826" y="0"/>
            <a:ext cx="12123174" cy="2899896"/>
          </a:xfrm>
          <a:prstGeom prst="rect">
            <a:avLst/>
          </a:prstGeom>
          <a:noFill/>
        </p:spPr>
        <p:txBody>
          <a:bodyPr wrap="square">
            <a:spAutoFit/>
          </a:bodyPr>
          <a:lstStyle/>
          <a:p>
            <a:pPr marL="0" marR="0" algn="just">
              <a:lnSpc>
                <a:spcPct val="115000"/>
              </a:lnSpc>
              <a:spcBef>
                <a:spcPts val="2400"/>
              </a:spcBef>
              <a:buNone/>
            </a:pPr>
            <a:r>
              <a:rPr lang="en-US" sz="1400" b="1" kern="0" dirty="0">
                <a:solidFill>
                  <a:srgbClr val="1F4E79"/>
                </a:solidFill>
                <a:effectLst/>
                <a:latin typeface="Aptos" panose="020B0004020202020204" pitchFamily="34" charset="0"/>
                <a:ea typeface="MS Gothic" panose="020B0609070205080204" pitchFamily="49" charset="-128"/>
                <a:cs typeface="Times New Roman" panose="02020603050405020304" pitchFamily="18" charset="0"/>
              </a:rPr>
              <a:t>6.2 Cabling Design </a:t>
            </a:r>
            <a:endParaRPr lang="en-US" sz="1400" b="1" kern="0" dirty="0">
              <a:solidFill>
                <a:srgbClr val="1F4E79"/>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gn="just">
              <a:lnSpc>
                <a:spcPct val="115000"/>
              </a:lnSpc>
              <a:spcAft>
                <a:spcPts val="1000"/>
              </a:spcAft>
              <a:buNone/>
            </a:pPr>
            <a:r>
              <a:rPr lang="en-CA" sz="1400" dirty="0">
                <a:effectLst/>
                <a:latin typeface="Aptos" panose="020B0004020202020204" pitchFamily="34" charset="0"/>
                <a:ea typeface="Aptos" panose="020B0004020202020204" pitchFamily="34" charset="0"/>
                <a:cs typeface="Times New Roman" panose="02020603050405020304" pitchFamily="18" charset="0"/>
              </a:rPr>
              <a:t>To support a 10 Gbps network, the following cabling is recommended:</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1000"/>
              </a:spcAft>
              <a:buNone/>
            </a:pPr>
            <a:r>
              <a:rPr lang="en-CA" sz="1400" dirty="0">
                <a:effectLst/>
                <a:latin typeface="Aptos" panose="020B0004020202020204" pitchFamily="34" charset="0"/>
                <a:ea typeface="Aptos" panose="020B0004020202020204" pitchFamily="34" charset="0"/>
                <a:cs typeface="Times New Roman" panose="02020603050405020304" pitchFamily="18" charset="0"/>
              </a:rPr>
              <a:t>Backbone connections: Fiber optic cables (OM3/OM4 multimode or single mode) for high-speed and long-distance communication.</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1000"/>
              </a:spcAft>
              <a:buNone/>
            </a:pPr>
            <a:r>
              <a:rPr lang="en-CA" sz="1400" dirty="0">
                <a:effectLst/>
                <a:latin typeface="Aptos" panose="020B0004020202020204" pitchFamily="34" charset="0"/>
                <a:ea typeface="Aptos" panose="020B0004020202020204" pitchFamily="34" charset="0"/>
                <a:cs typeface="Times New Roman" panose="02020603050405020304" pitchFamily="18" charset="0"/>
              </a:rPr>
              <a:t>Access layer connections: Category 6a (Cat6a) Ethernet cables, which support up to 10 Gbps over standard office distances.</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400"/>
              </a:spcAft>
              <a:buNone/>
            </a:pPr>
            <a:r>
              <a:rPr lang="en-CA" sz="1400" dirty="0">
                <a:effectLst/>
                <a:latin typeface="Aptos" panose="020B0004020202020204" pitchFamily="34" charset="0"/>
                <a:ea typeface="Aptos" panose="020B0004020202020204" pitchFamily="34" charset="0"/>
                <a:cs typeface="Times New Roman" panose="02020603050405020304" pitchFamily="18" charset="0"/>
              </a:rPr>
              <a:t>This combination ensures high performance, reliability, and future scalability of the network.</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800"/>
              </a:spcBef>
              <a:spcAft>
                <a:spcPts val="400"/>
              </a:spcAft>
              <a:buNone/>
            </a:pPr>
            <a:r>
              <a:rPr lang="en-US" sz="1400" b="1" kern="0" dirty="0">
                <a:solidFill>
                  <a:srgbClr val="1F4E79"/>
                </a:solidFill>
                <a:effectLst/>
                <a:latin typeface="Aptos" panose="020B0004020202020204" pitchFamily="34" charset="0"/>
                <a:ea typeface="MS Gothic" panose="020B0609070205080204" pitchFamily="49" charset="-128"/>
                <a:cs typeface="Times New Roman" panose="02020603050405020304" pitchFamily="18" charset="0"/>
              </a:rPr>
              <a:t>7. Detailed Budget and 10-Year TCO Calculation</a:t>
            </a:r>
            <a:endParaRPr lang="en-US" sz="1400" b="1" kern="0" dirty="0">
              <a:solidFill>
                <a:srgbClr val="1F4E79"/>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gn="just">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The earlier draft only listed total amounts. This section shows the full cost calculation process. Because exact pricing changes by supplier and date, the figures below are presented as reasonable estimate values in CAD for assignment purposes. The same formulas can be reused if you later replace the unit prices with vendor quotations.</a:t>
            </a:r>
          </a:p>
        </p:txBody>
      </p:sp>
      <p:sp>
        <p:nvSpPr>
          <p:cNvPr id="7" name="TextBox 6">
            <a:extLst>
              <a:ext uri="{FF2B5EF4-FFF2-40B4-BE49-F238E27FC236}">
                <a16:creationId xmlns:a16="http://schemas.microsoft.com/office/drawing/2014/main" id="{69E8577E-9EAD-E551-5AF2-1A40FD74EEA6}"/>
              </a:ext>
            </a:extLst>
          </p:cNvPr>
          <p:cNvSpPr txBox="1"/>
          <p:nvPr/>
        </p:nvSpPr>
        <p:spPr>
          <a:xfrm>
            <a:off x="68826" y="2942843"/>
            <a:ext cx="2702196" cy="394467"/>
          </a:xfrm>
          <a:prstGeom prst="rect">
            <a:avLst/>
          </a:prstGeom>
          <a:noFill/>
        </p:spPr>
        <p:txBody>
          <a:bodyPr wrap="square">
            <a:spAutoFit/>
          </a:bodyPr>
          <a:lstStyle/>
          <a:p>
            <a:pPr marL="0" marR="0">
              <a:lnSpc>
                <a:spcPct val="115000"/>
              </a:lnSpc>
              <a:spcBef>
                <a:spcPts val="800"/>
              </a:spcBef>
              <a:spcAft>
                <a:spcPts val="400"/>
              </a:spcAft>
              <a:buNone/>
            </a:pPr>
            <a:r>
              <a:rPr lang="en-US" sz="1800" b="1" dirty="0">
                <a:solidFill>
                  <a:srgbClr val="2E5496"/>
                </a:solidFill>
                <a:effectLst/>
                <a:latin typeface="Aptos" panose="020B0004020202020204" pitchFamily="34" charset="0"/>
                <a:ea typeface="MS Gothic" panose="020B0609070205080204" pitchFamily="49" charset="-128"/>
                <a:cs typeface="Times New Roman" panose="02020603050405020304" pitchFamily="18" charset="0"/>
              </a:rPr>
              <a:t>7.1 Hardware Cost Table</a:t>
            </a:r>
            <a:endPar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endParaRPr>
          </a:p>
        </p:txBody>
      </p:sp>
      <p:graphicFrame>
        <p:nvGraphicFramePr>
          <p:cNvPr id="8" name="Table 7">
            <a:extLst>
              <a:ext uri="{FF2B5EF4-FFF2-40B4-BE49-F238E27FC236}">
                <a16:creationId xmlns:a16="http://schemas.microsoft.com/office/drawing/2014/main" id="{FC45A6D5-4C71-102C-FF58-2F1A9BBD6284}"/>
              </a:ext>
            </a:extLst>
          </p:cNvPr>
          <p:cNvGraphicFramePr>
            <a:graphicFrameLocks noGrp="1"/>
          </p:cNvGraphicFramePr>
          <p:nvPr>
            <p:extLst>
              <p:ext uri="{D42A27DB-BD31-4B8C-83A1-F6EECF244321}">
                <p14:modId xmlns:p14="http://schemas.microsoft.com/office/powerpoint/2010/main" val="382036586"/>
              </p:ext>
            </p:extLst>
          </p:nvPr>
        </p:nvGraphicFramePr>
        <p:xfrm>
          <a:off x="68826" y="3520691"/>
          <a:ext cx="5745480" cy="1745742"/>
        </p:xfrm>
        <a:graphic>
          <a:graphicData uri="http://schemas.openxmlformats.org/drawingml/2006/table">
            <a:tbl>
              <a:tblPr firstRow="1" firstCol="1" bandRow="1">
                <a:tableStyleId>{5C22544A-7EE6-4342-B048-85BDC9FD1C3A}</a:tableStyleId>
              </a:tblPr>
              <a:tblGrid>
                <a:gridCol w="1353820">
                  <a:extLst>
                    <a:ext uri="{9D8B030D-6E8A-4147-A177-3AD203B41FA5}">
                      <a16:colId xmlns:a16="http://schemas.microsoft.com/office/drawing/2014/main" val="3032330188"/>
                    </a:ext>
                  </a:extLst>
                </a:gridCol>
                <a:gridCol w="1440180">
                  <a:extLst>
                    <a:ext uri="{9D8B030D-6E8A-4147-A177-3AD203B41FA5}">
                      <a16:colId xmlns:a16="http://schemas.microsoft.com/office/drawing/2014/main" val="2715483418"/>
                    </a:ext>
                  </a:extLst>
                </a:gridCol>
                <a:gridCol w="431800">
                  <a:extLst>
                    <a:ext uri="{9D8B030D-6E8A-4147-A177-3AD203B41FA5}">
                      <a16:colId xmlns:a16="http://schemas.microsoft.com/office/drawing/2014/main" val="4136112043"/>
                    </a:ext>
                  </a:extLst>
                </a:gridCol>
                <a:gridCol w="720090">
                  <a:extLst>
                    <a:ext uri="{9D8B030D-6E8A-4147-A177-3AD203B41FA5}">
                      <a16:colId xmlns:a16="http://schemas.microsoft.com/office/drawing/2014/main" val="3905554791"/>
                    </a:ext>
                  </a:extLst>
                </a:gridCol>
                <a:gridCol w="1007745">
                  <a:extLst>
                    <a:ext uri="{9D8B030D-6E8A-4147-A177-3AD203B41FA5}">
                      <a16:colId xmlns:a16="http://schemas.microsoft.com/office/drawing/2014/main" val="387231442"/>
                    </a:ext>
                  </a:extLst>
                </a:gridCol>
                <a:gridCol w="791845">
                  <a:extLst>
                    <a:ext uri="{9D8B030D-6E8A-4147-A177-3AD203B41FA5}">
                      <a16:colId xmlns:a16="http://schemas.microsoft.com/office/drawing/2014/main" val="3013423287"/>
                    </a:ext>
                  </a:extLst>
                </a:gridCol>
              </a:tblGrid>
              <a:tr h="0">
                <a:tc>
                  <a:txBody>
                    <a:bodyPr/>
                    <a:lstStyle/>
                    <a:p>
                      <a:pPr marL="0" marR="0">
                        <a:lnSpc>
                          <a:spcPct val="115000"/>
                        </a:lnSpc>
                        <a:spcAft>
                          <a:spcPts val="1000"/>
                        </a:spcAft>
                        <a:buNone/>
                      </a:pPr>
                      <a:r>
                        <a:rPr lang="en-US" sz="1200">
                          <a:effectLst/>
                        </a:rPr>
                        <a:t>Item</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dirty="0">
                          <a:effectLst/>
                        </a:rPr>
                        <a:t>Model / Description</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Qty</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dirty="0">
                          <a:effectLst/>
                        </a:rPr>
                        <a:t>Unit Cost (CAD)</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Calculation</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Line Total (CAD)</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723199230"/>
                  </a:ext>
                </a:extLst>
              </a:tr>
              <a:tr h="0">
                <a:tc>
                  <a:txBody>
                    <a:bodyPr/>
                    <a:lstStyle/>
                    <a:p>
                      <a:pPr marL="0" marR="0">
                        <a:lnSpc>
                          <a:spcPct val="115000"/>
                        </a:lnSpc>
                        <a:spcAft>
                          <a:spcPts val="1000"/>
                        </a:spcAft>
                        <a:buNone/>
                      </a:pPr>
                      <a:r>
                        <a:rPr lang="en-US" sz="1200">
                          <a:effectLst/>
                        </a:rPr>
                        <a:t>Access / Distribution Switch</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Cisco Catalyst 9300 Series</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10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6,000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10 x 6,000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60,000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415838440"/>
                  </a:ext>
                </a:extLst>
              </a:tr>
              <a:tr h="0">
                <a:tc>
                  <a:txBody>
                    <a:bodyPr/>
                    <a:lstStyle/>
                    <a:p>
                      <a:pPr marL="0" marR="0">
                        <a:lnSpc>
                          <a:spcPct val="115000"/>
                        </a:lnSpc>
                        <a:spcAft>
                          <a:spcPts val="1000"/>
                        </a:spcAft>
                        <a:buNone/>
                      </a:pPr>
                      <a:r>
                        <a:rPr lang="en-US" sz="1200">
                          <a:effectLst/>
                        </a:rPr>
                        <a:t>Router</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Cisco ISR 4451</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2</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dirty="0">
                          <a:effectLst/>
                        </a:rPr>
                        <a:t>8,000</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2 x 8,000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dirty="0">
                          <a:effectLst/>
                        </a:rPr>
                        <a:t>16,000</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967990032"/>
                  </a:ext>
                </a:extLst>
              </a:tr>
            </a:tbl>
          </a:graphicData>
        </a:graphic>
      </p:graphicFrame>
      <p:sp>
        <p:nvSpPr>
          <p:cNvPr id="10" name="TextBox 9">
            <a:extLst>
              <a:ext uri="{FF2B5EF4-FFF2-40B4-BE49-F238E27FC236}">
                <a16:creationId xmlns:a16="http://schemas.microsoft.com/office/drawing/2014/main" id="{C6279CCB-B36D-846F-AAC9-3BB79236F207}"/>
              </a:ext>
            </a:extLst>
          </p:cNvPr>
          <p:cNvSpPr txBox="1"/>
          <p:nvPr/>
        </p:nvSpPr>
        <p:spPr>
          <a:xfrm>
            <a:off x="6312310" y="2992775"/>
            <a:ext cx="2504768" cy="394467"/>
          </a:xfrm>
          <a:prstGeom prst="rect">
            <a:avLst/>
          </a:prstGeom>
          <a:noFill/>
        </p:spPr>
        <p:txBody>
          <a:bodyPr wrap="square">
            <a:spAutoFit/>
          </a:bodyPr>
          <a:lstStyle/>
          <a:p>
            <a:pPr marL="0" marR="0">
              <a:lnSpc>
                <a:spcPct val="115000"/>
              </a:lnSpc>
              <a:spcBef>
                <a:spcPts val="800"/>
              </a:spcBef>
              <a:spcAft>
                <a:spcPts val="400"/>
              </a:spcAft>
              <a:buNone/>
            </a:pPr>
            <a:r>
              <a:rPr lang="en-US" sz="1800" b="1" dirty="0">
                <a:solidFill>
                  <a:srgbClr val="2E5496"/>
                </a:solidFill>
                <a:effectLst/>
                <a:latin typeface="Aptos" panose="020B0004020202020204" pitchFamily="34" charset="0"/>
                <a:ea typeface="MS Gothic" panose="020B0609070205080204" pitchFamily="49" charset="-128"/>
                <a:cs typeface="Times New Roman" panose="02020603050405020304" pitchFamily="18" charset="0"/>
              </a:rPr>
              <a:t>7.2 </a:t>
            </a:r>
            <a:r>
              <a:rPr lang="en-US" sz="1800" b="1" dirty="0" err="1">
                <a:solidFill>
                  <a:srgbClr val="2E5496"/>
                </a:solidFill>
                <a:effectLst/>
                <a:latin typeface="Aptos" panose="020B0004020202020204" pitchFamily="34" charset="0"/>
                <a:ea typeface="MS Gothic" panose="020B0609070205080204" pitchFamily="49" charset="-128"/>
                <a:cs typeface="Times New Roman" panose="02020603050405020304" pitchFamily="18" charset="0"/>
              </a:rPr>
              <a:t>Labour</a:t>
            </a:r>
            <a:r>
              <a:rPr lang="en-US" sz="1800" b="1" dirty="0">
                <a:solidFill>
                  <a:srgbClr val="2E5496"/>
                </a:solidFill>
                <a:effectLst/>
                <a:latin typeface="Aptos" panose="020B0004020202020204" pitchFamily="34" charset="0"/>
                <a:ea typeface="MS Gothic" panose="020B0609070205080204" pitchFamily="49" charset="-128"/>
                <a:cs typeface="Times New Roman" panose="02020603050405020304" pitchFamily="18" charset="0"/>
              </a:rPr>
              <a:t> Cost Table</a:t>
            </a:r>
            <a:endPar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4B5B0362-B15C-D877-D699-815880697C5E}"/>
              </a:ext>
            </a:extLst>
          </p:cNvPr>
          <p:cNvGraphicFramePr>
            <a:graphicFrameLocks noGrp="1"/>
          </p:cNvGraphicFramePr>
          <p:nvPr>
            <p:extLst>
              <p:ext uri="{D42A27DB-BD31-4B8C-83A1-F6EECF244321}">
                <p14:modId xmlns:p14="http://schemas.microsoft.com/office/powerpoint/2010/main" val="1636021006"/>
              </p:ext>
            </p:extLst>
          </p:nvPr>
        </p:nvGraphicFramePr>
        <p:xfrm>
          <a:off x="6312310" y="3520691"/>
          <a:ext cx="5511165" cy="813308"/>
        </p:xfrm>
        <a:graphic>
          <a:graphicData uri="http://schemas.openxmlformats.org/drawingml/2006/table">
            <a:tbl>
              <a:tblPr firstRow="1" firstCol="1" bandRow="1">
                <a:tableStyleId>{5C22544A-7EE6-4342-B048-85BDC9FD1C3A}</a:tableStyleId>
              </a:tblPr>
              <a:tblGrid>
                <a:gridCol w="3207385">
                  <a:extLst>
                    <a:ext uri="{9D8B030D-6E8A-4147-A177-3AD203B41FA5}">
                      <a16:colId xmlns:a16="http://schemas.microsoft.com/office/drawing/2014/main" val="3114524737"/>
                    </a:ext>
                  </a:extLst>
                </a:gridCol>
                <a:gridCol w="647700">
                  <a:extLst>
                    <a:ext uri="{9D8B030D-6E8A-4147-A177-3AD203B41FA5}">
                      <a16:colId xmlns:a16="http://schemas.microsoft.com/office/drawing/2014/main" val="1372450301"/>
                    </a:ext>
                  </a:extLst>
                </a:gridCol>
                <a:gridCol w="791845">
                  <a:extLst>
                    <a:ext uri="{9D8B030D-6E8A-4147-A177-3AD203B41FA5}">
                      <a16:colId xmlns:a16="http://schemas.microsoft.com/office/drawing/2014/main" val="2922942278"/>
                    </a:ext>
                  </a:extLst>
                </a:gridCol>
                <a:gridCol w="864235">
                  <a:extLst>
                    <a:ext uri="{9D8B030D-6E8A-4147-A177-3AD203B41FA5}">
                      <a16:colId xmlns:a16="http://schemas.microsoft.com/office/drawing/2014/main" val="3951481330"/>
                    </a:ext>
                  </a:extLst>
                </a:gridCol>
              </a:tblGrid>
              <a:tr h="0">
                <a:tc>
                  <a:txBody>
                    <a:bodyPr/>
                    <a:lstStyle/>
                    <a:p>
                      <a:pPr marL="0" marR="0">
                        <a:lnSpc>
                          <a:spcPct val="115000"/>
                        </a:lnSpc>
                        <a:spcAft>
                          <a:spcPts val="1000"/>
                        </a:spcAft>
                        <a:buNone/>
                      </a:pPr>
                      <a:r>
                        <a:rPr lang="en-US" sz="1200" dirty="0">
                          <a:effectLst/>
                        </a:rPr>
                        <a:t>Role</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Hours</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Rate (CAD/hr)</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Cost (CAD)</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257420913"/>
                  </a:ext>
                </a:extLst>
              </a:tr>
              <a:tr h="0">
                <a:tc>
                  <a:txBody>
                    <a:bodyPr/>
                    <a:lstStyle/>
                    <a:p>
                      <a:pPr marL="0" marR="0">
                        <a:lnSpc>
                          <a:spcPct val="115000"/>
                        </a:lnSpc>
                        <a:spcAft>
                          <a:spcPts val="1000"/>
                        </a:spcAft>
                        <a:buNone/>
                      </a:pPr>
                      <a:r>
                        <a:rPr lang="en-US" sz="1200">
                          <a:effectLst/>
                        </a:rPr>
                        <a:t>Network design, installation and testing</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80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60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dirty="0">
                          <a:effectLst/>
                        </a:rPr>
                        <a:t>4,800</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530510603"/>
                  </a:ext>
                </a:extLst>
              </a:tr>
            </a:tbl>
          </a:graphicData>
        </a:graphic>
      </p:graphicFrame>
      <p:sp>
        <p:nvSpPr>
          <p:cNvPr id="15" name="TextBox 14">
            <a:extLst>
              <a:ext uri="{FF2B5EF4-FFF2-40B4-BE49-F238E27FC236}">
                <a16:creationId xmlns:a16="http://schemas.microsoft.com/office/drawing/2014/main" id="{7BE44215-DA89-F8D3-1030-CA7E918833DC}"/>
              </a:ext>
            </a:extLst>
          </p:cNvPr>
          <p:cNvSpPr txBox="1"/>
          <p:nvPr/>
        </p:nvSpPr>
        <p:spPr>
          <a:xfrm>
            <a:off x="211394" y="5575444"/>
            <a:ext cx="6100916" cy="874727"/>
          </a:xfrm>
          <a:prstGeom prst="rect">
            <a:avLst/>
          </a:prstGeom>
          <a:noFill/>
        </p:spPr>
        <p:txBody>
          <a:bodyPr wrap="square">
            <a:spAutoFit/>
          </a:bodyPr>
          <a:lstStyle/>
          <a:p>
            <a:pPr marL="0" marR="0">
              <a:lnSpc>
                <a:spcPct val="115000"/>
              </a:lnSpc>
              <a:spcAft>
                <a:spcPts val="400"/>
              </a:spcAft>
              <a:buNone/>
            </a:pPr>
            <a:r>
              <a:rPr lang="en-US" sz="1400" b="1" dirty="0" err="1">
                <a:effectLst/>
                <a:latin typeface="Aptos" panose="020B0004020202020204" pitchFamily="34" charset="0"/>
                <a:ea typeface="Aptos" panose="020B0004020202020204" pitchFamily="34" charset="0"/>
                <a:cs typeface="Times New Roman" panose="02020603050405020304" pitchFamily="18" charset="0"/>
              </a:rPr>
              <a:t>Labour</a:t>
            </a:r>
            <a:r>
              <a:rPr lang="en-US" sz="1400" b="1" dirty="0">
                <a:effectLst/>
                <a:latin typeface="Aptos" panose="020B0004020202020204" pitchFamily="34" charset="0"/>
                <a:ea typeface="Aptos" panose="020B0004020202020204" pitchFamily="34" charset="0"/>
                <a:cs typeface="Times New Roman" panose="02020603050405020304" pitchFamily="18" charset="0"/>
              </a:rPr>
              <a:t> subtotal calculation:</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Implementation </a:t>
            </a:r>
            <a:r>
              <a:rPr lang="en-US" sz="1400" dirty="0" err="1">
                <a:effectLst/>
                <a:latin typeface="Aptos" panose="020B0004020202020204" pitchFamily="34" charset="0"/>
                <a:ea typeface="Aptos" panose="020B0004020202020204" pitchFamily="34" charset="0"/>
                <a:cs typeface="Times New Roman" panose="02020603050405020304" pitchFamily="18" charset="0"/>
              </a:rPr>
              <a:t>Labour</a:t>
            </a:r>
            <a:r>
              <a:rPr lang="en-US" sz="1400" dirty="0">
                <a:effectLst/>
                <a:latin typeface="Aptos" panose="020B0004020202020204" pitchFamily="34" charset="0"/>
                <a:ea typeface="Aptos" panose="020B0004020202020204" pitchFamily="34" charset="0"/>
                <a:cs typeface="Times New Roman" panose="02020603050405020304" pitchFamily="18" charset="0"/>
              </a:rPr>
              <a:t> = 80 hours x CAD 60/hour</a:t>
            </a:r>
            <a:br>
              <a:rPr lang="en-US" sz="1400" dirty="0">
                <a:effectLst/>
                <a:latin typeface="Aptos" panose="020B0004020202020204" pitchFamily="34" charset="0"/>
                <a:ea typeface="Aptos" panose="020B0004020202020204" pitchFamily="34" charset="0"/>
                <a:cs typeface="Times New Roman" panose="02020603050405020304" pitchFamily="18" charset="0"/>
              </a:rPr>
            </a:br>
            <a:r>
              <a:rPr lang="en-US" sz="1400" dirty="0">
                <a:effectLst/>
                <a:latin typeface="Aptos" panose="020B0004020202020204" pitchFamily="34" charset="0"/>
                <a:ea typeface="Aptos" panose="020B0004020202020204" pitchFamily="34" charset="0"/>
                <a:cs typeface="Times New Roman" panose="02020603050405020304" pitchFamily="18" charset="0"/>
              </a:rPr>
              <a:t>Implementation </a:t>
            </a:r>
            <a:r>
              <a:rPr lang="en-US" sz="1400" dirty="0" err="1">
                <a:effectLst/>
                <a:latin typeface="Aptos" panose="020B0004020202020204" pitchFamily="34" charset="0"/>
                <a:ea typeface="Aptos" panose="020B0004020202020204" pitchFamily="34" charset="0"/>
                <a:cs typeface="Times New Roman" panose="02020603050405020304" pitchFamily="18" charset="0"/>
              </a:rPr>
              <a:t>Labour</a:t>
            </a:r>
            <a:r>
              <a:rPr lang="en-US" sz="1400" dirty="0">
                <a:effectLst/>
                <a:latin typeface="Aptos" panose="020B0004020202020204" pitchFamily="34" charset="0"/>
                <a:ea typeface="Aptos" panose="020B0004020202020204" pitchFamily="34" charset="0"/>
                <a:cs typeface="Times New Roman" panose="02020603050405020304" pitchFamily="18" charset="0"/>
              </a:rPr>
              <a:t> = CAD 4,800</a:t>
            </a:r>
          </a:p>
        </p:txBody>
      </p:sp>
    </p:spTree>
    <p:extLst>
      <p:ext uri="{BB962C8B-B14F-4D97-AF65-F5344CB8AC3E}">
        <p14:creationId xmlns:p14="http://schemas.microsoft.com/office/powerpoint/2010/main" val="315521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76E07-17B8-5BF9-A472-FB2D6CA4AF76}"/>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3FE11AAE-D7FA-6B92-738D-A130621093A4}"/>
              </a:ext>
            </a:extLst>
          </p:cNvPr>
          <p:cNvSpPr txBox="1"/>
          <p:nvPr/>
        </p:nvSpPr>
        <p:spPr>
          <a:xfrm>
            <a:off x="165428" y="0"/>
            <a:ext cx="6100916" cy="1771960"/>
          </a:xfrm>
          <a:prstGeom prst="rect">
            <a:avLst/>
          </a:prstGeom>
          <a:noFill/>
        </p:spPr>
        <p:txBody>
          <a:bodyPr wrap="square">
            <a:spAutoFit/>
          </a:bodyPr>
          <a:lstStyle/>
          <a:p>
            <a:pPr marL="0" marR="0">
              <a:lnSpc>
                <a:spcPct val="115000"/>
              </a:lnSpc>
              <a:spcBef>
                <a:spcPts val="800"/>
              </a:spcBef>
              <a:spcAft>
                <a:spcPts val="400"/>
              </a:spcAft>
              <a:buNone/>
            </a:pPr>
            <a:r>
              <a:rPr lang="en-US" sz="1800" b="1" dirty="0">
                <a:solidFill>
                  <a:srgbClr val="2E5496"/>
                </a:solidFill>
                <a:effectLst/>
                <a:latin typeface="Aptos" panose="020B0004020202020204" pitchFamily="34" charset="0"/>
                <a:ea typeface="MS Gothic" panose="020B0609070205080204" pitchFamily="49" charset="-128"/>
                <a:cs typeface="Times New Roman" panose="02020603050405020304" pitchFamily="18" charset="0"/>
              </a:rPr>
              <a:t>7.3 Maintenance and 10-Year TCO Table</a:t>
            </a:r>
            <a:endPar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Aft>
                <a:spcPts val="4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Hardware subtotal calculation:</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4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Hardware Cost = (10 x CAD 6,000) + (2 x CAD 8,000)</a:t>
            </a:r>
            <a:br>
              <a:rPr lang="en-US" sz="1800" dirty="0">
                <a:effectLst/>
                <a:latin typeface="Aptos" panose="020B0004020202020204" pitchFamily="34" charset="0"/>
                <a:ea typeface="Aptos" panose="020B0004020202020204" pitchFamily="34" charset="0"/>
                <a:cs typeface="Times New Roman" panose="02020603050405020304" pitchFamily="18" charset="0"/>
              </a:rPr>
            </a:br>
            <a:r>
              <a:rPr lang="en-US" sz="1800" dirty="0">
                <a:effectLst/>
                <a:latin typeface="Aptos" panose="020B0004020202020204" pitchFamily="34" charset="0"/>
                <a:ea typeface="Aptos" panose="020B0004020202020204" pitchFamily="34" charset="0"/>
                <a:cs typeface="Times New Roman" panose="02020603050405020304" pitchFamily="18" charset="0"/>
              </a:rPr>
              <a:t>Hardware Cost = CAD 60,000 + CAD 16,000</a:t>
            </a:r>
            <a:br>
              <a:rPr lang="en-US" sz="1800" dirty="0">
                <a:effectLst/>
                <a:latin typeface="Aptos" panose="020B0004020202020204" pitchFamily="34" charset="0"/>
                <a:ea typeface="Aptos" panose="020B0004020202020204" pitchFamily="34" charset="0"/>
                <a:cs typeface="Times New Roman" panose="02020603050405020304" pitchFamily="18" charset="0"/>
              </a:rPr>
            </a:br>
            <a:r>
              <a:rPr lang="en-US" sz="1800" dirty="0">
                <a:effectLst/>
                <a:latin typeface="Aptos" panose="020B0004020202020204" pitchFamily="34" charset="0"/>
                <a:ea typeface="Aptos" panose="020B0004020202020204" pitchFamily="34" charset="0"/>
                <a:cs typeface="Times New Roman" panose="02020603050405020304" pitchFamily="18" charset="0"/>
              </a:rPr>
              <a:t>Hardware Cost = CAD 76,000</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p:txBody>
      </p:sp>
      <p:graphicFrame>
        <p:nvGraphicFramePr>
          <p:cNvPr id="16" name="Table 15">
            <a:extLst>
              <a:ext uri="{FF2B5EF4-FFF2-40B4-BE49-F238E27FC236}">
                <a16:creationId xmlns:a16="http://schemas.microsoft.com/office/drawing/2014/main" id="{21263659-E52F-410C-CAF7-369F88675F1D}"/>
              </a:ext>
            </a:extLst>
          </p:cNvPr>
          <p:cNvGraphicFramePr>
            <a:graphicFrameLocks noGrp="1"/>
          </p:cNvGraphicFramePr>
          <p:nvPr>
            <p:extLst>
              <p:ext uri="{D42A27DB-BD31-4B8C-83A1-F6EECF244321}">
                <p14:modId xmlns:p14="http://schemas.microsoft.com/office/powerpoint/2010/main" val="3554696957"/>
              </p:ext>
            </p:extLst>
          </p:nvPr>
        </p:nvGraphicFramePr>
        <p:xfrm>
          <a:off x="6561311" y="54158"/>
          <a:ext cx="5375234" cy="1717802"/>
        </p:xfrm>
        <a:graphic>
          <a:graphicData uri="http://schemas.openxmlformats.org/drawingml/2006/table">
            <a:tbl>
              <a:tblPr firstRow="1" firstCol="1" bandRow="1">
                <a:tableStyleId>{5C22544A-7EE6-4342-B048-85BDC9FD1C3A}</a:tableStyleId>
              </a:tblPr>
              <a:tblGrid>
                <a:gridCol w="2236643">
                  <a:extLst>
                    <a:ext uri="{9D8B030D-6E8A-4147-A177-3AD203B41FA5}">
                      <a16:colId xmlns:a16="http://schemas.microsoft.com/office/drawing/2014/main" val="1237594105"/>
                    </a:ext>
                  </a:extLst>
                </a:gridCol>
                <a:gridCol w="2219765">
                  <a:extLst>
                    <a:ext uri="{9D8B030D-6E8A-4147-A177-3AD203B41FA5}">
                      <a16:colId xmlns:a16="http://schemas.microsoft.com/office/drawing/2014/main" val="1756981345"/>
                    </a:ext>
                  </a:extLst>
                </a:gridCol>
                <a:gridCol w="918826">
                  <a:extLst>
                    <a:ext uri="{9D8B030D-6E8A-4147-A177-3AD203B41FA5}">
                      <a16:colId xmlns:a16="http://schemas.microsoft.com/office/drawing/2014/main" val="4233773637"/>
                    </a:ext>
                  </a:extLst>
                </a:gridCol>
              </a:tblGrid>
              <a:tr h="0">
                <a:tc>
                  <a:txBody>
                    <a:bodyPr/>
                    <a:lstStyle/>
                    <a:p>
                      <a:pPr marL="0" marR="0">
                        <a:lnSpc>
                          <a:spcPct val="115000"/>
                        </a:lnSpc>
                        <a:spcAft>
                          <a:spcPts val="1000"/>
                        </a:spcAft>
                        <a:buNone/>
                      </a:pPr>
                      <a:r>
                        <a:rPr lang="en-US" sz="1200">
                          <a:effectLst/>
                        </a:rPr>
                        <a:t>Component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Formula</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Amount (CAD)</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4208241413"/>
                  </a:ext>
                </a:extLst>
              </a:tr>
              <a:tr h="0">
                <a:tc>
                  <a:txBody>
                    <a:bodyPr/>
                    <a:lstStyle/>
                    <a:p>
                      <a:pPr marL="0" marR="0">
                        <a:lnSpc>
                          <a:spcPct val="115000"/>
                        </a:lnSpc>
                        <a:spcAft>
                          <a:spcPts val="1000"/>
                        </a:spcAft>
                        <a:buNone/>
                      </a:pPr>
                      <a:r>
                        <a:rPr lang="en-US" sz="1200">
                          <a:effectLst/>
                        </a:rPr>
                        <a:t>Hardware</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(10 x 6,000) + (2 x 8,000)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76,000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4079652055"/>
                  </a:ext>
                </a:extLst>
              </a:tr>
              <a:tr h="0">
                <a:tc>
                  <a:txBody>
                    <a:bodyPr/>
                    <a:lstStyle/>
                    <a:p>
                      <a:pPr marL="0" marR="0">
                        <a:lnSpc>
                          <a:spcPct val="115000"/>
                        </a:lnSpc>
                        <a:spcAft>
                          <a:spcPts val="1000"/>
                        </a:spcAft>
                        <a:buNone/>
                      </a:pPr>
                      <a:r>
                        <a:rPr lang="en-US" sz="1200">
                          <a:effectLst/>
                        </a:rPr>
                        <a:t>Labour</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80 x 60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4,800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2380925665"/>
                  </a:ext>
                </a:extLst>
              </a:tr>
              <a:tr h="0">
                <a:tc>
                  <a:txBody>
                    <a:bodyPr/>
                    <a:lstStyle/>
                    <a:p>
                      <a:pPr marL="0" marR="0">
                        <a:lnSpc>
                          <a:spcPct val="115000"/>
                        </a:lnSpc>
                        <a:spcAft>
                          <a:spcPts val="1000"/>
                        </a:spcAft>
                        <a:buNone/>
                      </a:pPr>
                      <a:r>
                        <a:rPr lang="en-US" sz="1200">
                          <a:effectLst/>
                        </a:rPr>
                        <a:t>Maintenance over 10 years</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(76,000 x 0.05) x 10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a:effectLst/>
                        </a:rPr>
                        <a:t>38,000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159463706"/>
                  </a:ext>
                </a:extLst>
              </a:tr>
              <a:tr h="0">
                <a:tc>
                  <a:txBody>
                    <a:bodyPr/>
                    <a:lstStyle/>
                    <a:p>
                      <a:pPr marL="0" marR="0">
                        <a:lnSpc>
                          <a:spcPct val="115000"/>
                        </a:lnSpc>
                        <a:spcAft>
                          <a:spcPts val="1000"/>
                        </a:spcAft>
                        <a:buNone/>
                      </a:pPr>
                      <a:r>
                        <a:rPr lang="en-US" sz="1200">
                          <a:effectLst/>
                        </a:rPr>
                        <a:t>Total Cost of Ownership</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nSpc>
                          <a:spcPct val="115000"/>
                        </a:lnSpc>
                        <a:spcAft>
                          <a:spcPts val="1000"/>
                        </a:spcAft>
                        <a:buNone/>
                      </a:pPr>
                      <a:r>
                        <a:rPr lang="en-US" sz="1200">
                          <a:effectLst/>
                        </a:rPr>
                        <a:t>76,000 + 4,800 + 38,000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1000"/>
                        </a:spcAft>
                        <a:buNone/>
                      </a:pPr>
                      <a:r>
                        <a:rPr lang="en-US" sz="1200" dirty="0">
                          <a:effectLst/>
                        </a:rPr>
                        <a:t>118,800</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09710485"/>
                  </a:ext>
                </a:extLst>
              </a:tr>
            </a:tbl>
          </a:graphicData>
        </a:graphic>
      </p:graphicFrame>
      <p:sp>
        <p:nvSpPr>
          <p:cNvPr id="3" name="TextBox 2">
            <a:extLst>
              <a:ext uri="{FF2B5EF4-FFF2-40B4-BE49-F238E27FC236}">
                <a16:creationId xmlns:a16="http://schemas.microsoft.com/office/drawing/2014/main" id="{0790EB8D-E1A2-2E4B-00C6-89E39E318EBE}"/>
              </a:ext>
            </a:extLst>
          </p:cNvPr>
          <p:cNvSpPr txBox="1"/>
          <p:nvPr/>
        </p:nvSpPr>
        <p:spPr>
          <a:xfrm>
            <a:off x="165428" y="2045383"/>
            <a:ext cx="11662779" cy="4608569"/>
          </a:xfrm>
          <a:prstGeom prst="rect">
            <a:avLst/>
          </a:prstGeom>
          <a:noFill/>
        </p:spPr>
        <p:txBody>
          <a:bodyPr wrap="square">
            <a:spAutoFit/>
          </a:bodyPr>
          <a:lstStyle/>
          <a:p>
            <a:pPr marL="0" marR="0">
              <a:lnSpc>
                <a:spcPct val="115000"/>
              </a:lnSpc>
              <a:spcAft>
                <a:spcPts val="4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Maintenance calculation:</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Annual Maintenance = 5% x Hardware Cost</a:t>
            </a:r>
            <a:br>
              <a:rPr lang="en-US" sz="1400" dirty="0">
                <a:effectLst/>
                <a:latin typeface="Aptos" panose="020B0004020202020204" pitchFamily="34" charset="0"/>
                <a:ea typeface="Aptos" panose="020B0004020202020204" pitchFamily="34" charset="0"/>
                <a:cs typeface="Times New Roman" panose="02020603050405020304" pitchFamily="18" charset="0"/>
              </a:rPr>
            </a:br>
            <a:r>
              <a:rPr lang="en-US" sz="1400" dirty="0">
                <a:effectLst/>
                <a:latin typeface="Aptos" panose="020B0004020202020204" pitchFamily="34" charset="0"/>
                <a:ea typeface="Aptos" panose="020B0004020202020204" pitchFamily="34" charset="0"/>
                <a:cs typeface="Times New Roman" panose="02020603050405020304" pitchFamily="18" charset="0"/>
              </a:rPr>
              <a:t>Annual Maintenance = 0.05 x 76,000</a:t>
            </a:r>
            <a:br>
              <a:rPr lang="en-US" sz="1400" dirty="0">
                <a:effectLst/>
                <a:latin typeface="Aptos" panose="020B0004020202020204" pitchFamily="34" charset="0"/>
                <a:ea typeface="Aptos" panose="020B0004020202020204" pitchFamily="34" charset="0"/>
                <a:cs typeface="Times New Roman" panose="02020603050405020304" pitchFamily="18" charset="0"/>
              </a:rPr>
            </a:br>
            <a:r>
              <a:rPr lang="en-US" sz="1400" dirty="0">
                <a:effectLst/>
                <a:latin typeface="Aptos" panose="020B0004020202020204" pitchFamily="34" charset="0"/>
                <a:ea typeface="Aptos" panose="020B0004020202020204" pitchFamily="34" charset="0"/>
                <a:cs typeface="Times New Roman" panose="02020603050405020304" pitchFamily="18" charset="0"/>
              </a:rPr>
              <a:t>Annual Maintenance = CAD 3,800</a:t>
            </a:r>
          </a:p>
          <a:p>
            <a:pPr marL="0" marR="0">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10-Year Maintenance = Annual Maintenance x 10</a:t>
            </a:r>
            <a:br>
              <a:rPr lang="en-US" sz="1400" dirty="0">
                <a:effectLst/>
                <a:latin typeface="Aptos" panose="020B0004020202020204" pitchFamily="34" charset="0"/>
                <a:ea typeface="Aptos" panose="020B0004020202020204" pitchFamily="34" charset="0"/>
                <a:cs typeface="Times New Roman" panose="02020603050405020304" pitchFamily="18" charset="0"/>
              </a:rPr>
            </a:br>
            <a:r>
              <a:rPr lang="en-US" sz="1400" dirty="0">
                <a:effectLst/>
                <a:latin typeface="Aptos" panose="020B0004020202020204" pitchFamily="34" charset="0"/>
                <a:ea typeface="Aptos" panose="020B0004020202020204" pitchFamily="34" charset="0"/>
                <a:cs typeface="Times New Roman" panose="02020603050405020304" pitchFamily="18" charset="0"/>
              </a:rPr>
              <a:t>10-Year Maintenance = 3,800 x 10</a:t>
            </a:r>
            <a:br>
              <a:rPr lang="en-US" sz="1400" dirty="0">
                <a:effectLst/>
                <a:latin typeface="Aptos" panose="020B0004020202020204" pitchFamily="34" charset="0"/>
                <a:ea typeface="Aptos" panose="020B0004020202020204" pitchFamily="34" charset="0"/>
                <a:cs typeface="Times New Roman" panose="02020603050405020304" pitchFamily="18" charset="0"/>
              </a:rPr>
            </a:br>
            <a:r>
              <a:rPr lang="en-US" sz="1400" dirty="0">
                <a:effectLst/>
                <a:latin typeface="Aptos" panose="020B0004020202020204" pitchFamily="34" charset="0"/>
                <a:ea typeface="Aptos" panose="020B0004020202020204" pitchFamily="34" charset="0"/>
                <a:cs typeface="Times New Roman" panose="02020603050405020304" pitchFamily="18" charset="0"/>
              </a:rPr>
              <a:t>10-Year Maintenance = CAD 38,000</a:t>
            </a:r>
          </a:p>
          <a:p>
            <a:pPr marL="0" marR="0">
              <a:lnSpc>
                <a:spcPct val="115000"/>
              </a:lnSpc>
              <a:spcAft>
                <a:spcPts val="4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4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Budget justification note:</a:t>
            </a:r>
            <a:r>
              <a:rPr lang="en-US" sz="1400" dirty="0">
                <a:effectLst/>
                <a:latin typeface="Aptos" panose="020B0004020202020204" pitchFamily="34" charset="0"/>
                <a:ea typeface="Aptos" panose="020B0004020202020204" pitchFamily="34" charset="0"/>
                <a:cs typeface="Times New Roman" panose="02020603050405020304" pitchFamily="18" charset="0"/>
              </a:rPr>
              <a:t> </a:t>
            </a:r>
          </a:p>
          <a:p>
            <a:pPr marL="0" marR="0" algn="just">
              <a:lnSpc>
                <a:spcPct val="115000"/>
              </a:lnSpc>
              <a:spcAft>
                <a:spcPts val="4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Cisco Catalyst 9300 switches were selected due to their support for VLAN segmentation, Layer 3 capabilities, and 10 Gbps uplinks suitable for enterprise environments. Cisco ISR 4451 routers were chosen because they provide reliable WAN connectivity, advanced routing features, and support for secure network operations such as VPN and NAT.</a:t>
            </a:r>
          </a:p>
          <a:p>
            <a:pPr marL="0" marR="0">
              <a:lnSpc>
                <a:spcPct val="115000"/>
              </a:lnSpc>
              <a:spcAft>
                <a:spcPts val="10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10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Pricing Note:</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The device prices used in this estimate are based on average market pricing for Cisco enterprise equipment (Cisco official partners, CDW, and online enterprise hardware vendors). Actual pricing may vary depending on supplier, configuration, and discounts.</a:t>
            </a:r>
          </a:p>
        </p:txBody>
      </p:sp>
    </p:spTree>
    <p:extLst>
      <p:ext uri="{BB962C8B-B14F-4D97-AF65-F5344CB8AC3E}">
        <p14:creationId xmlns:p14="http://schemas.microsoft.com/office/powerpoint/2010/main" val="3374080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06591-E562-848D-B066-74AA26F001F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3D20B6-6024-A772-3AD2-DC72182873EF}"/>
              </a:ext>
            </a:extLst>
          </p:cNvPr>
          <p:cNvSpPr txBox="1"/>
          <p:nvPr/>
        </p:nvSpPr>
        <p:spPr>
          <a:xfrm>
            <a:off x="103239" y="0"/>
            <a:ext cx="11985522" cy="3164649"/>
          </a:xfrm>
          <a:prstGeom prst="rect">
            <a:avLst/>
          </a:prstGeom>
          <a:noFill/>
        </p:spPr>
        <p:txBody>
          <a:bodyPr wrap="square">
            <a:spAutoFit/>
          </a:bodyPr>
          <a:lstStyle/>
          <a:p>
            <a:pPr marL="0" marR="0" algn="ctr">
              <a:lnSpc>
                <a:spcPct val="115000"/>
              </a:lnSpc>
              <a:spcBef>
                <a:spcPts val="2400"/>
              </a:spcBef>
              <a:buNone/>
            </a:pPr>
            <a:r>
              <a:rPr lang="en-US" sz="2800" b="1" kern="0" dirty="0">
                <a:solidFill>
                  <a:srgbClr val="1F4E79"/>
                </a:solidFill>
                <a:effectLst/>
                <a:latin typeface="Calibri" panose="020F0502020204030204" pitchFamily="34" charset="0"/>
                <a:ea typeface="MS Gothic" panose="020B0609070205080204" pitchFamily="49" charset="-128"/>
                <a:cs typeface="Times New Roman" panose="02020603050405020304" pitchFamily="18" charset="0"/>
              </a:rPr>
              <a:t>Part 02: AWS VPC CLOUD NETWORK DESIGN</a:t>
            </a:r>
          </a:p>
          <a:p>
            <a:pPr marL="0" marR="0">
              <a:lnSpc>
                <a:spcPct val="115000"/>
              </a:lnSpc>
              <a:spcBef>
                <a:spcPts val="1000"/>
              </a:spcBef>
              <a:buNone/>
            </a:pPr>
            <a:r>
              <a:rPr lang="en-US" sz="24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Introduction</a:t>
            </a:r>
          </a:p>
          <a:p>
            <a:pPr marL="0" marR="0" algn="just">
              <a:lnSpc>
                <a:spcPct val="115000"/>
              </a:lnSpc>
              <a:spcAft>
                <a:spcPts val="10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This section presents the AWS cloud-based network design for the FMCG organization. Instead of using physical infrastructure, the network is implemented using Amazon Virtual Private Cloud (VPC), which provides a scalable, secure and highly available virtual networking environment.</a:t>
            </a:r>
          </a:p>
          <a:p>
            <a:pPr marL="0" marR="0" algn="just">
              <a:lnSpc>
                <a:spcPct val="115000"/>
              </a:lnSpc>
              <a:spcAft>
                <a:spcPts val="10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The design follows the same logical structure as the Cisco network, where each department is isolated using subnets. AWS services such as EC2, Internet Gateway, Route Tables and Security Groups are used to replicate enterprise-level networking in the cloud.</a:t>
            </a:r>
          </a:p>
        </p:txBody>
      </p:sp>
      <p:sp>
        <p:nvSpPr>
          <p:cNvPr id="5" name="TextBox 4">
            <a:extLst>
              <a:ext uri="{FF2B5EF4-FFF2-40B4-BE49-F238E27FC236}">
                <a16:creationId xmlns:a16="http://schemas.microsoft.com/office/drawing/2014/main" id="{FFB4BC00-DE86-C4C9-2366-B4BFEC75DAFD}"/>
              </a:ext>
            </a:extLst>
          </p:cNvPr>
          <p:cNvSpPr txBox="1"/>
          <p:nvPr/>
        </p:nvSpPr>
        <p:spPr>
          <a:xfrm>
            <a:off x="5073444" y="3232920"/>
            <a:ext cx="1494504"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VPC Created</a:t>
            </a:r>
          </a:p>
        </p:txBody>
      </p:sp>
      <p:pic>
        <p:nvPicPr>
          <p:cNvPr id="6" name="Picture 5">
            <a:extLst>
              <a:ext uri="{FF2B5EF4-FFF2-40B4-BE49-F238E27FC236}">
                <a16:creationId xmlns:a16="http://schemas.microsoft.com/office/drawing/2014/main" id="{0F5D032C-A238-60E7-BC9F-ADEF09B98BC8}"/>
              </a:ext>
            </a:extLst>
          </p:cNvPr>
          <p:cNvPicPr>
            <a:picLocks noChangeAspect="1"/>
          </p:cNvPicPr>
          <p:nvPr/>
        </p:nvPicPr>
        <p:blipFill>
          <a:blip r:embed="rId2"/>
          <a:stretch>
            <a:fillRect/>
          </a:stretch>
        </p:blipFill>
        <p:spPr>
          <a:xfrm>
            <a:off x="2167052" y="3821171"/>
            <a:ext cx="7857896" cy="2707448"/>
          </a:xfrm>
          <a:prstGeom prst="rect">
            <a:avLst/>
          </a:prstGeom>
        </p:spPr>
      </p:pic>
    </p:spTree>
    <p:extLst>
      <p:ext uri="{BB962C8B-B14F-4D97-AF65-F5344CB8AC3E}">
        <p14:creationId xmlns:p14="http://schemas.microsoft.com/office/powerpoint/2010/main" val="1547743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87253-C128-5C7B-53C8-A5F1B8BA6C3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894079E-8953-0955-579E-CD8D6AF81444}"/>
              </a:ext>
            </a:extLst>
          </p:cNvPr>
          <p:cNvSpPr txBox="1"/>
          <p:nvPr/>
        </p:nvSpPr>
        <p:spPr>
          <a:xfrm>
            <a:off x="5375313" y="0"/>
            <a:ext cx="1770643"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SUBNET DESIGN</a:t>
            </a:r>
          </a:p>
        </p:txBody>
      </p:sp>
      <p:graphicFrame>
        <p:nvGraphicFramePr>
          <p:cNvPr id="6" name="Table 5">
            <a:extLst>
              <a:ext uri="{FF2B5EF4-FFF2-40B4-BE49-F238E27FC236}">
                <a16:creationId xmlns:a16="http://schemas.microsoft.com/office/drawing/2014/main" id="{03E786C1-A95C-A795-42F6-E1EE51A621D5}"/>
              </a:ext>
            </a:extLst>
          </p:cNvPr>
          <p:cNvGraphicFramePr>
            <a:graphicFrameLocks noGrp="1"/>
          </p:cNvGraphicFramePr>
          <p:nvPr>
            <p:extLst>
              <p:ext uri="{D42A27DB-BD31-4B8C-83A1-F6EECF244321}">
                <p14:modId xmlns:p14="http://schemas.microsoft.com/office/powerpoint/2010/main" val="2171465374"/>
              </p:ext>
            </p:extLst>
          </p:nvPr>
        </p:nvGraphicFramePr>
        <p:xfrm>
          <a:off x="1277776" y="500424"/>
          <a:ext cx="9459470" cy="2360760"/>
        </p:xfrm>
        <a:graphic>
          <a:graphicData uri="http://schemas.openxmlformats.org/drawingml/2006/table">
            <a:tbl>
              <a:tblPr firstRow="1" firstCol="1" bandRow="1">
                <a:tableStyleId>{5C22544A-7EE6-4342-B048-85BDC9FD1C3A}</a:tableStyleId>
              </a:tblPr>
              <a:tblGrid>
                <a:gridCol w="3320878">
                  <a:extLst>
                    <a:ext uri="{9D8B030D-6E8A-4147-A177-3AD203B41FA5}">
                      <a16:colId xmlns:a16="http://schemas.microsoft.com/office/drawing/2014/main" val="1892817153"/>
                    </a:ext>
                  </a:extLst>
                </a:gridCol>
                <a:gridCol w="3341004">
                  <a:extLst>
                    <a:ext uri="{9D8B030D-6E8A-4147-A177-3AD203B41FA5}">
                      <a16:colId xmlns:a16="http://schemas.microsoft.com/office/drawing/2014/main" val="48369958"/>
                    </a:ext>
                  </a:extLst>
                </a:gridCol>
                <a:gridCol w="2797588">
                  <a:extLst>
                    <a:ext uri="{9D8B030D-6E8A-4147-A177-3AD203B41FA5}">
                      <a16:colId xmlns:a16="http://schemas.microsoft.com/office/drawing/2014/main" val="1127797485"/>
                    </a:ext>
                  </a:extLst>
                </a:gridCol>
              </a:tblGrid>
              <a:tr h="236076">
                <a:tc>
                  <a:txBody>
                    <a:bodyPr/>
                    <a:lstStyle/>
                    <a:p>
                      <a:pPr marL="0" marR="0" algn="ctr">
                        <a:lnSpc>
                          <a:spcPct val="115000"/>
                        </a:lnSpc>
                        <a:spcAft>
                          <a:spcPts val="1000"/>
                        </a:spcAft>
                        <a:buNone/>
                      </a:pPr>
                      <a:r>
                        <a:rPr lang="en-US" sz="1050">
                          <a:effectLst/>
                        </a:rPr>
                        <a:t>Department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a:effectLst/>
                        </a:rPr>
                        <a:t>CIDR</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a:effectLst/>
                        </a:rPr>
                        <a:t>Subnet Type</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478702260"/>
                  </a:ext>
                </a:extLst>
              </a:tr>
              <a:tr h="236076">
                <a:tc>
                  <a:txBody>
                    <a:bodyPr/>
                    <a:lstStyle/>
                    <a:p>
                      <a:pPr marL="0" marR="0" algn="ctr">
                        <a:lnSpc>
                          <a:spcPct val="115000"/>
                        </a:lnSpc>
                        <a:spcAft>
                          <a:spcPts val="1000"/>
                        </a:spcAft>
                        <a:buNone/>
                      </a:pPr>
                      <a:r>
                        <a:rPr lang="en-US" sz="1050">
                          <a:effectLst/>
                        </a:rPr>
                        <a:t>Customer Service</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a:effectLst/>
                        </a:rPr>
                        <a:t>172.16.0.0/22</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a:effectLst/>
                        </a:rPr>
                        <a:t>Private</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15165109"/>
                  </a:ext>
                </a:extLst>
              </a:tr>
              <a:tr h="236076">
                <a:tc>
                  <a:txBody>
                    <a:bodyPr/>
                    <a:lstStyle/>
                    <a:p>
                      <a:pPr marL="0" marR="0" algn="ctr">
                        <a:lnSpc>
                          <a:spcPct val="115000"/>
                        </a:lnSpc>
                        <a:spcAft>
                          <a:spcPts val="1000"/>
                        </a:spcAft>
                        <a:buNone/>
                      </a:pPr>
                      <a:r>
                        <a:rPr lang="en-US" sz="1050">
                          <a:effectLst/>
                        </a:rPr>
                        <a:t>Sales</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a:effectLst/>
                        </a:rPr>
                        <a:t>172.16.4.0/24</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a:effectLst/>
                        </a:rPr>
                        <a:t>Private</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17747771"/>
                  </a:ext>
                </a:extLst>
              </a:tr>
              <a:tr h="236076">
                <a:tc>
                  <a:txBody>
                    <a:bodyPr/>
                    <a:lstStyle/>
                    <a:p>
                      <a:pPr marL="0" marR="0" algn="ctr">
                        <a:lnSpc>
                          <a:spcPct val="115000"/>
                        </a:lnSpc>
                        <a:spcAft>
                          <a:spcPts val="1000"/>
                        </a:spcAft>
                        <a:buNone/>
                      </a:pPr>
                      <a:r>
                        <a:rPr lang="en-US" sz="1050">
                          <a:effectLst/>
                        </a:rPr>
                        <a:t>Quality Control</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a:effectLst/>
                        </a:rPr>
                        <a:t>172.16.5.0/25</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a:effectLst/>
                        </a:rPr>
                        <a:t>Private</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49745881"/>
                  </a:ext>
                </a:extLst>
              </a:tr>
              <a:tr h="236076">
                <a:tc>
                  <a:txBody>
                    <a:bodyPr/>
                    <a:lstStyle/>
                    <a:p>
                      <a:pPr marL="0" marR="0" algn="ctr">
                        <a:lnSpc>
                          <a:spcPct val="115000"/>
                        </a:lnSpc>
                        <a:spcAft>
                          <a:spcPts val="1000"/>
                        </a:spcAft>
                        <a:buNone/>
                      </a:pPr>
                      <a:r>
                        <a:rPr lang="en-US" sz="1050">
                          <a:effectLst/>
                        </a:rPr>
                        <a:t>HR</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a:effectLst/>
                        </a:rPr>
                        <a:t>172.16.5.128/26</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a:effectLst/>
                        </a:rPr>
                        <a:t>Private</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70902742"/>
                  </a:ext>
                </a:extLst>
              </a:tr>
              <a:tr h="236076">
                <a:tc>
                  <a:txBody>
                    <a:bodyPr/>
                    <a:lstStyle/>
                    <a:p>
                      <a:pPr marL="0" marR="0" algn="ctr">
                        <a:lnSpc>
                          <a:spcPct val="115000"/>
                        </a:lnSpc>
                        <a:spcAft>
                          <a:spcPts val="1000"/>
                        </a:spcAft>
                        <a:buNone/>
                      </a:pPr>
                      <a:r>
                        <a:rPr lang="en-US" sz="1050">
                          <a:effectLst/>
                        </a:rPr>
                        <a:t>Marketing</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a:effectLst/>
                        </a:rPr>
                        <a:t>172.16.5.192/26</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a:effectLst/>
                        </a:rPr>
                        <a:t>Public</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840698961"/>
                  </a:ext>
                </a:extLst>
              </a:tr>
              <a:tr h="236076">
                <a:tc>
                  <a:txBody>
                    <a:bodyPr/>
                    <a:lstStyle/>
                    <a:p>
                      <a:pPr marL="0" marR="0" algn="ctr">
                        <a:lnSpc>
                          <a:spcPct val="115000"/>
                        </a:lnSpc>
                        <a:spcAft>
                          <a:spcPts val="1000"/>
                        </a:spcAft>
                        <a:buNone/>
                      </a:pPr>
                      <a:r>
                        <a:rPr lang="en-US" sz="1050">
                          <a:effectLst/>
                        </a:rPr>
                        <a:t>Technical</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a:effectLst/>
                        </a:rPr>
                        <a:t>172.16.6.0/27</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a:effectLst/>
                        </a:rPr>
                        <a:t>Private</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73009734"/>
                  </a:ext>
                </a:extLst>
              </a:tr>
              <a:tr h="236076">
                <a:tc>
                  <a:txBody>
                    <a:bodyPr/>
                    <a:lstStyle/>
                    <a:p>
                      <a:pPr marL="0" marR="0" algn="ctr">
                        <a:lnSpc>
                          <a:spcPct val="115000"/>
                        </a:lnSpc>
                        <a:spcAft>
                          <a:spcPts val="1000"/>
                        </a:spcAft>
                        <a:buNone/>
                      </a:pPr>
                      <a:r>
                        <a:rPr lang="en-US" sz="1050">
                          <a:effectLst/>
                        </a:rPr>
                        <a:t>Financial</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a:effectLst/>
                        </a:rPr>
                        <a:t>172.16.6.32/27</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a:effectLst/>
                        </a:rPr>
                        <a:t>Private</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81158737"/>
                  </a:ext>
                </a:extLst>
              </a:tr>
              <a:tr h="236076">
                <a:tc>
                  <a:txBody>
                    <a:bodyPr/>
                    <a:lstStyle/>
                    <a:p>
                      <a:pPr marL="0" marR="0" algn="ctr">
                        <a:lnSpc>
                          <a:spcPct val="115000"/>
                        </a:lnSpc>
                        <a:spcAft>
                          <a:spcPts val="1000"/>
                        </a:spcAft>
                        <a:buNone/>
                      </a:pPr>
                      <a:r>
                        <a:rPr lang="en-US" sz="1050">
                          <a:effectLst/>
                        </a:rPr>
                        <a:t>Strategy</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a:effectLst/>
                        </a:rPr>
                        <a:t>172.16.6.64/28</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dirty="0">
                          <a:effectLst/>
                        </a:rPr>
                        <a:t>Private</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9976446"/>
                  </a:ext>
                </a:extLst>
              </a:tr>
              <a:tr h="236076">
                <a:tc>
                  <a:txBody>
                    <a:bodyPr/>
                    <a:lstStyle/>
                    <a:p>
                      <a:pPr marL="0" marR="0" algn="ctr">
                        <a:lnSpc>
                          <a:spcPct val="115000"/>
                        </a:lnSpc>
                        <a:spcAft>
                          <a:spcPts val="1000"/>
                        </a:spcAft>
                        <a:buNone/>
                      </a:pPr>
                      <a:r>
                        <a:rPr lang="en-US" sz="1050">
                          <a:effectLst/>
                        </a:rPr>
                        <a:t>Legal</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a:effectLst/>
                        </a:rPr>
                        <a:t>172.16.6.80/28</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050" dirty="0">
                          <a:effectLst/>
                        </a:rPr>
                        <a:t>Private</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57940424"/>
                  </a:ext>
                </a:extLst>
              </a:tr>
            </a:tbl>
          </a:graphicData>
        </a:graphic>
      </p:graphicFrame>
      <p:pic>
        <p:nvPicPr>
          <p:cNvPr id="7" name="Picture 6">
            <a:extLst>
              <a:ext uri="{FF2B5EF4-FFF2-40B4-BE49-F238E27FC236}">
                <a16:creationId xmlns:a16="http://schemas.microsoft.com/office/drawing/2014/main" id="{9E946D97-99FC-788E-339B-591458AF4F0D}"/>
              </a:ext>
            </a:extLst>
          </p:cNvPr>
          <p:cNvPicPr>
            <a:picLocks noChangeAspect="1"/>
          </p:cNvPicPr>
          <p:nvPr/>
        </p:nvPicPr>
        <p:blipFill>
          <a:blip r:embed="rId2"/>
          <a:stretch>
            <a:fillRect/>
          </a:stretch>
        </p:blipFill>
        <p:spPr>
          <a:xfrm>
            <a:off x="1277775" y="3488758"/>
            <a:ext cx="9459470" cy="3243102"/>
          </a:xfrm>
          <a:prstGeom prst="rect">
            <a:avLst/>
          </a:prstGeom>
        </p:spPr>
      </p:pic>
      <p:sp>
        <p:nvSpPr>
          <p:cNvPr id="9" name="TextBox 8">
            <a:extLst>
              <a:ext uri="{FF2B5EF4-FFF2-40B4-BE49-F238E27FC236}">
                <a16:creationId xmlns:a16="http://schemas.microsoft.com/office/drawing/2014/main" id="{CFC1A340-697E-3418-EACF-15BA1EED91C6}"/>
              </a:ext>
            </a:extLst>
          </p:cNvPr>
          <p:cNvSpPr txBox="1"/>
          <p:nvPr/>
        </p:nvSpPr>
        <p:spPr>
          <a:xfrm>
            <a:off x="5276989" y="3096599"/>
            <a:ext cx="1967289"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SUBNET Created</a:t>
            </a:r>
          </a:p>
        </p:txBody>
      </p:sp>
    </p:spTree>
    <p:extLst>
      <p:ext uri="{BB962C8B-B14F-4D97-AF65-F5344CB8AC3E}">
        <p14:creationId xmlns:p14="http://schemas.microsoft.com/office/powerpoint/2010/main" val="2053084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9F8A7-E5A4-68E9-E801-B5C655460F7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B2D44A5-3D98-81CD-9752-64DCC4483253}"/>
              </a:ext>
            </a:extLst>
          </p:cNvPr>
          <p:cNvSpPr txBox="1"/>
          <p:nvPr/>
        </p:nvSpPr>
        <p:spPr>
          <a:xfrm>
            <a:off x="3323303" y="0"/>
            <a:ext cx="5545394"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Internet Connectivity Design - Internet Gateway Created</a:t>
            </a:r>
          </a:p>
        </p:txBody>
      </p:sp>
      <p:pic>
        <p:nvPicPr>
          <p:cNvPr id="4" name="Picture 3">
            <a:extLst>
              <a:ext uri="{FF2B5EF4-FFF2-40B4-BE49-F238E27FC236}">
                <a16:creationId xmlns:a16="http://schemas.microsoft.com/office/drawing/2014/main" id="{B6EABE4F-116D-7489-A56D-27274E5F6C86}"/>
              </a:ext>
            </a:extLst>
          </p:cNvPr>
          <p:cNvPicPr>
            <a:picLocks noChangeAspect="1"/>
          </p:cNvPicPr>
          <p:nvPr/>
        </p:nvPicPr>
        <p:blipFill>
          <a:blip r:embed="rId2"/>
          <a:stretch>
            <a:fillRect/>
          </a:stretch>
        </p:blipFill>
        <p:spPr>
          <a:xfrm>
            <a:off x="1589653" y="392159"/>
            <a:ext cx="9012693" cy="2784691"/>
          </a:xfrm>
          <a:prstGeom prst="rect">
            <a:avLst/>
          </a:prstGeom>
        </p:spPr>
      </p:pic>
      <p:sp>
        <p:nvSpPr>
          <p:cNvPr id="6" name="TextBox 5">
            <a:extLst>
              <a:ext uri="{FF2B5EF4-FFF2-40B4-BE49-F238E27FC236}">
                <a16:creationId xmlns:a16="http://schemas.microsoft.com/office/drawing/2014/main" id="{01F45B3B-B5CA-2E13-D732-DD2F0F64059A}"/>
              </a:ext>
            </a:extLst>
          </p:cNvPr>
          <p:cNvSpPr txBox="1"/>
          <p:nvPr/>
        </p:nvSpPr>
        <p:spPr>
          <a:xfrm>
            <a:off x="4743646" y="3232920"/>
            <a:ext cx="2704708"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Attach to VPC (FMCG-VPC)</a:t>
            </a:r>
          </a:p>
        </p:txBody>
      </p:sp>
      <p:pic>
        <p:nvPicPr>
          <p:cNvPr id="7" name="Picture 6">
            <a:extLst>
              <a:ext uri="{FF2B5EF4-FFF2-40B4-BE49-F238E27FC236}">
                <a16:creationId xmlns:a16="http://schemas.microsoft.com/office/drawing/2014/main" id="{E643D672-BED3-0ED2-A9D9-CEB4F0EAAE7F}"/>
              </a:ext>
            </a:extLst>
          </p:cNvPr>
          <p:cNvPicPr>
            <a:picLocks noChangeAspect="1"/>
          </p:cNvPicPr>
          <p:nvPr/>
        </p:nvPicPr>
        <p:blipFill>
          <a:blip r:embed="rId3"/>
          <a:stretch>
            <a:fillRect/>
          </a:stretch>
        </p:blipFill>
        <p:spPr>
          <a:xfrm>
            <a:off x="1453194" y="3569009"/>
            <a:ext cx="9285610" cy="2784691"/>
          </a:xfrm>
          <a:prstGeom prst="rect">
            <a:avLst/>
          </a:prstGeom>
        </p:spPr>
      </p:pic>
    </p:spTree>
    <p:extLst>
      <p:ext uri="{BB962C8B-B14F-4D97-AF65-F5344CB8AC3E}">
        <p14:creationId xmlns:p14="http://schemas.microsoft.com/office/powerpoint/2010/main" val="2100039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F2D63-BE32-9460-335D-0B45B6A6A41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0634B3C-FD92-6074-59E5-ACAFB04AEED7}"/>
              </a:ext>
            </a:extLst>
          </p:cNvPr>
          <p:cNvSpPr txBox="1"/>
          <p:nvPr/>
        </p:nvSpPr>
        <p:spPr>
          <a:xfrm>
            <a:off x="4670323" y="0"/>
            <a:ext cx="2851354"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Public Route Table Created</a:t>
            </a:r>
          </a:p>
        </p:txBody>
      </p:sp>
      <p:pic>
        <p:nvPicPr>
          <p:cNvPr id="4" name="Picture 3">
            <a:extLst>
              <a:ext uri="{FF2B5EF4-FFF2-40B4-BE49-F238E27FC236}">
                <a16:creationId xmlns:a16="http://schemas.microsoft.com/office/drawing/2014/main" id="{56DB275B-A680-3DD0-E251-7252D6A48AC3}"/>
              </a:ext>
            </a:extLst>
          </p:cNvPr>
          <p:cNvPicPr>
            <a:picLocks noChangeAspect="1"/>
          </p:cNvPicPr>
          <p:nvPr/>
        </p:nvPicPr>
        <p:blipFill>
          <a:blip r:embed="rId2"/>
          <a:stretch>
            <a:fillRect/>
          </a:stretch>
        </p:blipFill>
        <p:spPr>
          <a:xfrm>
            <a:off x="2270022" y="392159"/>
            <a:ext cx="7651955" cy="2890739"/>
          </a:xfrm>
          <a:prstGeom prst="rect">
            <a:avLst/>
          </a:prstGeom>
        </p:spPr>
      </p:pic>
      <p:sp>
        <p:nvSpPr>
          <p:cNvPr id="6" name="TextBox 5">
            <a:extLst>
              <a:ext uri="{FF2B5EF4-FFF2-40B4-BE49-F238E27FC236}">
                <a16:creationId xmlns:a16="http://schemas.microsoft.com/office/drawing/2014/main" id="{9C4E5B15-3573-4DAD-56EA-D4AC1644DDF2}"/>
              </a:ext>
            </a:extLst>
          </p:cNvPr>
          <p:cNvSpPr txBox="1"/>
          <p:nvPr/>
        </p:nvSpPr>
        <p:spPr>
          <a:xfrm>
            <a:off x="4571999" y="3336336"/>
            <a:ext cx="3048000"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Associating Marketing Subnet</a:t>
            </a:r>
          </a:p>
        </p:txBody>
      </p:sp>
      <p:pic>
        <p:nvPicPr>
          <p:cNvPr id="7" name="Picture 6">
            <a:extLst>
              <a:ext uri="{FF2B5EF4-FFF2-40B4-BE49-F238E27FC236}">
                <a16:creationId xmlns:a16="http://schemas.microsoft.com/office/drawing/2014/main" id="{D5FDF47A-F6C9-F9B3-4D4B-2015B7CFCA69}"/>
              </a:ext>
            </a:extLst>
          </p:cNvPr>
          <p:cNvPicPr>
            <a:picLocks noChangeAspect="1"/>
          </p:cNvPicPr>
          <p:nvPr/>
        </p:nvPicPr>
        <p:blipFill>
          <a:blip r:embed="rId3"/>
          <a:stretch>
            <a:fillRect/>
          </a:stretch>
        </p:blipFill>
        <p:spPr>
          <a:xfrm>
            <a:off x="2270023" y="3781934"/>
            <a:ext cx="7651954" cy="2683907"/>
          </a:xfrm>
          <a:prstGeom prst="rect">
            <a:avLst/>
          </a:prstGeom>
        </p:spPr>
      </p:pic>
    </p:spTree>
    <p:extLst>
      <p:ext uri="{BB962C8B-B14F-4D97-AF65-F5344CB8AC3E}">
        <p14:creationId xmlns:p14="http://schemas.microsoft.com/office/powerpoint/2010/main" val="707198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FD8F9-CF8E-6F14-650B-163B1FD119F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895A16-02D4-01BE-934A-F8BDB42D38B5}"/>
              </a:ext>
            </a:extLst>
          </p:cNvPr>
          <p:cNvSpPr txBox="1"/>
          <p:nvPr/>
        </p:nvSpPr>
        <p:spPr>
          <a:xfrm>
            <a:off x="4655574" y="0"/>
            <a:ext cx="2880852"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Private Route Table Created</a:t>
            </a:r>
          </a:p>
        </p:txBody>
      </p:sp>
      <p:pic>
        <p:nvPicPr>
          <p:cNvPr id="4" name="Picture 3">
            <a:extLst>
              <a:ext uri="{FF2B5EF4-FFF2-40B4-BE49-F238E27FC236}">
                <a16:creationId xmlns:a16="http://schemas.microsoft.com/office/drawing/2014/main" id="{B79334A7-BE8C-0A98-6D12-A18999E0DFDB}"/>
              </a:ext>
            </a:extLst>
          </p:cNvPr>
          <p:cNvPicPr>
            <a:picLocks noChangeAspect="1"/>
          </p:cNvPicPr>
          <p:nvPr/>
        </p:nvPicPr>
        <p:blipFill>
          <a:blip r:embed="rId2"/>
          <a:stretch>
            <a:fillRect/>
          </a:stretch>
        </p:blipFill>
        <p:spPr>
          <a:xfrm>
            <a:off x="1925515" y="392159"/>
            <a:ext cx="8340969" cy="3133210"/>
          </a:xfrm>
          <a:prstGeom prst="rect">
            <a:avLst/>
          </a:prstGeom>
        </p:spPr>
      </p:pic>
      <p:pic>
        <p:nvPicPr>
          <p:cNvPr id="5" name="Picture 4">
            <a:extLst>
              <a:ext uri="{FF2B5EF4-FFF2-40B4-BE49-F238E27FC236}">
                <a16:creationId xmlns:a16="http://schemas.microsoft.com/office/drawing/2014/main" id="{72F1EDBC-F61C-2E46-D05B-0058471A9FC3}"/>
              </a:ext>
            </a:extLst>
          </p:cNvPr>
          <p:cNvPicPr>
            <a:picLocks noChangeAspect="1"/>
          </p:cNvPicPr>
          <p:nvPr/>
        </p:nvPicPr>
        <p:blipFill>
          <a:blip r:embed="rId3"/>
          <a:stretch>
            <a:fillRect/>
          </a:stretch>
        </p:blipFill>
        <p:spPr>
          <a:xfrm>
            <a:off x="1925515" y="3665498"/>
            <a:ext cx="8340968" cy="3115387"/>
          </a:xfrm>
          <a:prstGeom prst="rect">
            <a:avLst/>
          </a:prstGeom>
        </p:spPr>
      </p:pic>
    </p:spTree>
    <p:extLst>
      <p:ext uri="{BB962C8B-B14F-4D97-AF65-F5344CB8AC3E}">
        <p14:creationId xmlns:p14="http://schemas.microsoft.com/office/powerpoint/2010/main" val="1113086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D50A1-DE6E-2C51-2676-74A927FEBE3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14FFE1F-909A-50A7-D724-F73A11A36456}"/>
              </a:ext>
            </a:extLst>
          </p:cNvPr>
          <p:cNvSpPr txBox="1"/>
          <p:nvPr/>
        </p:nvSpPr>
        <p:spPr>
          <a:xfrm>
            <a:off x="4959955" y="0"/>
            <a:ext cx="2272089"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NAT Gateway Created</a:t>
            </a:r>
          </a:p>
        </p:txBody>
      </p:sp>
      <p:pic>
        <p:nvPicPr>
          <p:cNvPr id="4" name="Picture 3">
            <a:extLst>
              <a:ext uri="{FF2B5EF4-FFF2-40B4-BE49-F238E27FC236}">
                <a16:creationId xmlns:a16="http://schemas.microsoft.com/office/drawing/2014/main" id="{2D9E5F18-239D-5745-FD09-2CAA41281EE9}"/>
              </a:ext>
            </a:extLst>
          </p:cNvPr>
          <p:cNvPicPr>
            <a:picLocks noChangeAspect="1"/>
          </p:cNvPicPr>
          <p:nvPr/>
        </p:nvPicPr>
        <p:blipFill>
          <a:blip r:embed="rId2"/>
          <a:stretch>
            <a:fillRect/>
          </a:stretch>
        </p:blipFill>
        <p:spPr>
          <a:xfrm>
            <a:off x="1267348" y="395379"/>
            <a:ext cx="9657303" cy="2619647"/>
          </a:xfrm>
          <a:prstGeom prst="rect">
            <a:avLst/>
          </a:prstGeom>
        </p:spPr>
      </p:pic>
      <p:sp>
        <p:nvSpPr>
          <p:cNvPr id="6" name="TextBox 5">
            <a:extLst>
              <a:ext uri="{FF2B5EF4-FFF2-40B4-BE49-F238E27FC236}">
                <a16:creationId xmlns:a16="http://schemas.microsoft.com/office/drawing/2014/main" id="{90E5C392-6839-854E-4B10-DCF41C89B762}"/>
              </a:ext>
            </a:extLst>
          </p:cNvPr>
          <p:cNvSpPr txBox="1"/>
          <p:nvPr/>
        </p:nvSpPr>
        <p:spPr>
          <a:xfrm>
            <a:off x="5087775" y="3646895"/>
            <a:ext cx="2144269"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Route table update</a:t>
            </a:r>
          </a:p>
        </p:txBody>
      </p:sp>
      <p:pic>
        <p:nvPicPr>
          <p:cNvPr id="7" name="Picture 6">
            <a:extLst>
              <a:ext uri="{FF2B5EF4-FFF2-40B4-BE49-F238E27FC236}">
                <a16:creationId xmlns:a16="http://schemas.microsoft.com/office/drawing/2014/main" id="{6752F839-F2A1-2143-301D-04DB244333F4}"/>
              </a:ext>
            </a:extLst>
          </p:cNvPr>
          <p:cNvPicPr>
            <a:picLocks noChangeAspect="1"/>
          </p:cNvPicPr>
          <p:nvPr/>
        </p:nvPicPr>
        <p:blipFill>
          <a:blip r:embed="rId3"/>
          <a:stretch>
            <a:fillRect/>
          </a:stretch>
        </p:blipFill>
        <p:spPr>
          <a:xfrm>
            <a:off x="1252862" y="4148564"/>
            <a:ext cx="9686275" cy="1878268"/>
          </a:xfrm>
          <a:prstGeom prst="rect">
            <a:avLst/>
          </a:prstGeom>
        </p:spPr>
      </p:pic>
    </p:spTree>
    <p:extLst>
      <p:ext uri="{BB962C8B-B14F-4D97-AF65-F5344CB8AC3E}">
        <p14:creationId xmlns:p14="http://schemas.microsoft.com/office/powerpoint/2010/main" val="3025603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EE16B-60C7-7ED1-C204-DE01A9DBB68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3DF6E4-D022-FDD1-AAF5-CF5A6BBEC37C}"/>
              </a:ext>
            </a:extLst>
          </p:cNvPr>
          <p:cNvSpPr txBox="1"/>
          <p:nvPr/>
        </p:nvSpPr>
        <p:spPr>
          <a:xfrm>
            <a:off x="108153" y="0"/>
            <a:ext cx="12083847" cy="1517980"/>
          </a:xfrm>
          <a:prstGeom prst="rect">
            <a:avLst/>
          </a:prstGeom>
          <a:noFill/>
        </p:spPr>
        <p:txBody>
          <a:bodyPr wrap="square">
            <a:spAutoFit/>
          </a:bodyPr>
          <a:lstStyle/>
          <a:p>
            <a:pPr marL="0" marR="0" algn="ctr">
              <a:lnSpc>
                <a:spcPct val="115000"/>
              </a:lnSpc>
              <a:spcBef>
                <a:spcPts val="1000"/>
              </a:spcBef>
              <a:buNone/>
            </a:pPr>
            <a:r>
              <a:rPr lang="en-US" b="1" u="sng"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EC2 Deployment</a:t>
            </a:r>
          </a:p>
          <a:p>
            <a:pPr marL="0" marR="0" algn="just">
              <a:lnSpc>
                <a:spcPct val="115000"/>
              </a:lnSpc>
              <a:spcAft>
                <a:spcPts val="1000"/>
              </a:spcAft>
              <a:buNone/>
            </a:pP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EC2 instances are deployed within the VPC to simulate departmental systems. Each department is assigned an EC2 instance inside its respective subnet. The Marketing department is placed in a public subnet with a public IP, while all other departments are deployed in private subnets without direct internet access. These private instances access the internet through a NAT Gateway for updates and external communication.</a:t>
            </a:r>
          </a:p>
        </p:txBody>
      </p:sp>
      <p:graphicFrame>
        <p:nvGraphicFramePr>
          <p:cNvPr id="4" name="Table 3">
            <a:extLst>
              <a:ext uri="{FF2B5EF4-FFF2-40B4-BE49-F238E27FC236}">
                <a16:creationId xmlns:a16="http://schemas.microsoft.com/office/drawing/2014/main" id="{0E86DED2-F30E-8280-3AE6-DBAA41586A57}"/>
              </a:ext>
            </a:extLst>
          </p:cNvPr>
          <p:cNvGraphicFramePr>
            <a:graphicFrameLocks noGrp="1"/>
          </p:cNvGraphicFramePr>
          <p:nvPr>
            <p:extLst>
              <p:ext uri="{D42A27DB-BD31-4B8C-83A1-F6EECF244321}">
                <p14:modId xmlns:p14="http://schemas.microsoft.com/office/powerpoint/2010/main" val="3647791484"/>
              </p:ext>
            </p:extLst>
          </p:nvPr>
        </p:nvGraphicFramePr>
        <p:xfrm>
          <a:off x="321801" y="1709867"/>
          <a:ext cx="11548396" cy="2153150"/>
        </p:xfrm>
        <a:graphic>
          <a:graphicData uri="http://schemas.openxmlformats.org/drawingml/2006/table">
            <a:tbl>
              <a:tblPr firstRow="1" firstCol="1" bandRow="1">
                <a:tableStyleId>{5C22544A-7EE6-4342-B048-85BDC9FD1C3A}</a:tableStyleId>
              </a:tblPr>
              <a:tblGrid>
                <a:gridCol w="4054224">
                  <a:extLst>
                    <a:ext uri="{9D8B030D-6E8A-4147-A177-3AD203B41FA5}">
                      <a16:colId xmlns:a16="http://schemas.microsoft.com/office/drawing/2014/main" val="3708320892"/>
                    </a:ext>
                  </a:extLst>
                </a:gridCol>
                <a:gridCol w="4078795">
                  <a:extLst>
                    <a:ext uri="{9D8B030D-6E8A-4147-A177-3AD203B41FA5}">
                      <a16:colId xmlns:a16="http://schemas.microsoft.com/office/drawing/2014/main" val="2536668727"/>
                    </a:ext>
                  </a:extLst>
                </a:gridCol>
                <a:gridCol w="3415377">
                  <a:extLst>
                    <a:ext uri="{9D8B030D-6E8A-4147-A177-3AD203B41FA5}">
                      <a16:colId xmlns:a16="http://schemas.microsoft.com/office/drawing/2014/main" val="1441346233"/>
                    </a:ext>
                  </a:extLst>
                </a:gridCol>
              </a:tblGrid>
              <a:tr h="215315">
                <a:tc>
                  <a:txBody>
                    <a:bodyPr/>
                    <a:lstStyle/>
                    <a:p>
                      <a:pPr marL="0" marR="0" algn="ctr">
                        <a:lnSpc>
                          <a:spcPct val="115000"/>
                        </a:lnSpc>
                        <a:spcAft>
                          <a:spcPts val="1000"/>
                        </a:spcAft>
                        <a:buNone/>
                      </a:pPr>
                      <a:r>
                        <a:rPr lang="en-US" sz="1100">
                          <a:effectLst/>
                        </a:rPr>
                        <a:t>Department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Subnet Type</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EC2 Access</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52478639"/>
                  </a:ext>
                </a:extLst>
              </a:tr>
              <a:tr h="215315">
                <a:tc>
                  <a:txBody>
                    <a:bodyPr/>
                    <a:lstStyle/>
                    <a:p>
                      <a:pPr marL="0" marR="0" algn="ctr">
                        <a:lnSpc>
                          <a:spcPct val="115000"/>
                        </a:lnSpc>
                        <a:spcAft>
                          <a:spcPts val="1000"/>
                        </a:spcAft>
                        <a:buNone/>
                      </a:pPr>
                      <a:r>
                        <a:rPr lang="en-US" sz="1100">
                          <a:effectLst/>
                        </a:rPr>
                        <a:t>Marketing</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Public Subnet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Public EC2 (with public IP)</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46673377"/>
                  </a:ext>
                </a:extLst>
              </a:tr>
              <a:tr h="215315">
                <a:tc>
                  <a:txBody>
                    <a:bodyPr/>
                    <a:lstStyle/>
                    <a:p>
                      <a:pPr marL="0" marR="0" algn="ctr">
                        <a:lnSpc>
                          <a:spcPct val="115000"/>
                        </a:lnSpc>
                        <a:spcAft>
                          <a:spcPts val="1000"/>
                        </a:spcAft>
                        <a:buNone/>
                      </a:pPr>
                      <a:r>
                        <a:rPr lang="en-US" sz="1100">
                          <a:effectLst/>
                        </a:rPr>
                        <a:t>Customer Service</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Private Subnet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Private EC2</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37690202"/>
                  </a:ext>
                </a:extLst>
              </a:tr>
              <a:tr h="215315">
                <a:tc>
                  <a:txBody>
                    <a:bodyPr/>
                    <a:lstStyle/>
                    <a:p>
                      <a:pPr marL="0" marR="0" algn="ctr">
                        <a:lnSpc>
                          <a:spcPct val="115000"/>
                        </a:lnSpc>
                        <a:spcAft>
                          <a:spcPts val="1000"/>
                        </a:spcAft>
                        <a:buNone/>
                      </a:pPr>
                      <a:r>
                        <a:rPr lang="en-US" sz="1100">
                          <a:effectLst/>
                        </a:rPr>
                        <a:t>Sales</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Private Subnet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Private EC2</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09436188"/>
                  </a:ext>
                </a:extLst>
              </a:tr>
              <a:tr h="215315">
                <a:tc>
                  <a:txBody>
                    <a:bodyPr/>
                    <a:lstStyle/>
                    <a:p>
                      <a:pPr marL="0" marR="0" algn="ctr">
                        <a:lnSpc>
                          <a:spcPct val="115000"/>
                        </a:lnSpc>
                        <a:spcAft>
                          <a:spcPts val="1000"/>
                        </a:spcAft>
                        <a:buNone/>
                      </a:pPr>
                      <a:r>
                        <a:rPr lang="en-US" sz="1100">
                          <a:effectLst/>
                        </a:rPr>
                        <a:t>Quality Control</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Private Subnet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Private EC2</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442948024"/>
                  </a:ext>
                </a:extLst>
              </a:tr>
              <a:tr h="215315">
                <a:tc>
                  <a:txBody>
                    <a:bodyPr/>
                    <a:lstStyle/>
                    <a:p>
                      <a:pPr marL="0" marR="0" algn="ctr">
                        <a:lnSpc>
                          <a:spcPct val="115000"/>
                        </a:lnSpc>
                        <a:spcAft>
                          <a:spcPts val="1000"/>
                        </a:spcAft>
                        <a:buNone/>
                      </a:pPr>
                      <a:r>
                        <a:rPr lang="en-US" sz="1100">
                          <a:effectLst/>
                        </a:rPr>
                        <a:t>HR</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Private Subnet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Private EC2</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35191182"/>
                  </a:ext>
                </a:extLst>
              </a:tr>
              <a:tr h="215315">
                <a:tc>
                  <a:txBody>
                    <a:bodyPr/>
                    <a:lstStyle/>
                    <a:p>
                      <a:pPr marL="0" marR="0" algn="ctr">
                        <a:lnSpc>
                          <a:spcPct val="115000"/>
                        </a:lnSpc>
                        <a:spcAft>
                          <a:spcPts val="1000"/>
                        </a:spcAft>
                        <a:buNone/>
                      </a:pPr>
                      <a:r>
                        <a:rPr lang="en-US" sz="1100">
                          <a:effectLst/>
                        </a:rPr>
                        <a:t>Technical</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Private Subnet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Private EC2</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83075551"/>
                  </a:ext>
                </a:extLst>
              </a:tr>
              <a:tr h="215315">
                <a:tc>
                  <a:txBody>
                    <a:bodyPr/>
                    <a:lstStyle/>
                    <a:p>
                      <a:pPr marL="0" marR="0" algn="ctr">
                        <a:lnSpc>
                          <a:spcPct val="115000"/>
                        </a:lnSpc>
                        <a:spcAft>
                          <a:spcPts val="1000"/>
                        </a:spcAft>
                        <a:buNone/>
                      </a:pPr>
                      <a:r>
                        <a:rPr lang="en-US" sz="1100">
                          <a:effectLst/>
                        </a:rPr>
                        <a:t>Financial</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Private Subnet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dirty="0">
                          <a:effectLst/>
                        </a:rPr>
                        <a:t>Private EC2</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31323815"/>
                  </a:ext>
                </a:extLst>
              </a:tr>
              <a:tr h="215315">
                <a:tc>
                  <a:txBody>
                    <a:bodyPr/>
                    <a:lstStyle/>
                    <a:p>
                      <a:pPr marL="0" marR="0" algn="ctr">
                        <a:lnSpc>
                          <a:spcPct val="115000"/>
                        </a:lnSpc>
                        <a:spcAft>
                          <a:spcPts val="1000"/>
                        </a:spcAft>
                        <a:buNone/>
                      </a:pPr>
                      <a:r>
                        <a:rPr lang="en-US" sz="1100">
                          <a:effectLst/>
                        </a:rPr>
                        <a:t>Strategy</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Private Subnet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Private EC2</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91461084"/>
                  </a:ext>
                </a:extLst>
              </a:tr>
              <a:tr h="215315">
                <a:tc>
                  <a:txBody>
                    <a:bodyPr/>
                    <a:lstStyle/>
                    <a:p>
                      <a:pPr marL="0" marR="0" algn="ctr">
                        <a:lnSpc>
                          <a:spcPct val="115000"/>
                        </a:lnSpc>
                        <a:spcAft>
                          <a:spcPts val="1000"/>
                        </a:spcAft>
                        <a:buNone/>
                      </a:pPr>
                      <a:r>
                        <a:rPr lang="en-US" sz="1100">
                          <a:effectLst/>
                        </a:rPr>
                        <a:t>Legal</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Private Subnet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dirty="0">
                          <a:effectLst/>
                        </a:rPr>
                        <a:t>Private EC2</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05167126"/>
                  </a:ext>
                </a:extLst>
              </a:tr>
            </a:tbl>
          </a:graphicData>
        </a:graphic>
      </p:graphicFrame>
      <p:sp>
        <p:nvSpPr>
          <p:cNvPr id="6" name="TextBox 5">
            <a:extLst>
              <a:ext uri="{FF2B5EF4-FFF2-40B4-BE49-F238E27FC236}">
                <a16:creationId xmlns:a16="http://schemas.microsoft.com/office/drawing/2014/main" id="{19017DF7-C152-A17C-190D-3839D8FB9278}"/>
              </a:ext>
            </a:extLst>
          </p:cNvPr>
          <p:cNvSpPr txBox="1"/>
          <p:nvPr/>
        </p:nvSpPr>
        <p:spPr>
          <a:xfrm>
            <a:off x="5223385" y="4685637"/>
            <a:ext cx="1853381"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Key Pair Created</a:t>
            </a:r>
          </a:p>
        </p:txBody>
      </p:sp>
      <p:pic>
        <p:nvPicPr>
          <p:cNvPr id="7" name="Picture 6">
            <a:extLst>
              <a:ext uri="{FF2B5EF4-FFF2-40B4-BE49-F238E27FC236}">
                <a16:creationId xmlns:a16="http://schemas.microsoft.com/office/drawing/2014/main" id="{6A8912B2-1235-82A7-21DF-D9F56CD7EDDB}"/>
              </a:ext>
            </a:extLst>
          </p:cNvPr>
          <p:cNvPicPr>
            <a:picLocks noChangeAspect="1"/>
          </p:cNvPicPr>
          <p:nvPr/>
        </p:nvPicPr>
        <p:blipFill>
          <a:blip r:embed="rId2"/>
          <a:stretch>
            <a:fillRect/>
          </a:stretch>
        </p:blipFill>
        <p:spPr>
          <a:xfrm>
            <a:off x="1169814" y="5155342"/>
            <a:ext cx="9852371" cy="1506276"/>
          </a:xfrm>
          <a:prstGeom prst="rect">
            <a:avLst/>
          </a:prstGeom>
        </p:spPr>
      </p:pic>
      <p:sp>
        <p:nvSpPr>
          <p:cNvPr id="9" name="TextBox 8">
            <a:extLst>
              <a:ext uri="{FF2B5EF4-FFF2-40B4-BE49-F238E27FC236}">
                <a16:creationId xmlns:a16="http://schemas.microsoft.com/office/drawing/2014/main" id="{5F0ED7F5-B88C-4EE1-518E-2B1D499266BC}"/>
              </a:ext>
            </a:extLst>
          </p:cNvPr>
          <p:cNvSpPr txBox="1"/>
          <p:nvPr/>
        </p:nvSpPr>
        <p:spPr>
          <a:xfrm>
            <a:off x="321801" y="4148171"/>
            <a:ext cx="11548396" cy="575670"/>
          </a:xfrm>
          <a:prstGeom prst="rect">
            <a:avLst/>
          </a:prstGeom>
          <a:noFill/>
        </p:spPr>
        <p:txBody>
          <a:bodyPr wrap="square">
            <a:spAutoFit/>
          </a:bodyPr>
          <a:lstStyle/>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Public EC2 instances are directly reachable from the internet, while private EC2 instances are protected and only accessible within the VPC or through secure methods such as a bastion host or VPN.</a:t>
            </a:r>
          </a:p>
        </p:txBody>
      </p:sp>
    </p:spTree>
    <p:extLst>
      <p:ext uri="{BB962C8B-B14F-4D97-AF65-F5344CB8AC3E}">
        <p14:creationId xmlns:p14="http://schemas.microsoft.com/office/powerpoint/2010/main" val="2683872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916BA-CDBA-77B1-3571-4A3783A1AD4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0758C9F-8018-CD29-DAC1-1B2E613CAA13}"/>
              </a:ext>
            </a:extLst>
          </p:cNvPr>
          <p:cNvSpPr txBox="1"/>
          <p:nvPr/>
        </p:nvSpPr>
        <p:spPr>
          <a:xfrm>
            <a:off x="4572000" y="79225"/>
            <a:ext cx="3048000"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Public Security Group Created</a:t>
            </a:r>
          </a:p>
        </p:txBody>
      </p:sp>
      <p:pic>
        <p:nvPicPr>
          <p:cNvPr id="4" name="Picture 3">
            <a:extLst>
              <a:ext uri="{FF2B5EF4-FFF2-40B4-BE49-F238E27FC236}">
                <a16:creationId xmlns:a16="http://schemas.microsoft.com/office/drawing/2014/main" id="{B40E6225-85B3-EA69-53A9-7358F33CAF66}"/>
              </a:ext>
            </a:extLst>
          </p:cNvPr>
          <p:cNvPicPr>
            <a:picLocks noChangeAspect="1"/>
          </p:cNvPicPr>
          <p:nvPr/>
        </p:nvPicPr>
        <p:blipFill>
          <a:blip r:embed="rId2"/>
          <a:stretch>
            <a:fillRect/>
          </a:stretch>
        </p:blipFill>
        <p:spPr>
          <a:xfrm>
            <a:off x="3005713" y="471384"/>
            <a:ext cx="6180574" cy="2665703"/>
          </a:xfrm>
          <a:prstGeom prst="rect">
            <a:avLst/>
          </a:prstGeom>
        </p:spPr>
      </p:pic>
      <p:sp>
        <p:nvSpPr>
          <p:cNvPr id="6" name="TextBox 5">
            <a:extLst>
              <a:ext uri="{FF2B5EF4-FFF2-40B4-BE49-F238E27FC236}">
                <a16:creationId xmlns:a16="http://schemas.microsoft.com/office/drawing/2014/main" id="{861D4850-B405-ACD8-2F91-36C2EF22D88A}"/>
              </a:ext>
            </a:extLst>
          </p:cNvPr>
          <p:cNvSpPr txBox="1"/>
          <p:nvPr/>
        </p:nvSpPr>
        <p:spPr>
          <a:xfrm>
            <a:off x="4507672" y="3328755"/>
            <a:ext cx="3176656"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Private Security Group Created</a:t>
            </a:r>
          </a:p>
        </p:txBody>
      </p:sp>
      <p:pic>
        <p:nvPicPr>
          <p:cNvPr id="7" name="Picture 6">
            <a:extLst>
              <a:ext uri="{FF2B5EF4-FFF2-40B4-BE49-F238E27FC236}">
                <a16:creationId xmlns:a16="http://schemas.microsoft.com/office/drawing/2014/main" id="{75309B95-1432-D22A-0BB6-095DEB832FF7}"/>
              </a:ext>
            </a:extLst>
          </p:cNvPr>
          <p:cNvPicPr>
            <a:picLocks noChangeAspect="1"/>
          </p:cNvPicPr>
          <p:nvPr/>
        </p:nvPicPr>
        <p:blipFill>
          <a:blip r:embed="rId3"/>
          <a:stretch>
            <a:fillRect/>
          </a:stretch>
        </p:blipFill>
        <p:spPr>
          <a:xfrm>
            <a:off x="3005713" y="3729409"/>
            <a:ext cx="6180574" cy="2770033"/>
          </a:xfrm>
          <a:prstGeom prst="rect">
            <a:avLst/>
          </a:prstGeom>
        </p:spPr>
      </p:pic>
    </p:spTree>
    <p:extLst>
      <p:ext uri="{BB962C8B-B14F-4D97-AF65-F5344CB8AC3E}">
        <p14:creationId xmlns:p14="http://schemas.microsoft.com/office/powerpoint/2010/main" val="25163352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73FA2-3270-B674-7957-E692B06C1FA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5B2FBB5-F4E4-AFB9-A30B-BBCADF99BE01}"/>
              </a:ext>
            </a:extLst>
          </p:cNvPr>
          <p:cNvSpPr txBox="1"/>
          <p:nvPr/>
        </p:nvSpPr>
        <p:spPr>
          <a:xfrm>
            <a:off x="5083277" y="74308"/>
            <a:ext cx="2025445"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All the Instances</a:t>
            </a:r>
          </a:p>
        </p:txBody>
      </p:sp>
      <p:pic>
        <p:nvPicPr>
          <p:cNvPr id="6" name="Picture 5">
            <a:extLst>
              <a:ext uri="{FF2B5EF4-FFF2-40B4-BE49-F238E27FC236}">
                <a16:creationId xmlns:a16="http://schemas.microsoft.com/office/drawing/2014/main" id="{0831986F-D154-AA62-BF78-709478B63CB6}"/>
              </a:ext>
            </a:extLst>
          </p:cNvPr>
          <p:cNvPicPr>
            <a:picLocks noChangeAspect="1"/>
          </p:cNvPicPr>
          <p:nvPr/>
        </p:nvPicPr>
        <p:blipFill>
          <a:blip r:embed="rId2"/>
          <a:stretch>
            <a:fillRect/>
          </a:stretch>
        </p:blipFill>
        <p:spPr>
          <a:xfrm>
            <a:off x="2140731" y="466467"/>
            <a:ext cx="7910538" cy="2844751"/>
          </a:xfrm>
          <a:prstGeom prst="rect">
            <a:avLst/>
          </a:prstGeom>
        </p:spPr>
      </p:pic>
      <p:sp>
        <p:nvSpPr>
          <p:cNvPr id="8" name="TextBox 7">
            <a:extLst>
              <a:ext uri="{FF2B5EF4-FFF2-40B4-BE49-F238E27FC236}">
                <a16:creationId xmlns:a16="http://schemas.microsoft.com/office/drawing/2014/main" id="{BD130F59-CFFC-3CEB-51A4-19EA491FAC91}"/>
              </a:ext>
            </a:extLst>
          </p:cNvPr>
          <p:cNvSpPr txBox="1"/>
          <p:nvPr/>
        </p:nvSpPr>
        <p:spPr>
          <a:xfrm>
            <a:off x="3966896" y="3311218"/>
            <a:ext cx="4258205"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Connect to Public EC2 (Marketing-Server)</a:t>
            </a:r>
          </a:p>
        </p:txBody>
      </p:sp>
      <p:pic>
        <p:nvPicPr>
          <p:cNvPr id="9" name="Picture 8">
            <a:extLst>
              <a:ext uri="{FF2B5EF4-FFF2-40B4-BE49-F238E27FC236}">
                <a16:creationId xmlns:a16="http://schemas.microsoft.com/office/drawing/2014/main" id="{E3067910-686E-9ABA-B1F4-69C49F59AAAC}"/>
              </a:ext>
            </a:extLst>
          </p:cNvPr>
          <p:cNvPicPr>
            <a:picLocks noChangeAspect="1"/>
          </p:cNvPicPr>
          <p:nvPr/>
        </p:nvPicPr>
        <p:blipFill>
          <a:blip r:embed="rId3"/>
          <a:stretch>
            <a:fillRect/>
          </a:stretch>
        </p:blipFill>
        <p:spPr>
          <a:xfrm>
            <a:off x="2458407" y="3703377"/>
            <a:ext cx="7275186" cy="3120713"/>
          </a:xfrm>
          <a:prstGeom prst="rect">
            <a:avLst/>
          </a:prstGeom>
        </p:spPr>
      </p:pic>
    </p:spTree>
    <p:extLst>
      <p:ext uri="{BB962C8B-B14F-4D97-AF65-F5344CB8AC3E}">
        <p14:creationId xmlns:p14="http://schemas.microsoft.com/office/powerpoint/2010/main" val="1569126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6620E-8558-D924-48C7-ACCDA4EC4D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63E95AC-52DA-96B7-2E00-2F99B43AB5EE}"/>
              </a:ext>
            </a:extLst>
          </p:cNvPr>
          <p:cNvSpPr txBox="1"/>
          <p:nvPr/>
        </p:nvSpPr>
        <p:spPr>
          <a:xfrm>
            <a:off x="304800" y="116652"/>
            <a:ext cx="6096000" cy="1713482"/>
          </a:xfrm>
          <a:prstGeom prst="rect">
            <a:avLst/>
          </a:prstGeom>
          <a:noFill/>
        </p:spPr>
        <p:txBody>
          <a:bodyPr wrap="square">
            <a:spAutoFit/>
          </a:bodyPr>
          <a:lstStyle/>
          <a:p>
            <a:pPr marL="0" marR="0">
              <a:lnSpc>
                <a:spcPct val="115000"/>
              </a:lnSpc>
              <a:spcBef>
                <a:spcPts val="1000"/>
              </a:spcBef>
              <a:buNone/>
            </a:pPr>
            <a:r>
              <a:rPr lang="en-US" sz="24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Connect to Private EC2</a:t>
            </a:r>
          </a:p>
          <a:p>
            <a:pPr marL="0" marR="0">
              <a:lnSpc>
                <a:spcPct val="115000"/>
              </a:lnSpc>
              <a:spcAft>
                <a:spcPts val="10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Run SCP command in </a:t>
            </a:r>
            <a:r>
              <a:rPr lang="en-US" sz="1800" b="1" dirty="0">
                <a:effectLst/>
                <a:latin typeface="Aptos" panose="020B0004020202020204" pitchFamily="34" charset="0"/>
                <a:ea typeface="Aptos" panose="020B0004020202020204" pitchFamily="34" charset="0"/>
                <a:cs typeface="Times New Roman" panose="02020603050405020304" pitchFamily="18" charset="0"/>
              </a:rPr>
              <a:t>Run &gt; CMD</a:t>
            </a: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1000"/>
              </a:spcAft>
              <a:buNone/>
            </a:pPr>
            <a:r>
              <a:rPr lang="en-US" sz="1800" b="1" dirty="0">
                <a:effectLst/>
                <a:latin typeface="Aptos" panose="020B0004020202020204" pitchFamily="34" charset="0"/>
                <a:ea typeface="Aptos" panose="020B0004020202020204" pitchFamily="34" charset="0"/>
                <a:cs typeface="Times New Roman" panose="02020603050405020304" pitchFamily="18" charset="0"/>
              </a:rPr>
              <a:t>FMCG-</a:t>
            </a:r>
            <a:r>
              <a:rPr lang="en-US" sz="1800" b="1" dirty="0" err="1">
                <a:effectLst/>
                <a:latin typeface="Aptos" panose="020B0004020202020204" pitchFamily="34" charset="0"/>
                <a:ea typeface="Aptos" panose="020B0004020202020204" pitchFamily="34" charset="0"/>
                <a:cs typeface="Times New Roman" panose="02020603050405020304" pitchFamily="18" charset="0"/>
              </a:rPr>
              <a:t>Key.pem</a:t>
            </a:r>
            <a:r>
              <a:rPr lang="en-US" sz="1800" dirty="0">
                <a:effectLst/>
                <a:latin typeface="Aptos" panose="020B0004020202020204" pitchFamily="34" charset="0"/>
                <a:ea typeface="Aptos" panose="020B0004020202020204" pitchFamily="34" charset="0"/>
                <a:cs typeface="Times New Roman" panose="02020603050405020304" pitchFamily="18" charset="0"/>
              </a:rPr>
              <a:t>, located in </a:t>
            </a:r>
            <a:r>
              <a:rPr lang="en-US" sz="1800" b="1" dirty="0">
                <a:effectLst/>
                <a:latin typeface="Aptos" panose="020B0004020202020204" pitchFamily="34" charset="0"/>
                <a:ea typeface="Aptos" panose="020B0004020202020204" pitchFamily="34" charset="0"/>
                <a:cs typeface="Times New Roman" panose="02020603050405020304" pitchFamily="18" charset="0"/>
              </a:rPr>
              <a:t>Desktop</a:t>
            </a:r>
            <a:r>
              <a:rPr lang="en-US" sz="18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15000"/>
              </a:lnSpc>
              <a:spcAft>
                <a:spcPts val="10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Upload and Run</a:t>
            </a:r>
            <a:r>
              <a:rPr lang="en-US" sz="1800" b="1" dirty="0">
                <a:effectLst/>
                <a:latin typeface="Aptos" panose="020B0004020202020204" pitchFamily="34" charset="0"/>
                <a:ea typeface="Aptos" panose="020B0004020202020204" pitchFamily="34" charset="0"/>
                <a:cs typeface="Times New Roman" panose="02020603050405020304" pitchFamily="18" charset="0"/>
              </a:rPr>
              <a:t> FMCG-</a:t>
            </a:r>
            <a:r>
              <a:rPr lang="en-US" sz="1800" b="1" dirty="0" err="1">
                <a:effectLst/>
                <a:latin typeface="Aptos" panose="020B0004020202020204" pitchFamily="34" charset="0"/>
                <a:ea typeface="Aptos" panose="020B0004020202020204" pitchFamily="34" charset="0"/>
                <a:cs typeface="Times New Roman" panose="02020603050405020304" pitchFamily="18" charset="0"/>
              </a:rPr>
              <a:t>Key.pem</a:t>
            </a:r>
            <a:r>
              <a:rPr lang="en-US" sz="1800" dirty="0">
                <a:effectLst/>
                <a:latin typeface="Aptos" panose="020B0004020202020204" pitchFamily="34" charset="0"/>
                <a:ea typeface="Aptos" panose="020B0004020202020204" pitchFamily="34" charset="0"/>
                <a:cs typeface="Times New Roman" panose="02020603050405020304" pitchFamily="18" charset="0"/>
              </a:rPr>
              <a:t> from </a:t>
            </a:r>
            <a:r>
              <a:rPr lang="en-US" sz="1800" b="1" dirty="0">
                <a:effectLst/>
                <a:latin typeface="Aptos" panose="020B0004020202020204" pitchFamily="34" charset="0"/>
                <a:ea typeface="Aptos" panose="020B0004020202020204" pitchFamily="34" charset="0"/>
                <a:cs typeface="Times New Roman" panose="02020603050405020304" pitchFamily="18" charset="0"/>
              </a:rPr>
              <a:t>Desktop</a:t>
            </a: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18796FC3-D711-BCE4-B643-61E8066AF318}"/>
              </a:ext>
            </a:extLst>
          </p:cNvPr>
          <p:cNvPicPr>
            <a:picLocks noChangeAspect="1"/>
          </p:cNvPicPr>
          <p:nvPr/>
        </p:nvPicPr>
        <p:blipFill>
          <a:blip r:embed="rId2"/>
          <a:stretch>
            <a:fillRect/>
          </a:stretch>
        </p:blipFill>
        <p:spPr>
          <a:xfrm>
            <a:off x="5808407" y="116652"/>
            <a:ext cx="5943600" cy="1947545"/>
          </a:xfrm>
          <a:prstGeom prst="rect">
            <a:avLst/>
          </a:prstGeom>
        </p:spPr>
      </p:pic>
      <p:sp>
        <p:nvSpPr>
          <p:cNvPr id="8" name="TextBox 7">
            <a:extLst>
              <a:ext uri="{FF2B5EF4-FFF2-40B4-BE49-F238E27FC236}">
                <a16:creationId xmlns:a16="http://schemas.microsoft.com/office/drawing/2014/main" id="{9F9D8D30-1E52-E748-047D-D8D4A28C53C9}"/>
              </a:ext>
            </a:extLst>
          </p:cNvPr>
          <p:cNvSpPr txBox="1"/>
          <p:nvPr/>
        </p:nvSpPr>
        <p:spPr>
          <a:xfrm>
            <a:off x="216309" y="2995259"/>
            <a:ext cx="5220930" cy="2713243"/>
          </a:xfrm>
          <a:prstGeom prst="rect">
            <a:avLst/>
          </a:prstGeom>
          <a:noFill/>
        </p:spPr>
        <p:txBody>
          <a:bodyPr wrap="square">
            <a:spAutoFit/>
          </a:bodyPr>
          <a:lstStyle/>
          <a:p>
            <a:pPr marL="0" marR="0">
              <a:lnSpc>
                <a:spcPct val="115000"/>
              </a:lnSpc>
              <a:spcBef>
                <a:spcPts val="1000"/>
              </a:spcBef>
              <a:buNone/>
            </a:pPr>
            <a:r>
              <a:rPr lang="en-US" sz="24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From AWS terminal,</a:t>
            </a:r>
          </a:p>
          <a:p>
            <a:pPr marL="0" marR="0">
              <a:lnSpc>
                <a:spcPct val="115000"/>
              </a:lnSpc>
              <a:spcBef>
                <a:spcPts val="1000"/>
              </a:spcBef>
              <a:buNone/>
            </a:pPr>
            <a:r>
              <a:rPr lang="en-US" sz="24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Private subnet internet access</a:t>
            </a:r>
          </a:p>
          <a:p>
            <a:pPr marL="0" marR="0">
              <a:lnSpc>
                <a:spcPct val="115000"/>
              </a:lnSpc>
              <a:spcAft>
                <a:spcPts val="10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Public to Private internet access is working, and</a:t>
            </a:r>
          </a:p>
          <a:p>
            <a:pPr marL="0" marR="0">
              <a:lnSpc>
                <a:spcPct val="115000"/>
              </a:lnSpc>
              <a:spcAft>
                <a:spcPts val="10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Bastion host is working perfectly.</a:t>
            </a:r>
          </a:p>
          <a:p>
            <a:pPr marL="0" marR="0">
              <a:lnSpc>
                <a:spcPct val="115000"/>
              </a:lnSpc>
              <a:spcAft>
                <a:spcPts val="1000"/>
              </a:spcAft>
              <a:buNone/>
            </a:pPr>
            <a:r>
              <a:rPr lang="en-US" sz="1800" b="1" dirty="0" err="1">
                <a:effectLst/>
                <a:latin typeface="Aptos" panose="020B0004020202020204" pitchFamily="34" charset="0"/>
                <a:ea typeface="Aptos" panose="020B0004020202020204" pitchFamily="34" charset="0"/>
                <a:cs typeface="Times New Roman" panose="02020603050405020304" pitchFamily="18" charset="0"/>
              </a:rPr>
              <a:t>chmod</a:t>
            </a:r>
            <a:r>
              <a:rPr lang="en-US" sz="1800" b="1" dirty="0">
                <a:effectLst/>
                <a:latin typeface="Aptos" panose="020B0004020202020204" pitchFamily="34" charset="0"/>
                <a:ea typeface="Aptos" panose="020B0004020202020204" pitchFamily="34" charset="0"/>
                <a:cs typeface="Times New Roman" panose="02020603050405020304" pitchFamily="18" charset="0"/>
              </a:rPr>
              <a:t> 400 FMCG-</a:t>
            </a:r>
            <a:r>
              <a:rPr lang="en-US" sz="1800" b="1" dirty="0" err="1">
                <a:effectLst/>
                <a:latin typeface="Aptos" panose="020B0004020202020204" pitchFamily="34" charset="0"/>
                <a:ea typeface="Aptos" panose="020B0004020202020204" pitchFamily="34" charset="0"/>
                <a:cs typeface="Times New Roman" panose="02020603050405020304" pitchFamily="18" charset="0"/>
              </a:rPr>
              <a:t>Key.pem</a:t>
            </a: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1000"/>
              </a:spcAft>
              <a:buNone/>
            </a:pPr>
            <a:r>
              <a:rPr lang="en-US" sz="1800" b="1" dirty="0">
                <a:effectLst/>
                <a:latin typeface="Aptos" panose="020B0004020202020204" pitchFamily="34" charset="0"/>
                <a:ea typeface="Aptos" panose="020B0004020202020204" pitchFamily="34" charset="0"/>
                <a:cs typeface="Times New Roman" panose="02020603050405020304" pitchFamily="18" charset="0"/>
              </a:rPr>
              <a:t>ssh -</a:t>
            </a:r>
            <a:r>
              <a:rPr lang="en-US" sz="1800" b="1" dirty="0" err="1">
                <a:effectLst/>
                <a:latin typeface="Aptos" panose="020B0004020202020204" pitchFamily="34" charset="0"/>
                <a:ea typeface="Aptos" panose="020B0004020202020204" pitchFamily="34" charset="0"/>
                <a:cs typeface="Times New Roman" panose="02020603050405020304" pitchFamily="18" charset="0"/>
              </a:rPr>
              <a:t>i</a:t>
            </a:r>
            <a:r>
              <a:rPr lang="en-US" sz="1800" b="1" dirty="0">
                <a:effectLst/>
                <a:latin typeface="Aptos" panose="020B0004020202020204" pitchFamily="34" charset="0"/>
                <a:ea typeface="Aptos" panose="020B0004020202020204" pitchFamily="34" charset="0"/>
                <a:cs typeface="Times New Roman" panose="02020603050405020304" pitchFamily="18" charset="0"/>
              </a:rPr>
              <a:t> FMCG-</a:t>
            </a:r>
            <a:r>
              <a:rPr lang="en-US" sz="1800" b="1" dirty="0" err="1">
                <a:effectLst/>
                <a:latin typeface="Aptos" panose="020B0004020202020204" pitchFamily="34" charset="0"/>
                <a:ea typeface="Aptos" panose="020B0004020202020204" pitchFamily="34" charset="0"/>
                <a:cs typeface="Times New Roman" panose="02020603050405020304" pitchFamily="18" charset="0"/>
              </a:rPr>
              <a:t>Key.pem</a:t>
            </a:r>
            <a:r>
              <a:rPr lang="en-US" sz="1800" b="1" dirty="0">
                <a:effectLst/>
                <a:latin typeface="Aptos" panose="020B0004020202020204" pitchFamily="34" charset="0"/>
                <a:ea typeface="Aptos" panose="020B0004020202020204" pitchFamily="34" charset="0"/>
                <a:cs typeface="Times New Roman" panose="02020603050405020304" pitchFamily="18" charset="0"/>
              </a:rPr>
              <a:t> ec2-user@172.16.6.30</a:t>
            </a: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43B51B06-84A0-BC25-B25B-FE2ADDFED263}"/>
              </a:ext>
            </a:extLst>
          </p:cNvPr>
          <p:cNvPicPr>
            <a:picLocks noChangeAspect="1"/>
          </p:cNvPicPr>
          <p:nvPr/>
        </p:nvPicPr>
        <p:blipFill>
          <a:blip r:embed="rId3"/>
          <a:stretch>
            <a:fillRect/>
          </a:stretch>
        </p:blipFill>
        <p:spPr>
          <a:xfrm>
            <a:off x="5887065" y="2995259"/>
            <a:ext cx="5943600" cy="2334260"/>
          </a:xfrm>
          <a:prstGeom prst="rect">
            <a:avLst/>
          </a:prstGeom>
        </p:spPr>
      </p:pic>
      <p:sp>
        <p:nvSpPr>
          <p:cNvPr id="11" name="TextBox 10">
            <a:extLst>
              <a:ext uri="{FF2B5EF4-FFF2-40B4-BE49-F238E27FC236}">
                <a16:creationId xmlns:a16="http://schemas.microsoft.com/office/drawing/2014/main" id="{F5054C6D-5B17-28F0-976B-B5DA0DCEE239}"/>
              </a:ext>
            </a:extLst>
          </p:cNvPr>
          <p:cNvSpPr txBox="1"/>
          <p:nvPr/>
        </p:nvSpPr>
        <p:spPr>
          <a:xfrm>
            <a:off x="5887065" y="5708502"/>
            <a:ext cx="6096000" cy="395173"/>
          </a:xfrm>
          <a:prstGeom prst="rect">
            <a:avLst/>
          </a:prstGeom>
          <a:noFill/>
        </p:spPr>
        <p:txBody>
          <a:bodyPr wrap="square">
            <a:spAutoFit/>
          </a:bodyPr>
          <a:lstStyle/>
          <a:p>
            <a:pPr marL="0" marR="0">
              <a:lnSpc>
                <a:spcPct val="115000"/>
              </a:lnSpc>
              <a:spcAft>
                <a:spcPts val="10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Public to Private connections are working perfectly.</a:t>
            </a:r>
          </a:p>
        </p:txBody>
      </p:sp>
    </p:spTree>
    <p:extLst>
      <p:ext uri="{BB962C8B-B14F-4D97-AF65-F5344CB8AC3E}">
        <p14:creationId xmlns:p14="http://schemas.microsoft.com/office/powerpoint/2010/main" val="18419656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49F2A-3782-FF92-A226-54087A6C9B7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A82CB8E-197C-0346-9AFF-22053C31F48D}"/>
              </a:ext>
            </a:extLst>
          </p:cNvPr>
          <p:cNvSpPr txBox="1"/>
          <p:nvPr/>
        </p:nvSpPr>
        <p:spPr>
          <a:xfrm>
            <a:off x="4331110" y="255638"/>
            <a:ext cx="3529780" cy="646459"/>
          </a:xfrm>
          <a:prstGeom prst="rect">
            <a:avLst/>
          </a:prstGeom>
          <a:noFill/>
        </p:spPr>
        <p:txBody>
          <a:bodyPr wrap="square">
            <a:spAutoFit/>
          </a:bodyPr>
          <a:lstStyle/>
          <a:p>
            <a:pPr marL="0" marR="0" algn="ctr">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Test Internet (NAT Gateway Proof)</a:t>
            </a:r>
          </a:p>
          <a:p>
            <a:pPr marL="0" marR="0" algn="ctr">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ping google.com</a:t>
            </a:r>
          </a:p>
        </p:txBody>
      </p:sp>
      <p:pic>
        <p:nvPicPr>
          <p:cNvPr id="4" name="Picture 3">
            <a:extLst>
              <a:ext uri="{FF2B5EF4-FFF2-40B4-BE49-F238E27FC236}">
                <a16:creationId xmlns:a16="http://schemas.microsoft.com/office/drawing/2014/main" id="{C71A7B86-6047-3397-E379-D2D208086A22}"/>
              </a:ext>
            </a:extLst>
          </p:cNvPr>
          <p:cNvPicPr>
            <a:picLocks noChangeAspect="1"/>
          </p:cNvPicPr>
          <p:nvPr/>
        </p:nvPicPr>
        <p:blipFill>
          <a:blip r:embed="rId2"/>
          <a:stretch>
            <a:fillRect/>
          </a:stretch>
        </p:blipFill>
        <p:spPr>
          <a:xfrm>
            <a:off x="573958" y="1223133"/>
            <a:ext cx="11044084" cy="4411734"/>
          </a:xfrm>
          <a:prstGeom prst="rect">
            <a:avLst/>
          </a:prstGeom>
        </p:spPr>
      </p:pic>
    </p:spTree>
    <p:extLst>
      <p:ext uri="{BB962C8B-B14F-4D97-AF65-F5344CB8AC3E}">
        <p14:creationId xmlns:p14="http://schemas.microsoft.com/office/powerpoint/2010/main" val="16385091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40380-7952-F4BB-67B3-4F6EDA1E1A4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0C014B8-FC93-0B4F-827C-6E4AE07B6914}"/>
              </a:ext>
            </a:extLst>
          </p:cNvPr>
          <p:cNvSpPr txBox="1"/>
          <p:nvPr/>
        </p:nvSpPr>
        <p:spPr>
          <a:xfrm>
            <a:off x="265471" y="308248"/>
            <a:ext cx="11818374" cy="5593967"/>
          </a:xfrm>
          <a:prstGeom prst="rect">
            <a:avLst/>
          </a:prstGeom>
          <a:noFill/>
        </p:spPr>
        <p:txBody>
          <a:bodyPr wrap="square">
            <a:spAutoFit/>
          </a:bodyPr>
          <a:lstStyle/>
          <a:p>
            <a:pPr marL="0" marR="0">
              <a:lnSpc>
                <a:spcPct val="115000"/>
              </a:lnSpc>
              <a:spcBef>
                <a:spcPts val="2400"/>
              </a:spcBef>
              <a:buNone/>
            </a:pPr>
            <a:r>
              <a:rPr lang="en-US" b="1" kern="0" dirty="0">
                <a:solidFill>
                  <a:srgbClr val="1F4E79"/>
                </a:solidFill>
                <a:effectLst/>
                <a:latin typeface="Calibri" panose="020F0502020204030204" pitchFamily="34" charset="0"/>
                <a:ea typeface="MS Gothic" panose="020B0609070205080204" pitchFamily="49" charset="-128"/>
                <a:cs typeface="Times New Roman" panose="02020603050405020304" pitchFamily="18" charset="0"/>
              </a:rPr>
              <a:t>Bastion Host Explanation</a:t>
            </a:r>
          </a:p>
          <a:p>
            <a:pPr marL="0" marR="0">
              <a:lnSpc>
                <a:spcPct val="115000"/>
              </a:lnSpc>
              <a:spcBef>
                <a:spcPts val="1000"/>
              </a:spcBef>
              <a:buNone/>
            </a:pPr>
            <a:r>
              <a:rPr lang="en-US" sz="14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Bastion Host Architecture in AWS</a:t>
            </a: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In this architecture, the </a:t>
            </a:r>
            <a:r>
              <a:rPr lang="en-US" sz="1400" b="1" dirty="0">
                <a:effectLst/>
                <a:latin typeface="Aptos" panose="020B0004020202020204" pitchFamily="34" charset="0"/>
                <a:ea typeface="Aptos" panose="020B0004020202020204" pitchFamily="34" charset="0"/>
                <a:cs typeface="Times New Roman" panose="02020603050405020304" pitchFamily="18" charset="0"/>
              </a:rPr>
              <a:t>Marketing EC2 instance</a:t>
            </a:r>
            <a:r>
              <a:rPr lang="en-US" sz="1400" dirty="0">
                <a:effectLst/>
                <a:latin typeface="Aptos" panose="020B0004020202020204" pitchFamily="34" charset="0"/>
                <a:ea typeface="Aptos" panose="020B0004020202020204" pitchFamily="34" charset="0"/>
                <a:cs typeface="Times New Roman" panose="02020603050405020304" pitchFamily="18" charset="0"/>
              </a:rPr>
              <a:t> is configured as a </a:t>
            </a:r>
            <a:r>
              <a:rPr lang="en-US" sz="1400" b="1" dirty="0">
                <a:effectLst/>
                <a:latin typeface="Aptos" panose="020B0004020202020204" pitchFamily="34" charset="0"/>
                <a:ea typeface="Aptos" panose="020B0004020202020204" pitchFamily="34" charset="0"/>
                <a:cs typeface="Times New Roman" panose="02020603050405020304" pitchFamily="18" charset="0"/>
              </a:rPr>
              <a:t>Bastion Host (Jump Server)</a:t>
            </a:r>
            <a:r>
              <a:rPr lang="en-US" sz="1400" dirty="0">
                <a:effectLst/>
                <a:latin typeface="Aptos" panose="020B0004020202020204" pitchFamily="34" charset="0"/>
                <a:ea typeface="Aptos" panose="020B0004020202020204" pitchFamily="34" charset="0"/>
                <a:cs typeface="Times New Roman" panose="02020603050405020304" pitchFamily="18" charset="0"/>
              </a:rPr>
              <a:t> to securely access private EC2 instances located in private subnets.</a:t>
            </a: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A Bastion Host is a specially configured EC2 instance that acts as a secure entry point for managing instances in private networks. It is placed in a </a:t>
            </a:r>
            <a:r>
              <a:rPr lang="en-US" sz="1400" b="1" dirty="0">
                <a:effectLst/>
                <a:latin typeface="Aptos" panose="020B0004020202020204" pitchFamily="34" charset="0"/>
                <a:ea typeface="Aptos" panose="020B0004020202020204" pitchFamily="34" charset="0"/>
                <a:cs typeface="Times New Roman" panose="02020603050405020304" pitchFamily="18" charset="0"/>
              </a:rPr>
              <a:t>public subnet</a:t>
            </a:r>
            <a:r>
              <a:rPr lang="en-US" sz="1400" dirty="0">
                <a:effectLst/>
                <a:latin typeface="Aptos" panose="020B0004020202020204" pitchFamily="34" charset="0"/>
                <a:ea typeface="Aptos" panose="020B0004020202020204" pitchFamily="34" charset="0"/>
                <a:cs typeface="Times New Roman" panose="02020603050405020304" pitchFamily="18" charset="0"/>
              </a:rPr>
              <a:t> and has a public IP address, allowing controlled SSH access from the internet.</a:t>
            </a: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 </a:t>
            </a:r>
            <a:r>
              <a:rPr lang="en-US" sz="14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How it works in our project:</a:t>
            </a:r>
          </a:p>
          <a:p>
            <a:pPr marL="342900" marR="0" lvl="0" indent="-342900">
              <a:lnSpc>
                <a:spcPct val="115000"/>
              </a:lnSpc>
              <a:spcAft>
                <a:spcPts val="800"/>
              </a:spcAft>
              <a:buFont typeface="+mj-lt"/>
              <a:buAutoNum type="arabicPeriod"/>
              <a:tabLst>
                <a:tab pos="457200" algn="l"/>
              </a:tabLst>
            </a:pPr>
            <a:r>
              <a:rPr lang="en-US" sz="1400" dirty="0">
                <a:effectLst/>
                <a:latin typeface="Aptos" panose="020B0004020202020204" pitchFamily="34" charset="0"/>
                <a:ea typeface="Aptos" panose="020B0004020202020204" pitchFamily="34" charset="0"/>
                <a:cs typeface="Times New Roman" panose="02020603050405020304" pitchFamily="18" charset="0"/>
              </a:rPr>
              <a:t>The </a:t>
            </a:r>
            <a:r>
              <a:rPr lang="en-US" sz="1400" b="1" dirty="0">
                <a:effectLst/>
                <a:latin typeface="Aptos" panose="020B0004020202020204" pitchFamily="34" charset="0"/>
                <a:ea typeface="Aptos" panose="020B0004020202020204" pitchFamily="34" charset="0"/>
                <a:cs typeface="Times New Roman" panose="02020603050405020304" pitchFamily="18" charset="0"/>
              </a:rPr>
              <a:t>Marketing-Server EC2 (Public Subnet)</a:t>
            </a:r>
            <a:r>
              <a:rPr lang="en-US" sz="1400" dirty="0">
                <a:effectLst/>
                <a:latin typeface="Aptos" panose="020B0004020202020204" pitchFamily="34" charset="0"/>
                <a:ea typeface="Aptos" panose="020B0004020202020204" pitchFamily="34" charset="0"/>
                <a:cs typeface="Times New Roman" panose="02020603050405020304" pitchFamily="18" charset="0"/>
              </a:rPr>
              <a:t> has: </a:t>
            </a: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400" dirty="0">
                <a:effectLst/>
                <a:latin typeface="Aptos" panose="020B0004020202020204" pitchFamily="34" charset="0"/>
                <a:ea typeface="Aptos" panose="020B0004020202020204" pitchFamily="34" charset="0"/>
                <a:cs typeface="Times New Roman" panose="02020603050405020304" pitchFamily="18" charset="0"/>
              </a:rPr>
              <a:t>Public IP enabled </a:t>
            </a: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400" dirty="0">
                <a:effectLst/>
                <a:latin typeface="Aptos" panose="020B0004020202020204" pitchFamily="34" charset="0"/>
                <a:ea typeface="Aptos" panose="020B0004020202020204" pitchFamily="34" charset="0"/>
                <a:cs typeface="Times New Roman" panose="02020603050405020304" pitchFamily="18" charset="0"/>
              </a:rPr>
              <a:t>Security Group allowing SSH access only from the user’s IP </a:t>
            </a:r>
          </a:p>
          <a:p>
            <a:pPr marL="342900" marR="0" lvl="0" indent="-342900">
              <a:lnSpc>
                <a:spcPct val="115000"/>
              </a:lnSpc>
              <a:spcAft>
                <a:spcPts val="800"/>
              </a:spcAft>
              <a:buFont typeface="+mj-lt"/>
              <a:buAutoNum type="arabicPeriod"/>
              <a:tabLst>
                <a:tab pos="457200" algn="l"/>
              </a:tabLst>
            </a:pPr>
            <a:r>
              <a:rPr lang="en-US" sz="1400" dirty="0">
                <a:effectLst/>
                <a:latin typeface="Aptos" panose="020B0004020202020204" pitchFamily="34" charset="0"/>
                <a:ea typeface="Aptos" panose="020B0004020202020204" pitchFamily="34" charset="0"/>
                <a:cs typeface="Times New Roman" panose="02020603050405020304" pitchFamily="18" charset="0"/>
              </a:rPr>
              <a:t>All other EC2 instances (HR, Finance, Sales, etc.) are placed in </a:t>
            </a:r>
            <a:r>
              <a:rPr lang="en-US" sz="1400" b="1" dirty="0">
                <a:effectLst/>
                <a:latin typeface="Aptos" panose="020B0004020202020204" pitchFamily="34" charset="0"/>
                <a:ea typeface="Aptos" panose="020B0004020202020204" pitchFamily="34" charset="0"/>
                <a:cs typeface="Times New Roman" panose="02020603050405020304" pitchFamily="18" charset="0"/>
              </a:rPr>
              <a:t>private subnets</a:t>
            </a:r>
            <a:r>
              <a:rPr lang="en-US" sz="1400" dirty="0">
                <a:effectLst/>
                <a:latin typeface="Aptos" panose="020B0004020202020204" pitchFamily="34" charset="0"/>
                <a:ea typeface="Aptos" panose="020B0004020202020204" pitchFamily="34" charset="0"/>
                <a:cs typeface="Times New Roman" panose="02020603050405020304" pitchFamily="18" charset="0"/>
              </a:rPr>
              <a:t>: </a:t>
            </a: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400" dirty="0">
                <a:effectLst/>
                <a:latin typeface="Aptos" panose="020B0004020202020204" pitchFamily="34" charset="0"/>
                <a:ea typeface="Aptos" panose="020B0004020202020204" pitchFamily="34" charset="0"/>
                <a:cs typeface="Times New Roman" panose="02020603050405020304" pitchFamily="18" charset="0"/>
              </a:rPr>
              <a:t>No public IP assigned </a:t>
            </a: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400" dirty="0">
                <a:effectLst/>
                <a:latin typeface="Aptos" panose="020B0004020202020204" pitchFamily="34" charset="0"/>
                <a:ea typeface="Aptos" panose="020B0004020202020204" pitchFamily="34" charset="0"/>
                <a:cs typeface="Times New Roman" panose="02020603050405020304" pitchFamily="18" charset="0"/>
              </a:rPr>
              <a:t>Cannot be accessed directly from the internet </a:t>
            </a:r>
          </a:p>
          <a:p>
            <a:pPr marL="342900" marR="0" lvl="0" indent="-342900">
              <a:lnSpc>
                <a:spcPct val="115000"/>
              </a:lnSpc>
              <a:spcAft>
                <a:spcPts val="800"/>
              </a:spcAft>
              <a:buFont typeface="+mj-lt"/>
              <a:buAutoNum type="arabicPeriod"/>
              <a:tabLst>
                <a:tab pos="457200" algn="l"/>
              </a:tabLst>
            </a:pPr>
            <a:r>
              <a:rPr lang="en-US" sz="1400" dirty="0">
                <a:effectLst/>
                <a:latin typeface="Aptos" panose="020B0004020202020204" pitchFamily="34" charset="0"/>
                <a:ea typeface="Aptos" panose="020B0004020202020204" pitchFamily="34" charset="0"/>
                <a:cs typeface="Times New Roman" panose="02020603050405020304" pitchFamily="18" charset="0"/>
              </a:rPr>
              <a:t>Access flow: </a:t>
            </a:r>
          </a:p>
          <a:p>
            <a:pPr marL="914400" marR="0">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Laptop (SSH)</a:t>
            </a:r>
            <a:br>
              <a:rPr lang="en-US" sz="1400" dirty="0">
                <a:effectLst/>
                <a:latin typeface="Aptos" panose="020B0004020202020204" pitchFamily="34" charset="0"/>
                <a:ea typeface="Aptos" panose="020B0004020202020204" pitchFamily="34" charset="0"/>
                <a:cs typeface="Times New Roman" panose="02020603050405020304" pitchFamily="18" charset="0"/>
              </a:rPr>
            </a:br>
            <a:r>
              <a:rPr lang="en-US" sz="1400" dirty="0">
                <a:effectLst/>
                <a:latin typeface="Aptos" panose="020B0004020202020204" pitchFamily="34" charset="0"/>
                <a:ea typeface="Aptos" panose="020B0004020202020204" pitchFamily="34" charset="0"/>
                <a:cs typeface="Times New Roman" panose="02020603050405020304" pitchFamily="18" charset="0"/>
              </a:rPr>
              <a:t>→ Marketing EC2 (Bastion Host)</a:t>
            </a:r>
            <a:br>
              <a:rPr lang="en-US" sz="1400" dirty="0">
                <a:effectLst/>
                <a:latin typeface="Aptos" panose="020B0004020202020204" pitchFamily="34" charset="0"/>
                <a:ea typeface="Aptos" panose="020B0004020202020204" pitchFamily="34" charset="0"/>
                <a:cs typeface="Times New Roman" panose="02020603050405020304" pitchFamily="18" charset="0"/>
              </a:rPr>
            </a:br>
            <a:r>
              <a:rPr lang="en-US" sz="1400" dirty="0">
                <a:effectLst/>
                <a:latin typeface="Aptos" panose="020B0004020202020204" pitchFamily="34" charset="0"/>
                <a:ea typeface="Aptos" panose="020B0004020202020204" pitchFamily="34" charset="0"/>
                <a:cs typeface="Times New Roman" panose="02020603050405020304" pitchFamily="18" charset="0"/>
              </a:rPr>
              <a:t>→ Private EC2 Instances (via private IP)</a:t>
            </a:r>
          </a:p>
        </p:txBody>
      </p:sp>
    </p:spTree>
    <p:extLst>
      <p:ext uri="{BB962C8B-B14F-4D97-AF65-F5344CB8AC3E}">
        <p14:creationId xmlns:p14="http://schemas.microsoft.com/office/powerpoint/2010/main" val="9478810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930EB-C935-6AF0-2AC3-93FCDE5B3F1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4BB9EED-C5F8-4498-809F-B540C37ECBFC}"/>
              </a:ext>
            </a:extLst>
          </p:cNvPr>
          <p:cNvSpPr txBox="1"/>
          <p:nvPr/>
        </p:nvSpPr>
        <p:spPr>
          <a:xfrm>
            <a:off x="245807" y="0"/>
            <a:ext cx="6096000" cy="411926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Security Benefits:</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dirty="0">
                <a:effectLst/>
                <a:latin typeface="Aptos" panose="020B0004020202020204" pitchFamily="34" charset="0"/>
                <a:ea typeface="Aptos" panose="020B0004020202020204" pitchFamily="34" charset="0"/>
                <a:cs typeface="Times New Roman" panose="02020603050405020304" pitchFamily="18" charset="0"/>
              </a:rPr>
              <a:t>Private EC2 instances are completely hidden from the internet </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dirty="0">
                <a:effectLst/>
                <a:latin typeface="Aptos" panose="020B0004020202020204" pitchFamily="34" charset="0"/>
                <a:ea typeface="Aptos" panose="020B0004020202020204" pitchFamily="34" charset="0"/>
                <a:cs typeface="Times New Roman" panose="02020603050405020304" pitchFamily="18" charset="0"/>
              </a:rPr>
              <a:t>Only one controlled entry point exists (Bastion Host) </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dirty="0">
                <a:effectLst/>
                <a:latin typeface="Aptos" panose="020B0004020202020204" pitchFamily="34" charset="0"/>
                <a:ea typeface="Aptos" panose="020B0004020202020204" pitchFamily="34" charset="0"/>
                <a:cs typeface="Times New Roman" panose="02020603050405020304" pitchFamily="18" charset="0"/>
              </a:rPr>
              <a:t>Reduces attack surface significantly </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dirty="0">
                <a:effectLst/>
                <a:latin typeface="Aptos" panose="020B0004020202020204" pitchFamily="34" charset="0"/>
                <a:ea typeface="Aptos" panose="020B0004020202020204" pitchFamily="34" charset="0"/>
                <a:cs typeface="Times New Roman" panose="02020603050405020304" pitchFamily="18" charset="0"/>
              </a:rPr>
              <a:t>Administrators must authenticate through the public EC2 first </a:t>
            </a:r>
          </a:p>
          <a:p>
            <a:pPr marL="0" marR="0">
              <a:lnSpc>
                <a:spcPct val="115000"/>
              </a:lnSpc>
              <a:spcAft>
                <a:spcPts val="1000"/>
              </a:spcAft>
              <a:buNone/>
            </a:pPr>
            <a:r>
              <a:rPr lang="en-US" sz="1800" b="1" dirty="0">
                <a:effectLst/>
                <a:latin typeface="Aptos" panose="020B0004020202020204" pitchFamily="34" charset="0"/>
                <a:ea typeface="Aptos" panose="020B0004020202020204" pitchFamily="34" charset="0"/>
                <a:cs typeface="Times New Roman" panose="02020603050405020304" pitchFamily="18" charset="0"/>
              </a:rPr>
              <a:t> </a:t>
            </a: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Summary:</a:t>
            </a:r>
          </a:p>
          <a:p>
            <a:pPr marL="0" marR="0" algn="just">
              <a:lnSpc>
                <a:spcPct val="115000"/>
              </a:lnSpc>
              <a:spcAft>
                <a:spcPts val="1000"/>
              </a:spcAft>
              <a:buNone/>
            </a:pPr>
            <a:r>
              <a:rPr lang="en-US" sz="1800" dirty="0">
                <a:effectLst/>
                <a:latin typeface="Aptos" panose="020B0004020202020204" pitchFamily="34" charset="0"/>
                <a:ea typeface="Aptos" panose="020B0004020202020204" pitchFamily="34" charset="0"/>
                <a:cs typeface="Times New Roman" panose="02020603050405020304" pitchFamily="18" charset="0"/>
              </a:rPr>
              <a:t>This setup ensures a </a:t>
            </a:r>
            <a:r>
              <a:rPr lang="en-US" sz="1800" b="1" dirty="0">
                <a:effectLst/>
                <a:latin typeface="Aptos" panose="020B0004020202020204" pitchFamily="34" charset="0"/>
                <a:ea typeface="Aptos" panose="020B0004020202020204" pitchFamily="34" charset="0"/>
                <a:cs typeface="Times New Roman" panose="02020603050405020304" pitchFamily="18" charset="0"/>
              </a:rPr>
              <a:t>secure administrative access model</a:t>
            </a:r>
            <a:r>
              <a:rPr lang="en-US" sz="1800" dirty="0">
                <a:effectLst/>
                <a:latin typeface="Aptos" panose="020B0004020202020204" pitchFamily="34" charset="0"/>
                <a:ea typeface="Aptos" panose="020B0004020202020204" pitchFamily="34" charset="0"/>
                <a:cs typeface="Times New Roman" panose="02020603050405020304" pitchFamily="18" charset="0"/>
              </a:rPr>
              <a:t>, where only the Bastion Host is exposed publicly, while all backend systems remain protected inside private subnets.</a:t>
            </a:r>
          </a:p>
        </p:txBody>
      </p:sp>
      <p:graphicFrame>
        <p:nvGraphicFramePr>
          <p:cNvPr id="4" name="Table 3">
            <a:extLst>
              <a:ext uri="{FF2B5EF4-FFF2-40B4-BE49-F238E27FC236}">
                <a16:creationId xmlns:a16="http://schemas.microsoft.com/office/drawing/2014/main" id="{25456F7C-5822-56CA-4161-C545E1A2AFE3}"/>
              </a:ext>
            </a:extLst>
          </p:cNvPr>
          <p:cNvGraphicFramePr>
            <a:graphicFrameLocks noGrp="1"/>
          </p:cNvGraphicFramePr>
          <p:nvPr>
            <p:extLst>
              <p:ext uri="{D42A27DB-BD31-4B8C-83A1-F6EECF244321}">
                <p14:modId xmlns:p14="http://schemas.microsoft.com/office/powerpoint/2010/main" val="1602502033"/>
              </p:ext>
            </p:extLst>
          </p:nvPr>
        </p:nvGraphicFramePr>
        <p:xfrm>
          <a:off x="242529" y="4677448"/>
          <a:ext cx="5994400" cy="916305"/>
        </p:xfrm>
        <a:graphic>
          <a:graphicData uri="http://schemas.openxmlformats.org/drawingml/2006/table">
            <a:tbl>
              <a:tblPr firstRow="1" firstCol="1" bandRow="1">
                <a:tableStyleId>{5C22544A-7EE6-4342-B048-85BDC9FD1C3A}</a:tableStyleId>
              </a:tblPr>
              <a:tblGrid>
                <a:gridCol w="3340100">
                  <a:extLst>
                    <a:ext uri="{9D8B030D-6E8A-4147-A177-3AD203B41FA5}">
                      <a16:colId xmlns:a16="http://schemas.microsoft.com/office/drawing/2014/main" val="1615683836"/>
                    </a:ext>
                  </a:extLst>
                </a:gridCol>
                <a:gridCol w="2654300">
                  <a:extLst>
                    <a:ext uri="{9D8B030D-6E8A-4147-A177-3AD203B41FA5}">
                      <a16:colId xmlns:a16="http://schemas.microsoft.com/office/drawing/2014/main" val="263674804"/>
                    </a:ext>
                  </a:extLst>
                </a:gridCol>
              </a:tblGrid>
              <a:tr h="182880">
                <a:tc>
                  <a:txBody>
                    <a:bodyPr/>
                    <a:lstStyle/>
                    <a:p>
                      <a:pPr marL="0" marR="0" algn="ctr">
                        <a:lnSpc>
                          <a:spcPct val="115000"/>
                        </a:lnSpc>
                        <a:spcAft>
                          <a:spcPts val="1000"/>
                        </a:spcAft>
                        <a:buNone/>
                      </a:pPr>
                      <a:r>
                        <a:rPr lang="en-US" sz="1100" dirty="0">
                          <a:effectLst/>
                        </a:rPr>
                        <a:t>Component</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Estimated Cost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20837"/>
                  </a:ext>
                </a:extLst>
              </a:tr>
              <a:tr h="182880">
                <a:tc>
                  <a:txBody>
                    <a:bodyPr/>
                    <a:lstStyle/>
                    <a:p>
                      <a:pPr marL="0" marR="0" algn="ctr">
                        <a:lnSpc>
                          <a:spcPct val="115000"/>
                        </a:lnSpc>
                        <a:spcAft>
                          <a:spcPts val="1000"/>
                        </a:spcAft>
                        <a:buNone/>
                      </a:pPr>
                      <a:r>
                        <a:rPr lang="en-US" sz="1100">
                          <a:effectLst/>
                        </a:rPr>
                        <a:t>EC2 Instances</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$75 </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920737110"/>
                  </a:ext>
                </a:extLst>
              </a:tr>
              <a:tr h="182880">
                <a:tc>
                  <a:txBody>
                    <a:bodyPr/>
                    <a:lstStyle/>
                    <a:p>
                      <a:pPr marL="0" marR="0" algn="ctr">
                        <a:lnSpc>
                          <a:spcPct val="115000"/>
                        </a:lnSpc>
                        <a:spcAft>
                          <a:spcPts val="1000"/>
                        </a:spcAft>
                        <a:buNone/>
                      </a:pPr>
                      <a:r>
                        <a:rPr lang="en-US" sz="1100">
                          <a:effectLst/>
                        </a:rPr>
                        <a:t>NAT Gateway</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$45 </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94595365"/>
                  </a:ext>
                </a:extLst>
              </a:tr>
              <a:tr h="182880">
                <a:tc>
                  <a:txBody>
                    <a:bodyPr/>
                    <a:lstStyle/>
                    <a:p>
                      <a:pPr marL="0" marR="0" algn="ctr">
                        <a:lnSpc>
                          <a:spcPct val="115000"/>
                        </a:lnSpc>
                        <a:spcAft>
                          <a:spcPts val="1000"/>
                        </a:spcAft>
                        <a:buNone/>
                      </a:pPr>
                      <a:r>
                        <a:rPr lang="en-US" sz="1100">
                          <a:effectLst/>
                        </a:rPr>
                        <a:t>Data Transfer</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$10 </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61142557"/>
                  </a:ext>
                </a:extLst>
              </a:tr>
              <a:tr h="182880">
                <a:tc>
                  <a:txBody>
                    <a:bodyPr/>
                    <a:lstStyle/>
                    <a:p>
                      <a:pPr marL="0" marR="0" algn="ctr">
                        <a:lnSpc>
                          <a:spcPct val="115000"/>
                        </a:lnSpc>
                        <a:spcAft>
                          <a:spcPts val="1000"/>
                        </a:spcAft>
                        <a:buNone/>
                      </a:pPr>
                      <a:r>
                        <a:rPr lang="en-US" sz="1100">
                          <a:effectLst/>
                        </a:rPr>
                        <a:t>Total</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dirty="0">
                          <a:effectLst/>
                        </a:rPr>
                        <a:t>~$130/month</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826879093"/>
                  </a:ext>
                </a:extLst>
              </a:tr>
            </a:tbl>
          </a:graphicData>
        </a:graphic>
      </p:graphicFrame>
      <p:sp>
        <p:nvSpPr>
          <p:cNvPr id="6" name="TextBox 5">
            <a:extLst>
              <a:ext uri="{FF2B5EF4-FFF2-40B4-BE49-F238E27FC236}">
                <a16:creationId xmlns:a16="http://schemas.microsoft.com/office/drawing/2014/main" id="{22D18171-6688-69B0-99DF-C658668FE486}"/>
              </a:ext>
            </a:extLst>
          </p:cNvPr>
          <p:cNvSpPr txBox="1"/>
          <p:nvPr/>
        </p:nvSpPr>
        <p:spPr>
          <a:xfrm>
            <a:off x="147483" y="4268272"/>
            <a:ext cx="3221703"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Total Estimated Monthly Cost</a:t>
            </a:r>
          </a:p>
        </p:txBody>
      </p:sp>
      <p:sp>
        <p:nvSpPr>
          <p:cNvPr id="8" name="TextBox 7">
            <a:extLst>
              <a:ext uri="{FF2B5EF4-FFF2-40B4-BE49-F238E27FC236}">
                <a16:creationId xmlns:a16="http://schemas.microsoft.com/office/drawing/2014/main" id="{CB96A381-BB95-4124-FEE3-EB03C9ECBE1C}"/>
              </a:ext>
            </a:extLst>
          </p:cNvPr>
          <p:cNvSpPr txBox="1"/>
          <p:nvPr/>
        </p:nvSpPr>
        <p:spPr>
          <a:xfrm>
            <a:off x="6951405" y="0"/>
            <a:ext cx="4994787" cy="4890698"/>
          </a:xfrm>
          <a:prstGeom prst="rect">
            <a:avLst/>
          </a:prstGeom>
          <a:noFill/>
        </p:spPr>
        <p:txBody>
          <a:bodyPr wrap="square">
            <a:spAutoFit/>
          </a:bodyPr>
          <a:lstStyle/>
          <a:p>
            <a:pPr marL="0" marR="0">
              <a:lnSpc>
                <a:spcPct val="115000"/>
              </a:lnSpc>
              <a:spcBef>
                <a:spcPts val="1000"/>
              </a:spcBef>
              <a:buNone/>
            </a:pPr>
            <a:r>
              <a:rPr lang="en-US" sz="14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10-Year Cost Projection</a:t>
            </a:r>
          </a:p>
          <a:p>
            <a:pPr marL="0" marR="0">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$130 × 12 months × 10 years = </a:t>
            </a:r>
            <a:r>
              <a:rPr lang="en-US" sz="1400" b="1" dirty="0">
                <a:effectLst/>
                <a:latin typeface="Aptos" panose="020B0004020202020204" pitchFamily="34" charset="0"/>
                <a:ea typeface="Aptos" panose="020B0004020202020204" pitchFamily="34" charset="0"/>
                <a:cs typeface="Times New Roman" panose="02020603050405020304" pitchFamily="18" charset="0"/>
              </a:rPr>
              <a:t>$15,600 (approx.)</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Bef>
                <a:spcPts val="1000"/>
              </a:spcBef>
              <a:buNone/>
            </a:pPr>
            <a:r>
              <a:rPr lang="en-US" sz="14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One-Time Manpower (Implementation Cost)</a:t>
            </a:r>
          </a:p>
          <a:p>
            <a:pPr marL="742950" marR="0" lvl="1" indent="-285750">
              <a:lnSpc>
                <a:spcPct val="115000"/>
              </a:lnSpc>
              <a:spcAft>
                <a:spcPts val="800"/>
              </a:spcAft>
              <a:buFont typeface="Aptos" panose="020B0004020202020204" pitchFamily="34" charset="0"/>
              <a:buChar char="•"/>
            </a:pPr>
            <a:r>
              <a:rPr lang="en-US" sz="1400" dirty="0">
                <a:effectLst/>
                <a:latin typeface="Aptos" panose="020B0004020202020204" pitchFamily="34" charset="0"/>
                <a:ea typeface="Cambria" panose="02040503050406030204" pitchFamily="18" charset="0"/>
                <a:cs typeface="Times New Roman" panose="02020603050405020304" pitchFamily="18" charset="0"/>
              </a:rPr>
              <a:t>Deployment effort: </a:t>
            </a:r>
            <a:r>
              <a:rPr lang="en-US" sz="1400" b="1" dirty="0">
                <a:effectLst/>
                <a:latin typeface="Aptos" panose="020B0004020202020204" pitchFamily="34" charset="0"/>
                <a:ea typeface="Cambria" panose="02040503050406030204" pitchFamily="18" charset="0"/>
                <a:cs typeface="Times New Roman" panose="02020603050405020304" pitchFamily="18" charset="0"/>
              </a:rPr>
              <a:t>40 hours</a:t>
            </a:r>
            <a:endParaRPr lang="en-US" sz="1400" dirty="0">
              <a:effectLst/>
              <a:latin typeface="Aptos" panose="020B0004020202020204" pitchFamily="34" charset="0"/>
              <a:ea typeface="Cambria" panose="02040503050406030204" pitchFamily="18" charset="0"/>
              <a:cs typeface="Times New Roman" panose="02020603050405020304" pitchFamily="18" charset="0"/>
            </a:endParaRPr>
          </a:p>
          <a:p>
            <a:pPr marL="742950" marR="0" lvl="1" indent="-285750">
              <a:lnSpc>
                <a:spcPct val="115000"/>
              </a:lnSpc>
              <a:spcAft>
                <a:spcPts val="800"/>
              </a:spcAft>
              <a:buFont typeface="Aptos" panose="020B0004020202020204" pitchFamily="34" charset="0"/>
              <a:buChar char="•"/>
            </a:pPr>
            <a:r>
              <a:rPr lang="en-US" sz="1400" dirty="0">
                <a:effectLst/>
                <a:latin typeface="Aptos" panose="020B0004020202020204" pitchFamily="34" charset="0"/>
                <a:ea typeface="Cambria" panose="02040503050406030204" pitchFamily="18" charset="0"/>
                <a:cs typeface="Times New Roman" panose="02020603050405020304" pitchFamily="18" charset="0"/>
              </a:rPr>
              <a:t>Hourly rate: </a:t>
            </a:r>
            <a:r>
              <a:rPr lang="en-US" sz="1400" b="1" dirty="0">
                <a:effectLst/>
                <a:latin typeface="Aptos" panose="020B0004020202020204" pitchFamily="34" charset="0"/>
                <a:ea typeface="Cambria" panose="02040503050406030204" pitchFamily="18" charset="0"/>
                <a:cs typeface="Times New Roman" panose="02020603050405020304" pitchFamily="18" charset="0"/>
              </a:rPr>
              <a:t>$60/hour</a:t>
            </a:r>
            <a:endParaRPr lang="en-US" sz="1400" dirty="0">
              <a:effectLst/>
              <a:latin typeface="Aptos" panose="020B0004020202020204" pitchFamily="34" charset="0"/>
              <a:ea typeface="Cambria" panose="02040503050406030204" pitchFamily="18" charset="0"/>
              <a:cs typeface="Times New Roman" panose="02020603050405020304" pitchFamily="18" charset="0"/>
            </a:endParaRPr>
          </a:p>
          <a:p>
            <a:pPr marL="0" marR="0">
              <a:lnSpc>
                <a:spcPct val="115000"/>
              </a:lnSpc>
              <a:spcAft>
                <a:spcPts val="1000"/>
              </a:spcAft>
              <a:buNone/>
            </a:pPr>
            <a:r>
              <a:rPr lang="en-US" sz="1400" b="1" dirty="0">
                <a:effectLst/>
                <a:latin typeface="Aptos" panose="020B0004020202020204" pitchFamily="34" charset="0"/>
                <a:ea typeface="Aptos" panose="020B0004020202020204" pitchFamily="34" charset="0"/>
                <a:cs typeface="Times New Roman" panose="02020603050405020304" pitchFamily="18" charset="0"/>
              </a:rPr>
              <a:t> </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1000"/>
              </a:spcAft>
              <a:buNone/>
            </a:pPr>
            <a:r>
              <a:rPr lang="en-US" sz="14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Manpower Cost:</a:t>
            </a:r>
            <a:br>
              <a:rPr lang="en-US" sz="1400" dirty="0">
                <a:effectLst/>
                <a:latin typeface="Aptos" panose="020B0004020202020204" pitchFamily="34" charset="0"/>
                <a:ea typeface="Aptos" panose="020B0004020202020204" pitchFamily="34" charset="0"/>
                <a:cs typeface="Times New Roman" panose="02020603050405020304" pitchFamily="18" charset="0"/>
              </a:rPr>
            </a:br>
            <a:r>
              <a:rPr lang="en-US" sz="1400" dirty="0">
                <a:effectLst/>
                <a:latin typeface="Aptos" panose="020B0004020202020204" pitchFamily="34" charset="0"/>
                <a:ea typeface="Aptos" panose="020B0004020202020204" pitchFamily="34" charset="0"/>
                <a:cs typeface="Times New Roman" panose="02020603050405020304" pitchFamily="18" charset="0"/>
              </a:rPr>
              <a:t>40 Hours × $60 = </a:t>
            </a:r>
            <a:r>
              <a:rPr lang="en-US" sz="1400" b="1" dirty="0">
                <a:effectLst/>
                <a:latin typeface="Aptos" panose="020B0004020202020204" pitchFamily="34" charset="0"/>
                <a:ea typeface="Aptos" panose="020B0004020202020204" pitchFamily="34" charset="0"/>
                <a:cs typeface="Times New Roman" panose="02020603050405020304" pitchFamily="18" charset="0"/>
              </a:rPr>
              <a:t>$2,400</a:t>
            </a: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This includes:</a:t>
            </a:r>
            <a:br>
              <a:rPr lang="en-US" sz="1400" dirty="0">
                <a:effectLst/>
                <a:latin typeface="Aptos" panose="020B0004020202020204" pitchFamily="34" charset="0"/>
                <a:ea typeface="Aptos" panose="020B0004020202020204" pitchFamily="34" charset="0"/>
                <a:cs typeface="Times New Roman" panose="02020603050405020304" pitchFamily="18" charset="0"/>
              </a:rPr>
            </a:br>
            <a:r>
              <a:rPr lang="en-US" sz="1400" dirty="0">
                <a:effectLst/>
                <a:latin typeface="Aptos" panose="020B0004020202020204" pitchFamily="34" charset="0"/>
                <a:ea typeface="Aptos" panose="020B0004020202020204" pitchFamily="34" charset="0"/>
                <a:cs typeface="Times New Roman" panose="02020603050405020304" pitchFamily="18" charset="0"/>
              </a:rPr>
              <a:t>-	VPC design and setup</a:t>
            </a:r>
            <a:br>
              <a:rPr lang="en-US" sz="1400" dirty="0">
                <a:effectLst/>
                <a:latin typeface="Aptos" panose="020B0004020202020204" pitchFamily="34" charset="0"/>
                <a:ea typeface="Aptos" panose="020B0004020202020204" pitchFamily="34" charset="0"/>
                <a:cs typeface="Times New Roman" panose="02020603050405020304" pitchFamily="18" charset="0"/>
              </a:rPr>
            </a:br>
            <a:r>
              <a:rPr lang="en-US" sz="1400" dirty="0">
                <a:effectLst/>
                <a:latin typeface="Aptos" panose="020B0004020202020204" pitchFamily="34" charset="0"/>
                <a:ea typeface="Aptos" panose="020B0004020202020204" pitchFamily="34" charset="0"/>
                <a:cs typeface="Times New Roman" panose="02020603050405020304" pitchFamily="18" charset="0"/>
              </a:rPr>
              <a:t>-	Subnet configuration (public + private)</a:t>
            </a:r>
            <a:br>
              <a:rPr lang="en-US" sz="1400" dirty="0">
                <a:effectLst/>
                <a:latin typeface="Aptos" panose="020B0004020202020204" pitchFamily="34" charset="0"/>
                <a:ea typeface="Aptos" panose="020B0004020202020204" pitchFamily="34" charset="0"/>
                <a:cs typeface="Times New Roman" panose="02020603050405020304" pitchFamily="18" charset="0"/>
              </a:rPr>
            </a:br>
            <a:r>
              <a:rPr lang="en-US" sz="1400" dirty="0">
                <a:effectLst/>
                <a:latin typeface="Aptos" panose="020B0004020202020204" pitchFamily="34" charset="0"/>
                <a:ea typeface="Aptos" panose="020B0004020202020204" pitchFamily="34" charset="0"/>
                <a:cs typeface="Times New Roman" panose="02020603050405020304" pitchFamily="18" charset="0"/>
              </a:rPr>
              <a:t>-	Routing (Internet Gateway + NAT Gateway)</a:t>
            </a:r>
            <a:br>
              <a:rPr lang="en-US" sz="1400" dirty="0">
                <a:effectLst/>
                <a:latin typeface="Aptos" panose="020B0004020202020204" pitchFamily="34" charset="0"/>
                <a:ea typeface="Aptos" panose="020B0004020202020204" pitchFamily="34" charset="0"/>
                <a:cs typeface="Times New Roman" panose="02020603050405020304" pitchFamily="18" charset="0"/>
              </a:rPr>
            </a:br>
            <a:r>
              <a:rPr lang="en-US" sz="1400" dirty="0">
                <a:effectLst/>
                <a:latin typeface="Aptos" panose="020B0004020202020204" pitchFamily="34" charset="0"/>
                <a:ea typeface="Aptos" panose="020B0004020202020204" pitchFamily="34" charset="0"/>
                <a:cs typeface="Times New Roman" panose="02020603050405020304" pitchFamily="18" charset="0"/>
              </a:rPr>
              <a:t>-	EC2 deployment (all instances)</a:t>
            </a:r>
            <a:br>
              <a:rPr lang="en-US" sz="1400" dirty="0">
                <a:effectLst/>
                <a:latin typeface="Aptos" panose="020B0004020202020204" pitchFamily="34" charset="0"/>
                <a:ea typeface="Aptos" panose="020B0004020202020204" pitchFamily="34" charset="0"/>
                <a:cs typeface="Times New Roman" panose="02020603050405020304" pitchFamily="18" charset="0"/>
              </a:rPr>
            </a:br>
            <a:r>
              <a:rPr lang="en-US" sz="1400" dirty="0">
                <a:effectLst/>
                <a:latin typeface="Aptos" panose="020B0004020202020204" pitchFamily="34" charset="0"/>
                <a:ea typeface="Aptos" panose="020B0004020202020204" pitchFamily="34" charset="0"/>
                <a:cs typeface="Times New Roman" panose="02020603050405020304" pitchFamily="18" charset="0"/>
              </a:rPr>
              <a:t>-	Security Groups and Bastion Host setup</a:t>
            </a:r>
            <a:br>
              <a:rPr lang="en-US" sz="1400" dirty="0">
                <a:effectLst/>
                <a:latin typeface="Aptos" panose="020B0004020202020204" pitchFamily="34" charset="0"/>
                <a:ea typeface="Aptos" panose="020B0004020202020204" pitchFamily="34" charset="0"/>
                <a:cs typeface="Times New Roman" panose="02020603050405020304" pitchFamily="18" charset="0"/>
              </a:rPr>
            </a:br>
            <a:r>
              <a:rPr lang="en-US" sz="1400" dirty="0">
                <a:effectLst/>
                <a:latin typeface="Aptos" panose="020B0004020202020204" pitchFamily="34" charset="0"/>
                <a:ea typeface="Aptos" panose="020B0004020202020204" pitchFamily="34" charset="0"/>
                <a:cs typeface="Times New Roman" panose="02020603050405020304" pitchFamily="18" charset="0"/>
              </a:rPr>
              <a:t>-	Testing and validation</a:t>
            </a:r>
          </a:p>
        </p:txBody>
      </p:sp>
      <p:graphicFrame>
        <p:nvGraphicFramePr>
          <p:cNvPr id="9" name="Table 8">
            <a:extLst>
              <a:ext uri="{FF2B5EF4-FFF2-40B4-BE49-F238E27FC236}">
                <a16:creationId xmlns:a16="http://schemas.microsoft.com/office/drawing/2014/main" id="{9D72E4EA-937C-2877-AF79-8EE6CBDCEA62}"/>
              </a:ext>
            </a:extLst>
          </p:cNvPr>
          <p:cNvGraphicFramePr>
            <a:graphicFrameLocks noGrp="1"/>
          </p:cNvGraphicFramePr>
          <p:nvPr>
            <p:extLst>
              <p:ext uri="{D42A27DB-BD31-4B8C-83A1-F6EECF244321}">
                <p14:modId xmlns:p14="http://schemas.microsoft.com/office/powerpoint/2010/main" val="1960169966"/>
              </p:ext>
            </p:extLst>
          </p:nvPr>
        </p:nvGraphicFramePr>
        <p:xfrm>
          <a:off x="6951405" y="5402322"/>
          <a:ext cx="4893188" cy="921961"/>
        </p:xfrm>
        <a:graphic>
          <a:graphicData uri="http://schemas.openxmlformats.org/drawingml/2006/table">
            <a:tbl>
              <a:tblPr firstRow="1" firstCol="1" bandRow="1">
                <a:tableStyleId>{5C22544A-7EE6-4342-B048-85BDC9FD1C3A}</a:tableStyleId>
              </a:tblPr>
              <a:tblGrid>
                <a:gridCol w="2106790">
                  <a:extLst>
                    <a:ext uri="{9D8B030D-6E8A-4147-A177-3AD203B41FA5}">
                      <a16:colId xmlns:a16="http://schemas.microsoft.com/office/drawing/2014/main" val="1383867917"/>
                    </a:ext>
                  </a:extLst>
                </a:gridCol>
                <a:gridCol w="2786398">
                  <a:extLst>
                    <a:ext uri="{9D8B030D-6E8A-4147-A177-3AD203B41FA5}">
                      <a16:colId xmlns:a16="http://schemas.microsoft.com/office/drawing/2014/main" val="2004445682"/>
                    </a:ext>
                  </a:extLst>
                </a:gridCol>
              </a:tblGrid>
              <a:tr h="181376">
                <a:tc>
                  <a:txBody>
                    <a:bodyPr/>
                    <a:lstStyle/>
                    <a:p>
                      <a:pPr marL="0" marR="0" algn="ctr">
                        <a:lnSpc>
                          <a:spcPct val="115000"/>
                        </a:lnSpc>
                        <a:spcAft>
                          <a:spcPts val="1000"/>
                        </a:spcAft>
                        <a:buNone/>
                      </a:pPr>
                      <a:r>
                        <a:rPr lang="en-US" sz="1100">
                          <a:effectLst/>
                        </a:rPr>
                        <a:t>Cost Type</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Amount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40271190"/>
                  </a:ext>
                </a:extLst>
              </a:tr>
              <a:tr h="372178">
                <a:tc>
                  <a:txBody>
                    <a:bodyPr/>
                    <a:lstStyle/>
                    <a:p>
                      <a:pPr marL="0" marR="0" algn="ctr">
                        <a:lnSpc>
                          <a:spcPct val="115000"/>
                        </a:lnSpc>
                        <a:spcAft>
                          <a:spcPts val="1000"/>
                        </a:spcAft>
                        <a:buNone/>
                      </a:pPr>
                      <a:r>
                        <a:rPr lang="en-US" sz="1100">
                          <a:effectLst/>
                        </a:rPr>
                        <a:t>10-Year AWS Operational Cost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$15,600 </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7842827"/>
                  </a:ext>
                </a:extLst>
              </a:tr>
              <a:tr h="181376">
                <a:tc>
                  <a:txBody>
                    <a:bodyPr/>
                    <a:lstStyle/>
                    <a:p>
                      <a:pPr marL="0" marR="0" algn="ctr">
                        <a:lnSpc>
                          <a:spcPct val="115000"/>
                        </a:lnSpc>
                        <a:spcAft>
                          <a:spcPts val="1000"/>
                        </a:spcAft>
                        <a:buNone/>
                      </a:pPr>
                      <a:r>
                        <a:rPr lang="en-US" sz="1100">
                          <a:effectLst/>
                        </a:rPr>
                        <a:t>One-Time Manpower Cost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$2,400 </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69954037"/>
                  </a:ext>
                </a:extLst>
              </a:tr>
              <a:tr h="181376">
                <a:tc>
                  <a:txBody>
                    <a:bodyPr/>
                    <a:lstStyle/>
                    <a:p>
                      <a:pPr marL="0" marR="0" algn="ctr">
                        <a:lnSpc>
                          <a:spcPct val="115000"/>
                        </a:lnSpc>
                        <a:spcAft>
                          <a:spcPts val="1000"/>
                        </a:spcAft>
                        <a:buNone/>
                      </a:pPr>
                      <a:r>
                        <a:rPr lang="en-US" sz="1100">
                          <a:effectLst/>
                        </a:rPr>
                        <a:t>Total AWS Project Cost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dirty="0">
                          <a:effectLst/>
                        </a:rPr>
                        <a:t>$18,000 </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71009682"/>
                  </a:ext>
                </a:extLst>
              </a:tr>
            </a:tbl>
          </a:graphicData>
        </a:graphic>
      </p:graphicFrame>
      <p:sp>
        <p:nvSpPr>
          <p:cNvPr id="11" name="TextBox 10">
            <a:extLst>
              <a:ext uri="{FF2B5EF4-FFF2-40B4-BE49-F238E27FC236}">
                <a16:creationId xmlns:a16="http://schemas.microsoft.com/office/drawing/2014/main" id="{0B7F5C2A-DEEF-C22A-A4B4-7D8ADCDD77F5}"/>
              </a:ext>
            </a:extLst>
          </p:cNvPr>
          <p:cNvSpPr txBox="1"/>
          <p:nvPr/>
        </p:nvSpPr>
        <p:spPr>
          <a:xfrm>
            <a:off x="6900605" y="5010163"/>
            <a:ext cx="4994787"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Final Total AWS Project Cost (Including Manpower)</a:t>
            </a:r>
          </a:p>
        </p:txBody>
      </p:sp>
      <p:sp>
        <p:nvSpPr>
          <p:cNvPr id="13" name="TextBox 12">
            <a:extLst>
              <a:ext uri="{FF2B5EF4-FFF2-40B4-BE49-F238E27FC236}">
                <a16:creationId xmlns:a16="http://schemas.microsoft.com/office/drawing/2014/main" id="{36139FA8-BE42-0B08-EA21-F0F7CB4A1A22}"/>
              </a:ext>
            </a:extLst>
          </p:cNvPr>
          <p:cNvSpPr txBox="1"/>
          <p:nvPr/>
        </p:nvSpPr>
        <p:spPr>
          <a:xfrm>
            <a:off x="144206" y="5593753"/>
            <a:ext cx="6449961" cy="392159"/>
          </a:xfrm>
          <a:prstGeom prst="rect">
            <a:avLst/>
          </a:prstGeom>
          <a:noFill/>
        </p:spPr>
        <p:txBody>
          <a:bodyPr wrap="square">
            <a:spAutoFit/>
          </a:bodyPr>
          <a:lstStyle/>
          <a:p>
            <a:pPr marL="0" marR="0">
              <a:lnSpc>
                <a:spcPct val="115000"/>
              </a:lnSpc>
              <a:spcBef>
                <a:spcPts val="1000"/>
              </a:spcBef>
              <a:buNone/>
            </a:pPr>
            <a:r>
              <a:rPr lang="en-US" sz="1800"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Comparison with Traditional Infrastructure (Cisco / On-Premises)</a:t>
            </a:r>
          </a:p>
        </p:txBody>
      </p:sp>
      <p:graphicFrame>
        <p:nvGraphicFramePr>
          <p:cNvPr id="14" name="Table 13">
            <a:extLst>
              <a:ext uri="{FF2B5EF4-FFF2-40B4-BE49-F238E27FC236}">
                <a16:creationId xmlns:a16="http://schemas.microsoft.com/office/drawing/2014/main" id="{75543031-4620-A129-3539-B35EDE23CB23}"/>
              </a:ext>
            </a:extLst>
          </p:cNvPr>
          <p:cNvGraphicFramePr>
            <a:graphicFrameLocks noGrp="1"/>
          </p:cNvGraphicFramePr>
          <p:nvPr>
            <p:extLst>
              <p:ext uri="{D42A27DB-BD31-4B8C-83A1-F6EECF244321}">
                <p14:modId xmlns:p14="http://schemas.microsoft.com/office/powerpoint/2010/main" val="1907191864"/>
              </p:ext>
            </p:extLst>
          </p:nvPr>
        </p:nvGraphicFramePr>
        <p:xfrm>
          <a:off x="242529" y="5985912"/>
          <a:ext cx="5994400" cy="549783"/>
        </p:xfrm>
        <a:graphic>
          <a:graphicData uri="http://schemas.openxmlformats.org/drawingml/2006/table">
            <a:tbl>
              <a:tblPr firstRow="1" firstCol="1" bandRow="1">
                <a:tableStyleId>{5C22544A-7EE6-4342-B048-85BDC9FD1C3A}</a:tableStyleId>
              </a:tblPr>
              <a:tblGrid>
                <a:gridCol w="3340100">
                  <a:extLst>
                    <a:ext uri="{9D8B030D-6E8A-4147-A177-3AD203B41FA5}">
                      <a16:colId xmlns:a16="http://schemas.microsoft.com/office/drawing/2014/main" val="920997034"/>
                    </a:ext>
                  </a:extLst>
                </a:gridCol>
                <a:gridCol w="2654300">
                  <a:extLst>
                    <a:ext uri="{9D8B030D-6E8A-4147-A177-3AD203B41FA5}">
                      <a16:colId xmlns:a16="http://schemas.microsoft.com/office/drawing/2014/main" val="2823939675"/>
                    </a:ext>
                  </a:extLst>
                </a:gridCol>
              </a:tblGrid>
              <a:tr h="182880">
                <a:tc>
                  <a:txBody>
                    <a:bodyPr/>
                    <a:lstStyle/>
                    <a:p>
                      <a:pPr marL="0" marR="0" algn="ctr">
                        <a:lnSpc>
                          <a:spcPct val="115000"/>
                        </a:lnSpc>
                        <a:spcAft>
                          <a:spcPts val="1000"/>
                        </a:spcAft>
                        <a:buNone/>
                      </a:pPr>
                      <a:r>
                        <a:rPr lang="en-US" sz="1100" dirty="0">
                          <a:effectLst/>
                        </a:rPr>
                        <a:t>Solution</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Estimated 10-Year Cost</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83101932"/>
                  </a:ext>
                </a:extLst>
              </a:tr>
              <a:tr h="182880">
                <a:tc>
                  <a:txBody>
                    <a:bodyPr/>
                    <a:lstStyle/>
                    <a:p>
                      <a:pPr marL="0" marR="0" algn="ctr">
                        <a:lnSpc>
                          <a:spcPct val="115000"/>
                        </a:lnSpc>
                        <a:spcAft>
                          <a:spcPts val="1000"/>
                        </a:spcAft>
                        <a:buNone/>
                      </a:pPr>
                      <a:r>
                        <a:rPr lang="en-US" sz="1100">
                          <a:effectLst/>
                        </a:rPr>
                        <a:t>Cisco On-Premises Setup</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a:effectLst/>
                        </a:rPr>
                        <a:t>~$118,800</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85314882"/>
                  </a:ext>
                </a:extLst>
              </a:tr>
              <a:tr h="182880">
                <a:tc>
                  <a:txBody>
                    <a:bodyPr/>
                    <a:lstStyle/>
                    <a:p>
                      <a:pPr marL="0" marR="0" algn="ctr">
                        <a:lnSpc>
                          <a:spcPct val="115000"/>
                        </a:lnSpc>
                        <a:spcAft>
                          <a:spcPts val="1000"/>
                        </a:spcAft>
                        <a:buNone/>
                      </a:pPr>
                      <a:r>
                        <a:rPr lang="en-US" sz="1100">
                          <a:effectLst/>
                        </a:rPr>
                        <a:t>AWS Cloud Architecture</a:t>
                      </a:r>
                      <a:endParaRPr lang="en-US" sz="105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1000"/>
                        </a:spcAft>
                        <a:buNone/>
                      </a:pPr>
                      <a:r>
                        <a:rPr lang="en-US" sz="1100" dirty="0">
                          <a:effectLst/>
                        </a:rPr>
                        <a:t>~$18,600</a:t>
                      </a:r>
                      <a:endParaRPr lang="en-US" sz="105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93938375"/>
                  </a:ext>
                </a:extLst>
              </a:tr>
            </a:tbl>
          </a:graphicData>
        </a:graphic>
      </p:graphicFrame>
    </p:spTree>
    <p:extLst>
      <p:ext uri="{BB962C8B-B14F-4D97-AF65-F5344CB8AC3E}">
        <p14:creationId xmlns:p14="http://schemas.microsoft.com/office/powerpoint/2010/main" val="17602469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5AAB9-F4E9-4A03-020E-B220E2D353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828E08C-ECB7-EF8B-A13D-1C3E55120B01}"/>
              </a:ext>
            </a:extLst>
          </p:cNvPr>
          <p:cNvSpPr txBox="1"/>
          <p:nvPr/>
        </p:nvSpPr>
        <p:spPr>
          <a:xfrm>
            <a:off x="0" y="0"/>
            <a:ext cx="12270657" cy="2000163"/>
          </a:xfrm>
          <a:prstGeom prst="rect">
            <a:avLst/>
          </a:prstGeom>
          <a:noFill/>
        </p:spPr>
        <p:txBody>
          <a:bodyPr wrap="square">
            <a:spAutoFit/>
          </a:bodyPr>
          <a:lstStyle/>
          <a:p>
            <a:pPr marL="0" marR="0" algn="ctr">
              <a:lnSpc>
                <a:spcPct val="115000"/>
              </a:lnSpc>
              <a:spcBef>
                <a:spcPts val="2400"/>
              </a:spcBef>
              <a:buNone/>
            </a:pPr>
            <a:r>
              <a:rPr lang="en-US" sz="2800" b="1" kern="0" dirty="0">
                <a:solidFill>
                  <a:srgbClr val="1F4E79"/>
                </a:solidFill>
                <a:effectLst/>
                <a:latin typeface="Calibri" panose="020F0502020204030204" pitchFamily="34" charset="0"/>
                <a:ea typeface="MS Gothic" panose="020B0609070205080204" pitchFamily="49" charset="-128"/>
                <a:cs typeface="Times New Roman" panose="02020603050405020304" pitchFamily="18" charset="0"/>
              </a:rPr>
              <a:t>Part 03: Comparison &amp; Recommendation</a:t>
            </a:r>
          </a:p>
          <a:p>
            <a:pPr marL="0" marR="0">
              <a:lnSpc>
                <a:spcPct val="115000"/>
              </a:lnSpc>
              <a:spcAft>
                <a:spcPts val="1000"/>
              </a:spcAft>
              <a:buNone/>
            </a:pPr>
            <a:r>
              <a:rPr lang="en-US" sz="600" b="1"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Aft>
                <a:spcPts val="1000"/>
              </a:spcAft>
              <a:buNone/>
            </a:pPr>
            <a:r>
              <a:rPr lang="en-US"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Comparison and Decision Factors</a:t>
            </a: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To determine which network solution is more suitable for the FMCG organization, both the on-premises Cisco network and the AWS VPC cloud-based network were carefully compared. The comparison was based on key factors relevant to the company’s size, future growth, and overall operational needs. These factors include cost, scalability, maintenance, security, flexibility, deployment speed, and reliability.</a:t>
            </a:r>
          </a:p>
        </p:txBody>
      </p:sp>
      <p:graphicFrame>
        <p:nvGraphicFramePr>
          <p:cNvPr id="4" name="Table 3">
            <a:extLst>
              <a:ext uri="{FF2B5EF4-FFF2-40B4-BE49-F238E27FC236}">
                <a16:creationId xmlns:a16="http://schemas.microsoft.com/office/drawing/2014/main" id="{D9900B1C-F12D-A451-4975-5C2C6B73C1C5}"/>
              </a:ext>
            </a:extLst>
          </p:cNvPr>
          <p:cNvGraphicFramePr>
            <a:graphicFrameLocks noGrp="1"/>
          </p:cNvGraphicFramePr>
          <p:nvPr>
            <p:extLst>
              <p:ext uri="{D42A27DB-BD31-4B8C-83A1-F6EECF244321}">
                <p14:modId xmlns:p14="http://schemas.microsoft.com/office/powerpoint/2010/main" val="948894892"/>
              </p:ext>
            </p:extLst>
          </p:nvPr>
        </p:nvGraphicFramePr>
        <p:xfrm>
          <a:off x="1481400" y="2000163"/>
          <a:ext cx="9307855" cy="4739424"/>
        </p:xfrm>
        <a:graphic>
          <a:graphicData uri="http://schemas.openxmlformats.org/drawingml/2006/table">
            <a:tbl>
              <a:tblPr firstRow="1" firstCol="1" bandRow="1">
                <a:tableStyleId>{5C22544A-7EE6-4342-B048-85BDC9FD1C3A}</a:tableStyleId>
              </a:tblPr>
              <a:tblGrid>
                <a:gridCol w="1487337">
                  <a:extLst>
                    <a:ext uri="{9D8B030D-6E8A-4147-A177-3AD203B41FA5}">
                      <a16:colId xmlns:a16="http://schemas.microsoft.com/office/drawing/2014/main" val="1330562116"/>
                    </a:ext>
                  </a:extLst>
                </a:gridCol>
                <a:gridCol w="2461304">
                  <a:extLst>
                    <a:ext uri="{9D8B030D-6E8A-4147-A177-3AD203B41FA5}">
                      <a16:colId xmlns:a16="http://schemas.microsoft.com/office/drawing/2014/main" val="1127597661"/>
                    </a:ext>
                  </a:extLst>
                </a:gridCol>
                <a:gridCol w="2201260">
                  <a:extLst>
                    <a:ext uri="{9D8B030D-6E8A-4147-A177-3AD203B41FA5}">
                      <a16:colId xmlns:a16="http://schemas.microsoft.com/office/drawing/2014/main" val="2122504328"/>
                    </a:ext>
                  </a:extLst>
                </a:gridCol>
                <a:gridCol w="1569860">
                  <a:extLst>
                    <a:ext uri="{9D8B030D-6E8A-4147-A177-3AD203B41FA5}">
                      <a16:colId xmlns:a16="http://schemas.microsoft.com/office/drawing/2014/main" val="3600525312"/>
                    </a:ext>
                  </a:extLst>
                </a:gridCol>
                <a:gridCol w="1588094">
                  <a:extLst>
                    <a:ext uri="{9D8B030D-6E8A-4147-A177-3AD203B41FA5}">
                      <a16:colId xmlns:a16="http://schemas.microsoft.com/office/drawing/2014/main" val="1982144530"/>
                    </a:ext>
                  </a:extLst>
                </a:gridCol>
              </a:tblGrid>
              <a:tr h="277138">
                <a:tc>
                  <a:txBody>
                    <a:bodyPr/>
                    <a:lstStyle/>
                    <a:p>
                      <a:pPr marL="0" marR="0" algn="ctr">
                        <a:lnSpc>
                          <a:spcPct val="115000"/>
                        </a:lnSpc>
                        <a:spcAft>
                          <a:spcPts val="1000"/>
                        </a:spcAft>
                        <a:buNone/>
                      </a:pPr>
                      <a:r>
                        <a:rPr lang="en-CA" sz="1200" dirty="0">
                          <a:effectLst/>
                        </a:rPr>
                        <a:t>Category</a:t>
                      </a: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Cisco On-Premises (Pros)</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Cisco On-Premises (Cons)</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AWS VPC (Pros)</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AWS VPC (Cons)</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extLst>
                  <a:ext uri="{0D108BD9-81ED-4DB2-BD59-A6C34878D82A}">
                    <a16:rowId xmlns:a16="http://schemas.microsoft.com/office/drawing/2014/main" val="3946664698"/>
                  </a:ext>
                </a:extLst>
              </a:tr>
              <a:tr h="667530">
                <a:tc>
                  <a:txBody>
                    <a:bodyPr/>
                    <a:lstStyle/>
                    <a:p>
                      <a:pPr marL="0" marR="0" algn="ctr">
                        <a:lnSpc>
                          <a:spcPct val="115000"/>
                        </a:lnSpc>
                        <a:spcAft>
                          <a:spcPts val="1000"/>
                        </a:spcAft>
                        <a:buNone/>
                      </a:pPr>
                      <a:r>
                        <a:rPr lang="en-CA" sz="1200">
                          <a:effectLst/>
                        </a:rPr>
                        <a:t>Cost</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dirty="0">
                          <a:effectLst/>
                        </a:rPr>
                        <a:t>One-time hardware investment</a:t>
                      </a: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Very high upfront cost (~$118,800)</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Low upfront cost, pay-as-you-go (~$18,000 over 10 years)</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Ongoing operational costs</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extLst>
                  <a:ext uri="{0D108BD9-81ED-4DB2-BD59-A6C34878D82A}">
                    <a16:rowId xmlns:a16="http://schemas.microsoft.com/office/drawing/2014/main" val="2140080391"/>
                  </a:ext>
                </a:extLst>
              </a:tr>
              <a:tr h="667530">
                <a:tc>
                  <a:txBody>
                    <a:bodyPr/>
                    <a:lstStyle/>
                    <a:p>
                      <a:pPr marL="0" marR="0" algn="ctr">
                        <a:lnSpc>
                          <a:spcPct val="115000"/>
                        </a:lnSpc>
                        <a:spcAft>
                          <a:spcPts val="1000"/>
                        </a:spcAft>
                        <a:buNone/>
                      </a:pPr>
                      <a:r>
                        <a:rPr lang="en-CA" sz="1200">
                          <a:effectLst/>
                        </a:rPr>
                        <a:t>Scalability</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Can scale by adding hardware</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dirty="0">
                          <a:effectLst/>
                        </a:rPr>
                        <a:t>Scaling is slow and expensive</a:t>
                      </a: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Highly scalable, resources can be added instantly</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dirty="0">
                          <a:effectLst/>
                        </a:rPr>
                        <a:t>Costs increase with usage</a:t>
                      </a: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extLst>
                  <a:ext uri="{0D108BD9-81ED-4DB2-BD59-A6C34878D82A}">
                    <a16:rowId xmlns:a16="http://schemas.microsoft.com/office/drawing/2014/main" val="696552934"/>
                  </a:ext>
                </a:extLst>
              </a:tr>
              <a:tr h="415707">
                <a:tc>
                  <a:txBody>
                    <a:bodyPr/>
                    <a:lstStyle/>
                    <a:p>
                      <a:pPr marL="0" marR="0" algn="ctr">
                        <a:lnSpc>
                          <a:spcPct val="115000"/>
                        </a:lnSpc>
                        <a:spcAft>
                          <a:spcPts val="1000"/>
                        </a:spcAft>
                        <a:buNone/>
                      </a:pPr>
                      <a:r>
                        <a:rPr lang="en-CA" sz="1200">
                          <a:effectLst/>
                        </a:rPr>
                        <a:t>Maintenance</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Full control over hardware</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Requires IT staff and ongoing maintenance</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AWS manages infrastructure</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Less direct hardware control</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extLst>
                  <a:ext uri="{0D108BD9-81ED-4DB2-BD59-A6C34878D82A}">
                    <a16:rowId xmlns:a16="http://schemas.microsoft.com/office/drawing/2014/main" val="1160442393"/>
                  </a:ext>
                </a:extLst>
              </a:tr>
              <a:tr h="397853">
                <a:tc>
                  <a:txBody>
                    <a:bodyPr/>
                    <a:lstStyle/>
                    <a:p>
                      <a:pPr marL="0" marR="0" algn="ctr">
                        <a:lnSpc>
                          <a:spcPct val="115000"/>
                        </a:lnSpc>
                        <a:spcAft>
                          <a:spcPts val="1000"/>
                        </a:spcAft>
                        <a:buNone/>
                      </a:pPr>
                      <a:r>
                        <a:rPr lang="en-CA" sz="1200">
                          <a:effectLst/>
                        </a:rPr>
                        <a:t>Deployment Speed</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Stable once installed</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dirty="0">
                          <a:effectLst/>
                        </a:rPr>
                        <a:t>Time-consuming setup and configuration</a:t>
                      </a: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Rapid deployment of resources</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Requires cloud knowledge</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extLst>
                  <a:ext uri="{0D108BD9-81ED-4DB2-BD59-A6C34878D82A}">
                    <a16:rowId xmlns:a16="http://schemas.microsoft.com/office/drawing/2014/main" val="2359802579"/>
                  </a:ext>
                </a:extLst>
              </a:tr>
              <a:tr h="937205">
                <a:tc>
                  <a:txBody>
                    <a:bodyPr/>
                    <a:lstStyle/>
                    <a:p>
                      <a:pPr marL="0" marR="0" algn="ctr">
                        <a:lnSpc>
                          <a:spcPct val="115000"/>
                        </a:lnSpc>
                        <a:spcAft>
                          <a:spcPts val="1000"/>
                        </a:spcAft>
                        <a:buNone/>
                      </a:pPr>
                      <a:r>
                        <a:rPr lang="en-CA" sz="1200">
                          <a:effectLst/>
                        </a:rPr>
                        <a:t>Security</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Full physical control</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Manual configuration required</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dirty="0">
                          <a:effectLst/>
                        </a:rPr>
                        <a:t>Built-in security features (private subnets, security groups, NAT)</a:t>
                      </a: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Depends on proper configuration</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extLst>
                  <a:ext uri="{0D108BD9-81ED-4DB2-BD59-A6C34878D82A}">
                    <a16:rowId xmlns:a16="http://schemas.microsoft.com/office/drawing/2014/main" val="3601050563"/>
                  </a:ext>
                </a:extLst>
              </a:tr>
              <a:tr h="532690">
                <a:tc>
                  <a:txBody>
                    <a:bodyPr/>
                    <a:lstStyle/>
                    <a:p>
                      <a:pPr marL="0" marR="0" algn="ctr">
                        <a:lnSpc>
                          <a:spcPct val="115000"/>
                        </a:lnSpc>
                        <a:spcAft>
                          <a:spcPts val="1000"/>
                        </a:spcAft>
                        <a:buNone/>
                      </a:pPr>
                      <a:r>
                        <a:rPr lang="en-CA" sz="1200">
                          <a:effectLst/>
                        </a:rPr>
                        <a:t>Reliability</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Reliable with proper maintenance</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Hardware failure risks</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dirty="0">
                          <a:effectLst/>
                        </a:rPr>
                        <a:t>High availability and redundancy</a:t>
                      </a: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Dependent on internet connectivity</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extLst>
                  <a:ext uri="{0D108BD9-81ED-4DB2-BD59-A6C34878D82A}">
                    <a16:rowId xmlns:a16="http://schemas.microsoft.com/office/drawing/2014/main" val="2944661710"/>
                  </a:ext>
                </a:extLst>
              </a:tr>
              <a:tr h="415707">
                <a:tc>
                  <a:txBody>
                    <a:bodyPr/>
                    <a:lstStyle/>
                    <a:p>
                      <a:pPr marL="0" marR="0" algn="ctr">
                        <a:lnSpc>
                          <a:spcPct val="115000"/>
                        </a:lnSpc>
                        <a:spcAft>
                          <a:spcPts val="1000"/>
                        </a:spcAft>
                        <a:buNone/>
                      </a:pPr>
                      <a:r>
                        <a:rPr lang="en-CA" sz="1200">
                          <a:effectLst/>
                        </a:rPr>
                        <a:t>Flexibility</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Fixed infrastructure</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Difficult to modify</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dirty="0">
                          <a:effectLst/>
                        </a:rPr>
                        <a:t>Highly flexible and dynamic</a:t>
                      </a: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dirty="0">
                          <a:effectLst/>
                        </a:rPr>
                        <a:t>Can become complex at scale</a:t>
                      </a: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extLst>
                  <a:ext uri="{0D108BD9-81ED-4DB2-BD59-A6C34878D82A}">
                    <a16:rowId xmlns:a16="http://schemas.microsoft.com/office/drawing/2014/main" val="994927299"/>
                  </a:ext>
                </a:extLst>
              </a:tr>
              <a:tr h="415707">
                <a:tc>
                  <a:txBody>
                    <a:bodyPr/>
                    <a:lstStyle/>
                    <a:p>
                      <a:pPr marL="0" marR="0" algn="ctr">
                        <a:lnSpc>
                          <a:spcPct val="115000"/>
                        </a:lnSpc>
                        <a:spcAft>
                          <a:spcPts val="1000"/>
                        </a:spcAft>
                        <a:buNone/>
                      </a:pPr>
                      <a:r>
                        <a:rPr lang="en-CA" sz="1200">
                          <a:effectLst/>
                        </a:rPr>
                        <a:t>Accessibility</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Works without internet internally</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Limited remote accessibility setup</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a:effectLst/>
                        </a:rPr>
                        <a:t>Accessible from anywhere via internet</a:t>
                      </a:r>
                      <a:endParaRPr lang="en-US" sz="120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tc>
                  <a:txBody>
                    <a:bodyPr/>
                    <a:lstStyle/>
                    <a:p>
                      <a:pPr marL="0" marR="0" algn="ctr">
                        <a:lnSpc>
                          <a:spcPct val="115000"/>
                        </a:lnSpc>
                        <a:spcAft>
                          <a:spcPts val="1000"/>
                        </a:spcAft>
                        <a:buNone/>
                      </a:pPr>
                      <a:r>
                        <a:rPr lang="en-CA" sz="1200" dirty="0">
                          <a:effectLst/>
                        </a:rPr>
                        <a:t>Requires internet access</a:t>
                      </a: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txBody>
                  <a:tcPr marL="44154" marR="44154" marT="0" marB="0" anchor="ctr"/>
                </a:tc>
                <a:extLst>
                  <a:ext uri="{0D108BD9-81ED-4DB2-BD59-A6C34878D82A}">
                    <a16:rowId xmlns:a16="http://schemas.microsoft.com/office/drawing/2014/main" val="1333636665"/>
                  </a:ext>
                </a:extLst>
              </a:tr>
            </a:tbl>
          </a:graphicData>
        </a:graphic>
      </p:graphicFrame>
    </p:spTree>
    <p:extLst>
      <p:ext uri="{BB962C8B-B14F-4D97-AF65-F5344CB8AC3E}">
        <p14:creationId xmlns:p14="http://schemas.microsoft.com/office/powerpoint/2010/main" val="30088722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DB9C1-835F-2326-EF6A-30F75ED243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69CA77A-DF7F-EBA5-8D9F-27C93A133AC4}"/>
              </a:ext>
            </a:extLst>
          </p:cNvPr>
          <p:cNvSpPr txBox="1"/>
          <p:nvPr/>
        </p:nvSpPr>
        <p:spPr>
          <a:xfrm>
            <a:off x="152400" y="248834"/>
            <a:ext cx="11887200" cy="6431120"/>
          </a:xfrm>
          <a:prstGeom prst="rect">
            <a:avLst/>
          </a:prstGeom>
          <a:noFill/>
        </p:spPr>
        <p:txBody>
          <a:bodyPr wrap="square">
            <a:spAutoFit/>
          </a:bodyPr>
          <a:lstStyle/>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The decision factors above were selected because they directly impact the organization’s operational efficiency and long-term sustainability:</a:t>
            </a:r>
          </a:p>
          <a:p>
            <a:pPr marL="342900" marR="0" lvl="0" indent="-342900">
              <a:lnSpc>
                <a:spcPct val="115000"/>
              </a:lnSpc>
              <a:buSzPts val="1000"/>
              <a:buFont typeface="Symbol" panose="05050102010706020507" pitchFamily="18" charset="2"/>
              <a:buChar char=""/>
              <a:tabLst>
                <a:tab pos="457200" algn="l"/>
              </a:tabLst>
            </a:pPr>
            <a:r>
              <a:rPr lang="en-US" sz="1400" dirty="0">
                <a:effectLst/>
                <a:latin typeface="Aptos" panose="020B0004020202020204" pitchFamily="34" charset="0"/>
                <a:ea typeface="Aptos" panose="020B0004020202020204" pitchFamily="34" charset="0"/>
                <a:cs typeface="Times New Roman" panose="02020603050405020304" pitchFamily="18" charset="0"/>
              </a:rPr>
              <a:t>Cost – evaluates total investment over time  </a:t>
            </a:r>
          </a:p>
          <a:p>
            <a:pPr marL="342900" marR="0" lvl="0" indent="-342900">
              <a:lnSpc>
                <a:spcPct val="115000"/>
              </a:lnSpc>
              <a:buSzPts val="1000"/>
              <a:buFont typeface="Symbol" panose="05050102010706020507" pitchFamily="18" charset="2"/>
              <a:buChar char=""/>
              <a:tabLst>
                <a:tab pos="457200" algn="l"/>
              </a:tabLst>
            </a:pPr>
            <a:r>
              <a:rPr lang="en-US" sz="1400" dirty="0">
                <a:effectLst/>
                <a:latin typeface="Aptos" panose="020B0004020202020204" pitchFamily="34" charset="0"/>
                <a:ea typeface="Aptos" panose="020B0004020202020204" pitchFamily="34" charset="0"/>
                <a:cs typeface="Times New Roman" panose="02020603050405020304" pitchFamily="18" charset="0"/>
              </a:rPr>
              <a:t>Scalability – ability to support future growth  </a:t>
            </a:r>
          </a:p>
          <a:p>
            <a:pPr marL="342900" marR="0" lvl="0" indent="-342900">
              <a:lnSpc>
                <a:spcPct val="115000"/>
              </a:lnSpc>
              <a:buSzPts val="1000"/>
              <a:buFont typeface="Symbol" panose="05050102010706020507" pitchFamily="18" charset="2"/>
              <a:buChar char=""/>
              <a:tabLst>
                <a:tab pos="457200" algn="l"/>
              </a:tabLst>
            </a:pPr>
            <a:r>
              <a:rPr lang="en-US" sz="1400" dirty="0">
                <a:effectLst/>
                <a:latin typeface="Aptos" panose="020B0004020202020204" pitchFamily="34" charset="0"/>
                <a:ea typeface="Aptos" panose="020B0004020202020204" pitchFamily="34" charset="0"/>
                <a:cs typeface="Times New Roman" panose="02020603050405020304" pitchFamily="18" charset="0"/>
              </a:rPr>
              <a:t>Maintenance – effort required to manage the system  </a:t>
            </a:r>
          </a:p>
          <a:p>
            <a:pPr marL="342900" marR="0" lvl="0" indent="-342900">
              <a:lnSpc>
                <a:spcPct val="115000"/>
              </a:lnSpc>
              <a:buSzPts val="1000"/>
              <a:buFont typeface="Symbol" panose="05050102010706020507" pitchFamily="18" charset="2"/>
              <a:buChar char=""/>
              <a:tabLst>
                <a:tab pos="457200" algn="l"/>
              </a:tabLst>
            </a:pPr>
            <a:r>
              <a:rPr lang="en-US" sz="1400" dirty="0">
                <a:effectLst/>
                <a:latin typeface="Aptos" panose="020B0004020202020204" pitchFamily="34" charset="0"/>
                <a:ea typeface="Aptos" panose="020B0004020202020204" pitchFamily="34" charset="0"/>
                <a:cs typeface="Times New Roman" panose="02020603050405020304" pitchFamily="18" charset="0"/>
              </a:rPr>
              <a:t>Security – protection of sensitive data  </a:t>
            </a:r>
          </a:p>
          <a:p>
            <a:pPr marL="342900" marR="0" lvl="0" indent="-342900">
              <a:lnSpc>
                <a:spcPct val="115000"/>
              </a:lnSpc>
              <a:buSzPts val="1000"/>
              <a:buFont typeface="Symbol" panose="05050102010706020507" pitchFamily="18" charset="2"/>
              <a:buChar char=""/>
              <a:tabLst>
                <a:tab pos="457200" algn="l"/>
              </a:tabLst>
            </a:pPr>
            <a:r>
              <a:rPr lang="en-US" sz="1400" dirty="0">
                <a:effectLst/>
                <a:latin typeface="Aptos" panose="020B0004020202020204" pitchFamily="34" charset="0"/>
                <a:ea typeface="Aptos" panose="020B0004020202020204" pitchFamily="34" charset="0"/>
                <a:cs typeface="Times New Roman" panose="02020603050405020304" pitchFamily="18" charset="0"/>
              </a:rPr>
              <a:t>Flexibility – ability to adapt to changes  </a:t>
            </a:r>
          </a:p>
          <a:p>
            <a:pPr marL="342900" marR="0" lvl="0" indent="-342900">
              <a:lnSpc>
                <a:spcPct val="115000"/>
              </a:lnSpc>
              <a:spcAft>
                <a:spcPts val="1000"/>
              </a:spcAft>
              <a:buSzPts val="1000"/>
              <a:buFont typeface="Symbol" panose="05050102010706020507" pitchFamily="18" charset="2"/>
              <a:buChar char=""/>
              <a:tabLst>
                <a:tab pos="457200" algn="l"/>
              </a:tabLst>
            </a:pPr>
            <a:r>
              <a:rPr lang="en-US" sz="1400" dirty="0">
                <a:effectLst/>
                <a:latin typeface="Aptos" panose="020B0004020202020204" pitchFamily="34" charset="0"/>
                <a:ea typeface="Aptos" panose="020B0004020202020204" pitchFamily="34" charset="0"/>
                <a:cs typeface="Times New Roman" panose="02020603050405020304" pitchFamily="18" charset="0"/>
              </a:rPr>
              <a:t>Reliability – system stability and uptime</a:t>
            </a:r>
          </a:p>
          <a:p>
            <a:pPr marL="0" marR="0">
              <a:lnSpc>
                <a:spcPct val="115000"/>
              </a:lnSpc>
              <a:spcBef>
                <a:spcPts val="1000"/>
              </a:spcBef>
              <a:spcAft>
                <a:spcPts val="1200"/>
              </a:spcAft>
              <a:buNone/>
            </a:pPr>
            <a:r>
              <a:rPr lang="en-US" b="1"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Analysis:</a:t>
            </a:r>
          </a:p>
          <a:p>
            <a:pPr marL="0" marR="0" algn="just">
              <a:lnSpc>
                <a:spcPct val="115000"/>
              </a:lnSpc>
              <a:spcAft>
                <a:spcPts val="12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The Cisco on-premises solution is a traditional approach where all networking equipment, such as switches and routers, is physically installed and managed by the organization. This gives full control over the infrastructure, which can be useful in certain situations. However, it comes with several disadvantages. The initial setup cost is very high, and the organization must also spend time and resources maintaining the hardware. In addition, if the company grows in the future, new equipment must be purchased and installed, which increases both cost and deployment time.</a:t>
            </a: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On the other hand, the AWS VPC solution provides a modern cloud-based approach. Instead of relying on physical devices, the network is created virtually using AWS services. One of the biggest advantages of AWS is scalability. The company can easily increase or decrease resources depending on demand, which is especially important for departments like Customer Service that have many users and expected growth.</a:t>
            </a: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Another major advantage is reduced maintenance. Since AWS manages the underlying infrastructure, the organization does not need to worry about hardware failures, repairs, or upgrades. This allows the company to focus more on its core business activities rather than managing IT infrastructure.</a:t>
            </a: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In terms of security, both solutions are capable of providing strong protection. Cisco relies on physical control and manual configurations, while AWS uses built-in features such as private subnets, security groups, and controlled access through NAT and bastion hosts. These features help protect sensitive data while still allowing necessary communication within the network.</a:t>
            </a: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Overall, AWS provides a more efficient, flexible, and cost-effective solution for this organization compared to the traditional Cisco approach.</a:t>
            </a:r>
          </a:p>
        </p:txBody>
      </p:sp>
    </p:spTree>
    <p:extLst>
      <p:ext uri="{BB962C8B-B14F-4D97-AF65-F5344CB8AC3E}">
        <p14:creationId xmlns:p14="http://schemas.microsoft.com/office/powerpoint/2010/main" val="20514995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9C4B2-9E35-6416-B97A-2695D9E3F2A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FC4B97A-C76D-ED28-9164-4CA9E59BB8CF}"/>
              </a:ext>
            </a:extLst>
          </p:cNvPr>
          <p:cNvSpPr txBox="1"/>
          <p:nvPr/>
        </p:nvSpPr>
        <p:spPr>
          <a:xfrm>
            <a:off x="0" y="19665"/>
            <a:ext cx="12192000" cy="327910"/>
          </a:xfrm>
          <a:prstGeom prst="rect">
            <a:avLst/>
          </a:prstGeom>
          <a:noFill/>
        </p:spPr>
        <p:txBody>
          <a:bodyPr wrap="square">
            <a:spAutoFit/>
          </a:bodyPr>
          <a:lstStyle/>
          <a:p>
            <a:pPr marL="0" marR="0">
              <a:lnSpc>
                <a:spcPct val="115000"/>
              </a:lnSpc>
              <a:spcBef>
                <a:spcPts val="1000"/>
              </a:spcBef>
              <a:spcAft>
                <a:spcPts val="1200"/>
              </a:spcAft>
              <a:buNone/>
            </a:pPr>
            <a:endParaRPr lang="en-US" sz="14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9B52948-ABFF-1221-F8C6-39BC15AEEF37}"/>
              </a:ext>
            </a:extLst>
          </p:cNvPr>
          <p:cNvSpPr txBox="1"/>
          <p:nvPr/>
        </p:nvSpPr>
        <p:spPr>
          <a:xfrm>
            <a:off x="137651" y="183620"/>
            <a:ext cx="11936362" cy="6463308"/>
          </a:xfrm>
          <a:prstGeom prst="rect">
            <a:avLst/>
          </a:prstGeom>
          <a:noFill/>
        </p:spPr>
        <p:txBody>
          <a:bodyPr wrap="square">
            <a:spAutoFit/>
          </a:bodyPr>
          <a:lstStyle/>
          <a:p>
            <a:pPr algn="just"/>
            <a:r>
              <a:rPr lang="en-US" b="1" u="sng" dirty="0">
                <a:solidFill>
                  <a:schemeClr val="tx2">
                    <a:lumMod val="75000"/>
                    <a:lumOff val="25000"/>
                  </a:schemeClr>
                </a:solidFill>
              </a:rPr>
              <a:t>Switch Allocation Justification: </a:t>
            </a:r>
          </a:p>
          <a:p>
            <a:pPr algn="just"/>
            <a:r>
              <a:rPr lang="en-US" dirty="0"/>
              <a:t>The switch allocation in this design is intentionally based on the current operational requirements and device distribution of the FMCG organization. Each department is assigned a dedicated access switch to ensure proper segmentation, efficient traffic handling, and simplified management, while a centralized Layer 3 switch is used for inter-VLAN routing and aggregation of network traffic. This hierarchical approach provides a balanced architecture that supports approximately 1,500 devices without introducing unnecessary hardware or complexity. The design ensures that traffic remains localized at the access layer where possible, reducing congestion and maintaining performance across departments. Deploying a significantly larger number of switches at this stage would increase capital cost, configuration overhead, and maintenance complexity, without delivering proportional improvements in performance for the current scale of the network. Instead, the design prioritizes efficiency and clarity while maintaining a structured layout that is easy to manage and troubleshoot. </a:t>
            </a:r>
          </a:p>
          <a:p>
            <a:pPr algn="just"/>
            <a:endParaRPr lang="en-US" dirty="0"/>
          </a:p>
          <a:p>
            <a:pPr algn="just"/>
            <a:r>
              <a:rPr lang="en-US" b="1" u="sng" dirty="0">
                <a:solidFill>
                  <a:schemeClr val="tx2">
                    <a:lumMod val="75000"/>
                    <a:lumOff val="25000"/>
                  </a:schemeClr>
                </a:solidFill>
              </a:rPr>
              <a:t>Scalability: </a:t>
            </a:r>
          </a:p>
          <a:p>
            <a:pPr algn="just"/>
            <a:r>
              <a:rPr lang="en-US" dirty="0"/>
              <a:t>While the current design uses one EC2 instance per department to represent the network structure, this is a simplified implementation suitable for demonstration purposes. In a real-world FMCG environment, a single EC2 instance would not be sufficient to handle high user demand, ensure reliability, or provide fault tolerance. A more practical approach would involve deploying multiple EC2 instances behind a load balancer, along with auto-scaling groups to dynamically adjust resources based on traffic. This would improve performance, ensure high availability, and eliminate single points of failure, making the cloud solution more robust and production-ready. In terms of security, both solutions can provide strong protection. Cisco relies on physical control and manual configurations, while AWS uses built-in features such as private subnets, security groups, and controlled access through NAT and bastion hosts. These features help protect sensitive data while still allowing necessary communication within the network. Overall, AWS provides a more efficient, flexible, and cost-effective solution for this organization compared to the traditional Cisco approach.</a:t>
            </a:r>
          </a:p>
        </p:txBody>
      </p:sp>
    </p:spTree>
    <p:extLst>
      <p:ext uri="{BB962C8B-B14F-4D97-AF65-F5344CB8AC3E}">
        <p14:creationId xmlns:p14="http://schemas.microsoft.com/office/powerpoint/2010/main" val="18260517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39D22-C8E6-542D-1DAF-01F050842D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8E040D-23AE-BAE9-AE48-7E44495FCCC5}"/>
              </a:ext>
            </a:extLst>
          </p:cNvPr>
          <p:cNvSpPr txBox="1"/>
          <p:nvPr/>
        </p:nvSpPr>
        <p:spPr>
          <a:xfrm>
            <a:off x="0" y="19665"/>
            <a:ext cx="12192000" cy="6969728"/>
          </a:xfrm>
          <a:prstGeom prst="rect">
            <a:avLst/>
          </a:prstGeom>
          <a:noFill/>
        </p:spPr>
        <p:txBody>
          <a:bodyPr wrap="square">
            <a:spAutoFit/>
          </a:bodyPr>
          <a:lstStyle/>
          <a:p>
            <a:pPr marL="0" marR="0">
              <a:lnSpc>
                <a:spcPct val="115000"/>
              </a:lnSpc>
              <a:spcBef>
                <a:spcPts val="1000"/>
              </a:spcBef>
              <a:spcAft>
                <a:spcPts val="1200"/>
              </a:spcAft>
              <a:buNone/>
            </a:pPr>
            <a:r>
              <a:rPr lang="en-US" sz="1500" b="1" u="sng"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Final Recommendation:</a:t>
            </a:r>
          </a:p>
          <a:p>
            <a:pPr marL="0" marR="0">
              <a:lnSpc>
                <a:spcPct val="115000"/>
              </a:lnSpc>
              <a:spcBef>
                <a:spcPts val="1000"/>
              </a:spcBef>
              <a:spcAft>
                <a:spcPts val="12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Based on the comparison and analysis, AWS VPC is recommended as the best network solution for the FMCG organization.</a:t>
            </a: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The most significant factor in this decision is cost. The Cisco solution has an estimated total cost of approximately $118,800 over 10 years, while the AWS solution is around $18,000. This is a major difference and makes AWS a much more affordable option for the company.</a:t>
            </a: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In addition to cost savings, AWS offers better scalability. The organization can easily handle growth without needing to redesign the network or purchase new hardware. This is very important for a growing company, especially with departments like Customer Service that already require many resources.</a:t>
            </a: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AWS also simplifies maintenance. Since the infrastructure is managed by AWS, the organization does not need to dedicate as many resources to maintaining and troubleshooting hardware. This reduces workload and operational complexity.</a:t>
            </a: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From a security perspective, AWS still provides strong protection. By using private subnets, controlled access, and secure connection methods, sensitive systems can remain protected while still allowing necessary communication.</a:t>
            </a:r>
            <a:endParaRPr lang="en-US" sz="1400" dirty="0">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1000"/>
              </a:spcAft>
              <a:buNone/>
            </a:pPr>
            <a:r>
              <a:rPr lang="en-US" sz="1500" b="1" u="sng"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Hybrid Consideration</a:t>
            </a:r>
          </a:p>
          <a:p>
            <a:pPr marL="0" marR="0" algn="just">
              <a:lnSpc>
                <a:spcPct val="115000"/>
              </a:lnSpc>
              <a:spcAft>
                <a:spcPts val="12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A hybrid solution can also be considered as an alternative approach. In this case, critical departments such as Finance, HR, and Legal could remain on a Cisco on-premises network, while other departments and scalable services are hosted on AWS.</a:t>
            </a: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This approach can provide additional control over sensitive data and systems. However, it also introduces more complexity, as the organization would need to manage both on-premises and cloud environments. It may also increase overall cost due to maintaining two different systems and ensuring proper integration between them.</a:t>
            </a:r>
          </a:p>
          <a:p>
            <a:pPr marL="0" marR="0" algn="just">
              <a:lnSpc>
                <a:spcPct val="115000"/>
              </a:lnSpc>
              <a:spcAft>
                <a:spcPts val="10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Because of these challenges, while a hybrid approach is a valid option, it may not be the most efficient solution for this organization.</a:t>
            </a:r>
            <a:endParaRPr lang="en-US" sz="1400" dirty="0">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1000"/>
              </a:spcAft>
              <a:buNone/>
            </a:pPr>
            <a:r>
              <a:rPr lang="en-US" sz="1500" b="1" u="sng" dirty="0">
                <a:solidFill>
                  <a:srgbClr val="2E5496"/>
                </a:solidFill>
                <a:effectLst/>
                <a:latin typeface="Calibri" panose="020F0502020204030204" pitchFamily="34" charset="0"/>
                <a:ea typeface="MS Gothic" panose="020B0609070205080204" pitchFamily="49" charset="-128"/>
                <a:cs typeface="Times New Roman" panose="02020603050405020304" pitchFamily="18" charset="0"/>
              </a:rPr>
              <a:t>Final Statement</a:t>
            </a:r>
          </a:p>
          <a:p>
            <a:pPr marL="0" marR="0" algn="just">
              <a:lnSpc>
                <a:spcPct val="115000"/>
              </a:lnSpc>
              <a:spcAft>
                <a:spcPts val="12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In conclusion, AWS VPC is the most suitable solution for the FMCG organization. It offers significant cost savings, better scalability, improved flexibility, and reduced maintenance compared to the Cisco on-premises network. Although Cisco provides strong control and reliability, AWS is a more practical and future-ready solution that better meets the needs of the organization.</a:t>
            </a:r>
          </a:p>
        </p:txBody>
      </p:sp>
    </p:spTree>
    <p:extLst>
      <p:ext uri="{BB962C8B-B14F-4D97-AF65-F5344CB8AC3E}">
        <p14:creationId xmlns:p14="http://schemas.microsoft.com/office/powerpoint/2010/main" val="29999041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TotalTime>
  <Words>5425</Words>
  <Application>Microsoft Office PowerPoint</Application>
  <PresentationFormat>Widescreen</PresentationFormat>
  <Paragraphs>727</Paragraphs>
  <Slides>28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Aptos</vt:lpstr>
      <vt:lpstr>Aptos Display</vt:lpstr>
      <vt:lpstr>Arial</vt:lpstr>
      <vt:lpstr>Calibri</vt:lpstr>
      <vt:lpstr>Cambria</vt:lpstr>
      <vt:lpstr>Courier New</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Haque, MD Moksudul</dc:creator>
  <cp:lastModifiedBy>Haque, MD Moksudul</cp:lastModifiedBy>
  <cp:revision>2</cp:revision>
  <dcterms:created xsi:type="dcterms:W3CDTF">2026-04-22T19:33:26Z</dcterms:created>
  <dcterms:modified xsi:type="dcterms:W3CDTF">2026-04-22T20:24:54Z</dcterms:modified>
</cp:coreProperties>
</file>